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1" r:id="rId4"/>
    <p:sldId id="282" r:id="rId5"/>
    <p:sldId id="283" r:id="rId6"/>
    <p:sldId id="284" r:id="rId7"/>
    <p:sldId id="262" r:id="rId8"/>
    <p:sldId id="285" r:id="rId9"/>
    <p:sldId id="286" r:id="rId10"/>
    <p:sldId id="265" r:id="rId11"/>
    <p:sldId id="266" r:id="rId12"/>
    <p:sldId id="287" r:id="rId13"/>
    <p:sldId id="268" r:id="rId14"/>
    <p:sldId id="288" r:id="rId15"/>
    <p:sldId id="270" r:id="rId16"/>
    <p:sldId id="271" r:id="rId17"/>
    <p:sldId id="272" r:id="rId18"/>
    <p:sldId id="289" r:id="rId19"/>
    <p:sldId id="274" r:id="rId20"/>
    <p:sldId id="275" r:id="rId21"/>
    <p:sldId id="276" r:id="rId22"/>
    <p:sldId id="277" r:id="rId23"/>
    <p:sldId id="278" r:id="rId24"/>
    <p:sldId id="292" r:id="rId25"/>
    <p:sldId id="291" r:id="rId26"/>
    <p:sldId id="293" r:id="rId27"/>
  </p:sldIdLst>
  <p:sldSz cx="12192000" cy="6858000"/>
  <p:notesSz cx="6858000" cy="12192000"/>
  <p:embeddedFontLs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Geist"/>
      <p:regular r:id="rId33"/>
    </p:embeddedFont>
    <p:embeddedFont>
      <p:font typeface="Geist Bold"/>
      <p:regular r:id="rId34"/>
      <p:bold r:id="rId35"/>
    </p:embeddedFont>
    <p:embeddedFont>
      <p:font typeface="Geist Light" pitchFamily="2" charset="77"/>
      <p:regular r:id="rId3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C00"/>
    <a:srgbClr val="94A3B8"/>
    <a:srgbClr val="0E1629"/>
    <a:srgbClr val="49D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390395-09D2-FC4F-806F-6255CE539EDC}" v="1" dt="2026-09-29T19:17:20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0"/>
    <p:restoredTop sz="49632"/>
  </p:normalViewPr>
  <p:slideViewPr>
    <p:cSldViewPr snapToGrid="0" snapToObjects="1">
      <p:cViewPr varScale="1">
        <p:scale>
          <a:sx n="80" d="100"/>
          <a:sy n="80" d="100"/>
        </p:scale>
        <p:origin x="372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risciano, Salvatore" userId="faaac180-6cce-4db1-bdfa-60d62fdd4adb" providerId="ADAL" clId="{29623C48-0A88-510E-8DC5-E09F167645C6}"/>
    <pc:docChg chg="undo redo custSel addSld delSld modSld sldOrd">
      <pc:chgData name="Matrisciano, Salvatore" userId="faaac180-6cce-4db1-bdfa-60d62fdd4adb" providerId="ADAL" clId="{29623C48-0A88-510E-8DC5-E09F167645C6}" dt="2026-09-29T19:09:01.441" v="5723" actId="2696"/>
      <pc:docMkLst>
        <pc:docMk/>
      </pc:docMkLst>
      <pc:sldChg chg="modSp mod modNotesTx">
        <pc:chgData name="Matrisciano, Salvatore" userId="faaac180-6cce-4db1-bdfa-60d62fdd4adb" providerId="ADAL" clId="{29623C48-0A88-510E-8DC5-E09F167645C6}" dt="2026-09-27T19:00:14.100" v="4044" actId="113"/>
        <pc:sldMkLst>
          <pc:docMk/>
          <pc:sldMk cId="0" sldId="256"/>
        </pc:sldMkLst>
        <pc:spChg chg="mod">
          <ac:chgData name="Matrisciano, Salvatore" userId="faaac180-6cce-4db1-bdfa-60d62fdd4adb" providerId="ADAL" clId="{29623C48-0A88-510E-8DC5-E09F167645C6}" dt="2026-09-24T19:32:10.561" v="18"/>
          <ac:spMkLst>
            <pc:docMk/>
            <pc:sldMk cId="0" sldId="256"/>
            <ac:spMk id="9" creationId="{E803EEA6-6ABF-11D4-88FA-ACF13666F0DE}"/>
          </ac:spMkLst>
        </pc:spChg>
        <pc:spChg chg="mod">
          <ac:chgData name="Matrisciano, Salvatore" userId="faaac180-6cce-4db1-bdfa-60d62fdd4adb" providerId="ADAL" clId="{29623C48-0A88-510E-8DC5-E09F167645C6}" dt="2026-09-22T07:17:34.035" v="17" actId="20577"/>
          <ac:spMkLst>
            <pc:docMk/>
            <pc:sldMk cId="0" sldId="256"/>
            <ac:spMk id="11" creationId="{BD8713B6-4549-8639-0BC7-1F9D99F7A18A}"/>
          </ac:spMkLst>
        </pc:spChg>
      </pc:sldChg>
      <pc:sldChg chg="modSp modNotesTx">
        <pc:chgData name="Matrisciano, Salvatore" userId="faaac180-6cce-4db1-bdfa-60d62fdd4adb" providerId="ADAL" clId="{29623C48-0A88-510E-8DC5-E09F167645C6}" dt="2026-09-27T22:18:57.404" v="4092" actId="20577"/>
        <pc:sldMkLst>
          <pc:docMk/>
          <pc:sldMk cId="0" sldId="257"/>
        </pc:sldMkLst>
        <pc:spChg chg="mod">
          <ac:chgData name="Matrisciano, Salvatore" userId="faaac180-6cce-4db1-bdfa-60d62fdd4adb" providerId="ADAL" clId="{29623C48-0A88-510E-8DC5-E09F167645C6}" dt="2026-09-27T22:18:06.301" v="4082"/>
          <ac:spMkLst>
            <pc:docMk/>
            <pc:sldMk cId="0" sldId="257"/>
            <ac:spMk id="7" creationId="{8F701386-B9F4-B853-287B-224B1F83D549}"/>
          </ac:spMkLst>
        </pc:spChg>
      </pc:sldChg>
      <pc:sldChg chg="modSp del mod modNotesTx">
        <pc:chgData name="Matrisciano, Salvatore" userId="faaac180-6cce-4db1-bdfa-60d62fdd4adb" providerId="ADAL" clId="{29623C48-0A88-510E-8DC5-E09F167645C6}" dt="2026-09-28T07:40:28.969" v="4396" actId="2696"/>
        <pc:sldMkLst>
          <pc:docMk/>
          <pc:sldMk cId="0" sldId="260"/>
        </pc:sldMkLst>
      </pc:sldChg>
      <pc:sldChg chg="modSp del mod modNotesTx">
        <pc:chgData name="Matrisciano, Salvatore" userId="faaac180-6cce-4db1-bdfa-60d62fdd4adb" providerId="ADAL" clId="{29623C48-0A88-510E-8DC5-E09F167645C6}" dt="2026-09-28T07:44:23.620" v="4481" actId="2696"/>
        <pc:sldMkLst>
          <pc:docMk/>
          <pc:sldMk cId="0" sldId="261"/>
        </pc:sldMkLst>
        <pc:spChg chg="mod">
          <ac:chgData name="Matrisciano, Salvatore" userId="faaac180-6cce-4db1-bdfa-60d62fdd4adb" providerId="ADAL" clId="{29623C48-0A88-510E-8DC5-E09F167645C6}" dt="2026-09-28T07:40:56.035" v="4398" actId="255"/>
          <ac:spMkLst>
            <pc:docMk/>
            <pc:sldMk cId="0" sldId="261"/>
            <ac:spMk id="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40:59.033" v="4399" actId="255"/>
          <ac:spMkLst>
            <pc:docMk/>
            <pc:sldMk cId="0" sldId="261"/>
            <ac:spMk id="4" creationId="{00000000-0000-0000-0000-000000000000}"/>
          </ac:spMkLst>
        </pc:spChg>
      </pc:sldChg>
      <pc:sldChg chg="addSp delSp modSp mod modNotesTx">
        <pc:chgData name="Matrisciano, Salvatore" userId="faaac180-6cce-4db1-bdfa-60d62fdd4adb" providerId="ADAL" clId="{29623C48-0A88-510E-8DC5-E09F167645C6}" dt="2026-09-28T07:45:48.414" v="4521" actId="1036"/>
        <pc:sldMkLst>
          <pc:docMk/>
          <pc:sldMk cId="0" sldId="262"/>
        </pc:sldMkLst>
        <pc:spChg chg="mod">
          <ac:chgData name="Matrisciano, Salvatore" userId="faaac180-6cce-4db1-bdfa-60d62fdd4adb" providerId="ADAL" clId="{29623C48-0A88-510E-8DC5-E09F167645C6}" dt="2026-09-28T07:44:41.755" v="4483"/>
          <ac:spMkLst>
            <pc:docMk/>
            <pc:sldMk cId="0" sldId="262"/>
            <ac:spMk id="4" creationId="{00000000-0000-0000-0000-000000000000}"/>
          </ac:spMkLst>
        </pc:spChg>
        <pc:spChg chg="del mod">
          <ac:chgData name="Matrisciano, Salvatore" userId="faaac180-6cce-4db1-bdfa-60d62fdd4adb" providerId="ADAL" clId="{29623C48-0A88-510E-8DC5-E09F167645C6}" dt="2026-09-28T07:45:10.227" v="4487" actId="478"/>
          <ac:spMkLst>
            <pc:docMk/>
            <pc:sldMk cId="0" sldId="262"/>
            <ac:spMk id="5" creationId="{00000000-0000-0000-0000-000000000000}"/>
          </ac:spMkLst>
        </pc:spChg>
        <pc:spChg chg="add mod">
          <ac:chgData name="Matrisciano, Salvatore" userId="faaac180-6cce-4db1-bdfa-60d62fdd4adb" providerId="ADAL" clId="{29623C48-0A88-510E-8DC5-E09F167645C6}" dt="2026-09-28T07:45:02.330" v="4484"/>
          <ac:spMkLst>
            <pc:docMk/>
            <pc:sldMk cId="0" sldId="262"/>
            <ac:spMk id="7" creationId="{F5CE8F92-B49C-1024-A2D7-0D867D570D2E}"/>
          </ac:spMkLst>
        </pc:spChg>
        <pc:spChg chg="add mod">
          <ac:chgData name="Matrisciano, Salvatore" userId="faaac180-6cce-4db1-bdfa-60d62fdd4adb" providerId="ADAL" clId="{29623C48-0A88-510E-8DC5-E09F167645C6}" dt="2026-09-28T07:45:06.682" v="4486"/>
          <ac:spMkLst>
            <pc:docMk/>
            <pc:sldMk cId="0" sldId="262"/>
            <ac:spMk id="8" creationId="{7C6680DC-E0BA-58B1-E04E-FA7E3808598F}"/>
          </ac:spMkLst>
        </pc:spChg>
        <pc:spChg chg="add mod">
          <ac:chgData name="Matrisciano, Salvatore" userId="faaac180-6cce-4db1-bdfa-60d62fdd4adb" providerId="ADAL" clId="{29623C48-0A88-510E-8DC5-E09F167645C6}" dt="2026-09-28T07:45:48.414" v="4521" actId="1036"/>
          <ac:spMkLst>
            <pc:docMk/>
            <pc:sldMk cId="0" sldId="262"/>
            <ac:spMk id="9" creationId="{03CD9A80-91C3-0A43-A6B0-8C4E3FA7940B}"/>
          </ac:spMkLst>
        </pc:spChg>
      </pc:sldChg>
      <pc:sldChg chg="modSp del mod modNotesTx">
        <pc:chgData name="Matrisciano, Salvatore" userId="faaac180-6cce-4db1-bdfa-60d62fdd4adb" providerId="ADAL" clId="{29623C48-0A88-510E-8DC5-E09F167645C6}" dt="2026-09-28T07:50:47.337" v="4582" actId="2696"/>
        <pc:sldMkLst>
          <pc:docMk/>
          <pc:sldMk cId="0" sldId="263"/>
        </pc:sldMkLst>
      </pc:sldChg>
      <pc:sldChg chg="modSp del mod modNotesTx">
        <pc:chgData name="Matrisciano, Salvatore" userId="faaac180-6cce-4db1-bdfa-60d62fdd4adb" providerId="ADAL" clId="{29623C48-0A88-510E-8DC5-E09F167645C6}" dt="2026-09-28T07:52:18.960" v="4586" actId="2696"/>
        <pc:sldMkLst>
          <pc:docMk/>
          <pc:sldMk cId="0" sldId="264"/>
        </pc:sldMkLst>
      </pc:sldChg>
      <pc:sldChg chg="modSp mod modNotesTx">
        <pc:chgData name="Matrisciano, Salvatore" userId="faaac180-6cce-4db1-bdfa-60d62fdd4adb" providerId="ADAL" clId="{29623C48-0A88-510E-8DC5-E09F167645C6}" dt="2026-09-28T12:28:26.378" v="5721" actId="20577"/>
        <pc:sldMkLst>
          <pc:docMk/>
          <pc:sldMk cId="0" sldId="265"/>
        </pc:sldMkLst>
        <pc:spChg chg="mod">
          <ac:chgData name="Matrisciano, Salvatore" userId="faaac180-6cce-4db1-bdfa-60d62fdd4adb" providerId="ADAL" clId="{29623C48-0A88-510E-8DC5-E09F167645C6}" dt="2026-09-28T07:52:33.099" v="4587" actId="255"/>
          <ac:spMkLst>
            <pc:docMk/>
            <pc:sldMk cId="0" sldId="265"/>
            <ac:spMk id="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52:36.402" v="4588" actId="255"/>
          <ac:spMkLst>
            <pc:docMk/>
            <pc:sldMk cId="0" sldId="265"/>
            <ac:spMk id="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52:47.971" v="4592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4T19:38:56.008" v="223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4T19:39:35.537" v="262" actId="2057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4T19:39:42.417" v="265" actId="20577"/>
          <ac:spMkLst>
            <pc:docMk/>
            <pc:sldMk cId="0" sldId="265"/>
            <ac:spMk id="13" creationId="{00000000-0000-0000-0000-000000000000}"/>
          </ac:spMkLst>
        </pc:spChg>
      </pc:sldChg>
      <pc:sldChg chg="modSp mod modNotesTx">
        <pc:chgData name="Matrisciano, Salvatore" userId="faaac180-6cce-4db1-bdfa-60d62fdd4adb" providerId="ADAL" clId="{29623C48-0A88-510E-8DC5-E09F167645C6}" dt="2026-09-28T08:46:06.248" v="5073" actId="1035"/>
        <pc:sldMkLst>
          <pc:docMk/>
          <pc:sldMk cId="0" sldId="266"/>
        </pc:sldMkLst>
        <pc:spChg chg="mod">
          <ac:chgData name="Matrisciano, Salvatore" userId="faaac180-6cce-4db1-bdfa-60d62fdd4adb" providerId="ADAL" clId="{29623C48-0A88-510E-8DC5-E09F167645C6}" dt="2026-09-28T08:46:06.248" v="5073" actId="1035"/>
          <ac:spMkLst>
            <pc:docMk/>
            <pc:sldMk cId="0" sldId="266"/>
            <ac:spMk id="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6:06.248" v="5073" actId="1035"/>
          <ac:spMkLst>
            <pc:docMk/>
            <pc:sldMk cId="0" sldId="266"/>
            <ac:spMk id="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4:58.137" v="5040" actId="255"/>
          <ac:spMkLst>
            <pc:docMk/>
            <pc:sldMk cId="0" sldId="266"/>
            <ac:spMk id="5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5:39.036" v="5053" actId="1036"/>
          <ac:spMkLst>
            <pc:docMk/>
            <pc:sldMk cId="0" sldId="266"/>
            <ac:spMk id="6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4:59.685" v="5043" actId="20577"/>
          <ac:spMkLst>
            <pc:docMk/>
            <pc:sldMk cId="0" sldId="266"/>
            <ac:spMk id="8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6:02.821" v="5064" actId="1036"/>
          <ac:spMkLst>
            <pc:docMk/>
            <pc:sldMk cId="0" sldId="266"/>
            <ac:spMk id="9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5:03.648" v="5044" actId="255"/>
          <ac:spMkLst>
            <pc:docMk/>
            <pc:sldMk cId="0" sldId="266"/>
            <ac:spMk id="11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5:54.912" v="5057" actId="14100"/>
          <ac:spMkLst>
            <pc:docMk/>
            <pc:sldMk cId="0" sldId="266"/>
            <ac:spMk id="1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5:51.562" v="5056" actId="14100"/>
          <ac:spMkLst>
            <pc:docMk/>
            <pc:sldMk cId="0" sldId="266"/>
            <ac:spMk id="1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5:57.854" v="5058" actId="14100"/>
          <ac:spMkLst>
            <pc:docMk/>
            <pc:sldMk cId="0" sldId="266"/>
            <ac:spMk id="14" creationId="{00000000-0000-0000-0000-000000000000}"/>
          </ac:spMkLst>
        </pc:spChg>
      </pc:sldChg>
      <pc:sldChg chg="del mod modShow modNotesTx">
        <pc:chgData name="Matrisciano, Salvatore" userId="faaac180-6cce-4db1-bdfa-60d62fdd4adb" providerId="ADAL" clId="{29623C48-0A88-510E-8DC5-E09F167645C6}" dt="2026-09-28T12:27:05.337" v="5712" actId="2696"/>
        <pc:sldMkLst>
          <pc:docMk/>
          <pc:sldMk cId="0" sldId="267"/>
        </pc:sldMkLst>
      </pc:sldChg>
      <pc:sldChg chg="modSp mod modNotesTx">
        <pc:chgData name="Matrisciano, Salvatore" userId="faaac180-6cce-4db1-bdfa-60d62fdd4adb" providerId="ADAL" clId="{29623C48-0A88-510E-8DC5-E09F167645C6}" dt="2026-09-28T08:24:12.920" v="4747" actId="20577"/>
        <pc:sldMkLst>
          <pc:docMk/>
          <pc:sldMk cId="0" sldId="268"/>
        </pc:sldMkLst>
        <pc:spChg chg="mod">
          <ac:chgData name="Matrisciano, Salvatore" userId="faaac180-6cce-4db1-bdfa-60d62fdd4adb" providerId="ADAL" clId="{29623C48-0A88-510E-8DC5-E09F167645C6}" dt="2026-09-28T08:23:07.553" v="4725" actId="1035"/>
          <ac:spMkLst>
            <pc:docMk/>
            <pc:sldMk cId="0" sldId="268"/>
            <ac:spMk id="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23:07.553" v="4725" actId="1035"/>
          <ac:spMkLst>
            <pc:docMk/>
            <pc:sldMk cId="0" sldId="268"/>
            <ac:spMk id="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23:29.145" v="4729" actId="1036"/>
          <ac:spMkLst>
            <pc:docMk/>
            <pc:sldMk cId="0" sldId="268"/>
            <ac:spMk id="5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23:29.145" v="4729" actId="1036"/>
          <ac:spMkLst>
            <pc:docMk/>
            <pc:sldMk cId="0" sldId="268"/>
            <ac:spMk id="6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23:29.145" v="4729" actId="1036"/>
          <ac:spMkLst>
            <pc:docMk/>
            <pc:sldMk cId="0" sldId="268"/>
            <ac:spMk id="7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23:29.145" v="4729" actId="1036"/>
          <ac:spMkLst>
            <pc:docMk/>
            <pc:sldMk cId="0" sldId="268"/>
            <ac:spMk id="8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23:29.145" v="4729" actId="1036"/>
          <ac:spMkLst>
            <pc:docMk/>
            <pc:sldMk cId="0" sldId="268"/>
            <ac:spMk id="9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23:29.145" v="4729" actId="103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23:29.145" v="4729" actId="103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23:29.145" v="4729" actId="103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24:12.920" v="4747" actId="20577"/>
          <ac:spMkLst>
            <pc:docMk/>
            <pc:sldMk cId="0" sldId="268"/>
            <ac:spMk id="1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23:29.145" v="4729" actId="103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22:17.476" v="4715" actId="255"/>
          <ac:spMkLst>
            <pc:docMk/>
            <pc:sldMk cId="0" sldId="268"/>
            <ac:spMk id="15" creationId="{00000000-0000-0000-0000-000000000000}"/>
          </ac:spMkLst>
        </pc:spChg>
      </pc:sldChg>
      <pc:sldChg chg="modSp del mod modNotesTx">
        <pc:chgData name="Matrisciano, Salvatore" userId="faaac180-6cce-4db1-bdfa-60d62fdd4adb" providerId="ADAL" clId="{29623C48-0A88-510E-8DC5-E09F167645C6}" dt="2026-09-28T08:30:29.185" v="4814" actId="2696"/>
        <pc:sldMkLst>
          <pc:docMk/>
          <pc:sldMk cId="0" sldId="269"/>
        </pc:sldMkLst>
      </pc:sldChg>
      <pc:sldChg chg="modSp mod modNotesTx">
        <pc:chgData name="Matrisciano, Salvatore" userId="faaac180-6cce-4db1-bdfa-60d62fdd4adb" providerId="ADAL" clId="{29623C48-0A88-510E-8DC5-E09F167645C6}" dt="2026-09-28T08:33:37.185" v="4884" actId="1035"/>
        <pc:sldMkLst>
          <pc:docMk/>
          <pc:sldMk cId="0" sldId="270"/>
        </pc:sldMkLst>
        <pc:spChg chg="mod">
          <ac:chgData name="Matrisciano, Salvatore" userId="faaac180-6cce-4db1-bdfa-60d62fdd4adb" providerId="ADAL" clId="{29623C48-0A88-510E-8DC5-E09F167645C6}" dt="2026-09-28T08:31:54.958" v="4834" actId="1035"/>
          <ac:spMkLst>
            <pc:docMk/>
            <pc:sldMk cId="0" sldId="270"/>
            <ac:spMk id="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31:54.958" v="4834" actId="1035"/>
          <ac:spMkLst>
            <pc:docMk/>
            <pc:sldMk cId="0" sldId="270"/>
            <ac:spMk id="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33:02.514" v="4867" actId="14100"/>
          <ac:spMkLst>
            <pc:docMk/>
            <pc:sldMk cId="0" sldId="270"/>
            <ac:spMk id="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33:10.039" v="4871" actId="1036"/>
          <ac:spMkLst>
            <pc:docMk/>
            <pc:sldMk cId="0" sldId="270"/>
            <ac:spMk id="5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33:16.385" v="4874" actId="1036"/>
          <ac:spMkLst>
            <pc:docMk/>
            <pc:sldMk cId="0" sldId="270"/>
            <ac:spMk id="6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33:05.489" v="4868" actId="14100"/>
          <ac:spMkLst>
            <pc:docMk/>
            <pc:sldMk cId="0" sldId="270"/>
            <ac:spMk id="7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33:10.039" v="4871" actId="1036"/>
          <ac:spMkLst>
            <pc:docMk/>
            <pc:sldMk cId="0" sldId="270"/>
            <ac:spMk id="8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33:16.385" v="4874" actId="1036"/>
          <ac:spMkLst>
            <pc:docMk/>
            <pc:sldMk cId="0" sldId="270"/>
            <ac:spMk id="9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33:37.185" v="4884" actId="1035"/>
          <ac:spMkLst>
            <pc:docMk/>
            <pc:sldMk cId="0" sldId="270"/>
            <ac:spMk id="10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33:37.185" v="4884" actId="1035"/>
          <ac:spMkLst>
            <pc:docMk/>
            <pc:sldMk cId="0" sldId="270"/>
            <ac:spMk id="11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33:37.185" v="4884" actId="1035"/>
          <ac:spMkLst>
            <pc:docMk/>
            <pc:sldMk cId="0" sldId="270"/>
            <ac:spMk id="1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33:37.185" v="4884" actId="1035"/>
          <ac:spMkLst>
            <pc:docMk/>
            <pc:sldMk cId="0" sldId="270"/>
            <ac:spMk id="1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33:37.185" v="4884" actId="1035"/>
          <ac:spMkLst>
            <pc:docMk/>
            <pc:sldMk cId="0" sldId="270"/>
            <ac:spMk id="1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33:37.185" v="4884" actId="1035"/>
          <ac:spMkLst>
            <pc:docMk/>
            <pc:sldMk cId="0" sldId="270"/>
            <ac:spMk id="15" creationId="{00000000-0000-0000-0000-000000000000}"/>
          </ac:spMkLst>
        </pc:spChg>
      </pc:sldChg>
      <pc:sldChg chg="modSp mod modNotesTx">
        <pc:chgData name="Matrisciano, Salvatore" userId="faaac180-6cce-4db1-bdfa-60d62fdd4adb" providerId="ADAL" clId="{29623C48-0A88-510E-8DC5-E09F167645C6}" dt="2026-09-28T12:27:59.921" v="5717" actId="20577"/>
        <pc:sldMkLst>
          <pc:docMk/>
          <pc:sldMk cId="0" sldId="271"/>
        </pc:sldMkLst>
        <pc:spChg chg="mod">
          <ac:chgData name="Matrisciano, Salvatore" userId="faaac180-6cce-4db1-bdfa-60d62fdd4adb" providerId="ADAL" clId="{29623C48-0A88-510E-8DC5-E09F167645C6}" dt="2026-09-28T08:34:51.028" v="4887" actId="255"/>
          <ac:spMkLst>
            <pc:docMk/>
            <pc:sldMk cId="0" sldId="271"/>
            <ac:spMk id="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35:19.782" v="4894" actId="1037"/>
          <ac:spMkLst>
            <pc:docMk/>
            <pc:sldMk cId="0" sldId="271"/>
            <ac:spMk id="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1:19.448" v="4945" actId="255"/>
          <ac:spMkLst>
            <pc:docMk/>
            <pc:sldMk cId="0" sldId="271"/>
            <ac:spMk id="6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36:57.942" v="4906" actId="255"/>
          <ac:spMkLst>
            <pc:docMk/>
            <pc:sldMk cId="0" sldId="271"/>
            <ac:spMk id="7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12:27:59.921" v="5717" actId="20577"/>
          <ac:spMkLst>
            <pc:docMk/>
            <pc:sldMk cId="0" sldId="271"/>
            <ac:spMk id="9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0:22.516" v="4931" actId="14100"/>
          <ac:spMkLst>
            <pc:docMk/>
            <pc:sldMk cId="0" sldId="271"/>
            <ac:spMk id="10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0:50.892" v="4944" actId="103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0:50.892" v="4944" actId="103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0:50.892" v="4944" actId="1036"/>
          <ac:spMkLst>
            <pc:docMk/>
            <pc:sldMk cId="0" sldId="271"/>
            <ac:spMk id="15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0:50.892" v="4944" actId="1036"/>
          <ac:spMkLst>
            <pc:docMk/>
            <pc:sldMk cId="0" sldId="271"/>
            <ac:spMk id="18" creationId="{4A308AD7-DF4F-958C-6DD7-9D45450F6537}"/>
          </ac:spMkLst>
        </pc:spChg>
        <pc:spChg chg="mod">
          <ac:chgData name="Matrisciano, Salvatore" userId="faaac180-6cce-4db1-bdfa-60d62fdd4adb" providerId="ADAL" clId="{29623C48-0A88-510E-8DC5-E09F167645C6}" dt="2026-09-28T08:40:50.892" v="4944" actId="1036"/>
          <ac:spMkLst>
            <pc:docMk/>
            <pc:sldMk cId="0" sldId="271"/>
            <ac:spMk id="19" creationId="{CFAF86CB-4DC8-B1A0-E3F6-182B78A29C5E}"/>
          </ac:spMkLst>
        </pc:spChg>
        <pc:spChg chg="mod">
          <ac:chgData name="Matrisciano, Salvatore" userId="faaac180-6cce-4db1-bdfa-60d62fdd4adb" providerId="ADAL" clId="{29623C48-0A88-510E-8DC5-E09F167645C6}" dt="2026-09-28T08:40:29.697" v="4934" actId="14100"/>
          <ac:spMkLst>
            <pc:docMk/>
            <pc:sldMk cId="0" sldId="271"/>
            <ac:spMk id="22" creationId="{1BB537FF-2E15-7E0A-63CC-43AF98C52326}"/>
          </ac:spMkLst>
        </pc:spChg>
        <pc:spChg chg="mod">
          <ac:chgData name="Matrisciano, Salvatore" userId="faaac180-6cce-4db1-bdfa-60d62fdd4adb" providerId="ADAL" clId="{29623C48-0A88-510E-8DC5-E09F167645C6}" dt="2026-09-28T08:40:32.270" v="4935" actId="14100"/>
          <ac:spMkLst>
            <pc:docMk/>
            <pc:sldMk cId="0" sldId="271"/>
            <ac:spMk id="23" creationId="{27C96B67-D110-0B96-A35B-DA35C702EDC7}"/>
          </ac:spMkLst>
        </pc:spChg>
        <pc:spChg chg="mod">
          <ac:chgData name="Matrisciano, Salvatore" userId="faaac180-6cce-4db1-bdfa-60d62fdd4adb" providerId="ADAL" clId="{29623C48-0A88-510E-8DC5-E09F167645C6}" dt="2026-09-28T08:40:50.892" v="4944" actId="1036"/>
          <ac:spMkLst>
            <pc:docMk/>
            <pc:sldMk cId="0" sldId="271"/>
            <ac:spMk id="26" creationId="{2A2ACE08-D46B-DD8E-64BA-88D74DD7DD1D}"/>
          </ac:spMkLst>
        </pc:spChg>
        <pc:spChg chg="mod">
          <ac:chgData name="Matrisciano, Salvatore" userId="faaac180-6cce-4db1-bdfa-60d62fdd4adb" providerId="ADAL" clId="{29623C48-0A88-510E-8DC5-E09F167645C6}" dt="2026-09-28T08:40:50.892" v="4944" actId="1036"/>
          <ac:spMkLst>
            <pc:docMk/>
            <pc:sldMk cId="0" sldId="271"/>
            <ac:spMk id="27" creationId="{E23A065A-A4EC-AD1E-902F-A464AEEEC8AD}"/>
          </ac:spMkLst>
        </pc:spChg>
        <pc:spChg chg="mod">
          <ac:chgData name="Matrisciano, Salvatore" userId="faaac180-6cce-4db1-bdfa-60d62fdd4adb" providerId="ADAL" clId="{29623C48-0A88-510E-8DC5-E09F167645C6}" dt="2026-09-28T08:40:50.892" v="4944" actId="1036"/>
          <ac:spMkLst>
            <pc:docMk/>
            <pc:sldMk cId="0" sldId="271"/>
            <ac:spMk id="30" creationId="{E92B8EA7-1589-122E-2826-DF120881C004}"/>
          </ac:spMkLst>
        </pc:spChg>
        <pc:spChg chg="mod">
          <ac:chgData name="Matrisciano, Salvatore" userId="faaac180-6cce-4db1-bdfa-60d62fdd4adb" providerId="ADAL" clId="{29623C48-0A88-510E-8DC5-E09F167645C6}" dt="2026-09-28T08:40:50.892" v="4944" actId="1036"/>
          <ac:spMkLst>
            <pc:docMk/>
            <pc:sldMk cId="0" sldId="271"/>
            <ac:spMk id="31" creationId="{93395D28-DB23-18BF-81E9-91A60F5D63AA}"/>
          </ac:spMkLst>
        </pc:spChg>
        <pc:spChg chg="mod">
          <ac:chgData name="Matrisciano, Salvatore" userId="faaac180-6cce-4db1-bdfa-60d62fdd4adb" providerId="ADAL" clId="{29623C48-0A88-510E-8DC5-E09F167645C6}" dt="2026-09-28T08:40:50.892" v="4944" actId="1036"/>
          <ac:spMkLst>
            <pc:docMk/>
            <pc:sldMk cId="0" sldId="271"/>
            <ac:spMk id="32" creationId="{424E8A60-A9EF-C8A1-A1EC-5338B642ACCA}"/>
          </ac:spMkLst>
        </pc:spChg>
      </pc:sldChg>
      <pc:sldChg chg="modSp mod modNotesTx">
        <pc:chgData name="Matrisciano, Salvatore" userId="faaac180-6cce-4db1-bdfa-60d62fdd4adb" providerId="ADAL" clId="{29623C48-0A88-510E-8DC5-E09F167645C6}" dt="2026-09-28T08:44:57.900" v="5039" actId="1076"/>
        <pc:sldMkLst>
          <pc:docMk/>
          <pc:sldMk cId="0" sldId="272"/>
        </pc:sldMkLst>
        <pc:spChg chg="mod">
          <ac:chgData name="Matrisciano, Salvatore" userId="faaac180-6cce-4db1-bdfa-60d62fdd4adb" providerId="ADAL" clId="{29623C48-0A88-510E-8DC5-E09F167645C6}" dt="2026-09-28T08:42:19.289" v="4985" actId="1035"/>
          <ac:spMkLst>
            <pc:docMk/>
            <pc:sldMk cId="0" sldId="272"/>
            <ac:spMk id="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2:19.289" v="4985" actId="1035"/>
          <ac:spMkLst>
            <pc:docMk/>
            <pc:sldMk cId="0" sldId="272"/>
            <ac:spMk id="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2:53.607" v="5005" actId="255"/>
          <ac:spMkLst>
            <pc:docMk/>
            <pc:sldMk cId="0" sldId="272"/>
            <ac:spMk id="5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3:31.616" v="5023" actId="1036"/>
          <ac:spMkLst>
            <pc:docMk/>
            <pc:sldMk cId="0" sldId="272"/>
            <ac:spMk id="6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2:49.769" v="5004" actId="255"/>
          <ac:spMkLst>
            <pc:docMk/>
            <pc:sldMk cId="0" sldId="272"/>
            <ac:spMk id="8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3:42.412" v="5026" actId="1076"/>
          <ac:spMkLst>
            <pc:docMk/>
            <pc:sldMk cId="0" sldId="272"/>
            <ac:spMk id="9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2:56.614" v="5006" actId="255"/>
          <ac:spMkLst>
            <pc:docMk/>
            <pc:sldMk cId="0" sldId="272"/>
            <ac:spMk id="11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4:57.900" v="5039" actId="1076"/>
          <ac:spMkLst>
            <pc:docMk/>
            <pc:sldMk cId="0" sldId="272"/>
            <ac:spMk id="1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3:22.837" v="5013" actId="14100"/>
          <ac:spMkLst>
            <pc:docMk/>
            <pc:sldMk cId="0" sldId="272"/>
            <ac:spMk id="1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3:35.653" v="5024" actId="14100"/>
          <ac:spMkLst>
            <pc:docMk/>
            <pc:sldMk cId="0" sldId="272"/>
            <ac:spMk id="15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3:46.461" v="5027" actId="14100"/>
          <ac:spMkLst>
            <pc:docMk/>
            <pc:sldMk cId="0" sldId="272"/>
            <ac:spMk id="16" creationId="{00000000-0000-0000-0000-000000000000}"/>
          </ac:spMkLst>
        </pc:spChg>
      </pc:sldChg>
      <pc:sldChg chg="modSp del mod modNotesTx">
        <pc:chgData name="Matrisciano, Salvatore" userId="faaac180-6cce-4db1-bdfa-60d62fdd4adb" providerId="ADAL" clId="{29623C48-0A88-510E-8DC5-E09F167645C6}" dt="2026-09-28T08:55:43.611" v="5211" actId="2696"/>
        <pc:sldMkLst>
          <pc:docMk/>
          <pc:sldMk cId="0" sldId="273"/>
        </pc:sldMkLst>
        <pc:spChg chg="mod">
          <ac:chgData name="Matrisciano, Salvatore" userId="faaac180-6cce-4db1-bdfa-60d62fdd4adb" providerId="ADAL" clId="{29623C48-0A88-510E-8DC5-E09F167645C6}" dt="2026-09-28T08:49:37.016" v="5075" actId="255"/>
          <ac:spMkLst>
            <pc:docMk/>
            <pc:sldMk cId="0" sldId="273"/>
            <ac:spMk id="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49:50.851" v="5078" actId="255"/>
          <ac:spMkLst>
            <pc:docMk/>
            <pc:sldMk cId="0" sldId="273"/>
            <ac:spMk id="3" creationId="{00000000-0000-0000-0000-000000000000}"/>
          </ac:spMkLst>
        </pc:spChg>
      </pc:sldChg>
      <pc:sldChg chg="modSp mod modNotesTx">
        <pc:chgData name="Matrisciano, Salvatore" userId="faaac180-6cce-4db1-bdfa-60d62fdd4adb" providerId="ADAL" clId="{29623C48-0A88-510E-8DC5-E09F167645C6}" dt="2026-09-28T08:56:33.901" v="5216" actId="255"/>
        <pc:sldMkLst>
          <pc:docMk/>
          <pc:sldMk cId="0" sldId="274"/>
        </pc:sldMkLst>
        <pc:spChg chg="mod">
          <ac:chgData name="Matrisciano, Salvatore" userId="faaac180-6cce-4db1-bdfa-60d62fdd4adb" providerId="ADAL" clId="{29623C48-0A88-510E-8DC5-E09F167645C6}" dt="2026-09-28T08:56:09.097" v="5212" actId="255"/>
          <ac:spMkLst>
            <pc:docMk/>
            <pc:sldMk cId="0" sldId="274"/>
            <ac:spMk id="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56:22.412" v="5214" actId="255"/>
          <ac:spMkLst>
            <pc:docMk/>
            <pc:sldMk cId="0" sldId="274"/>
            <ac:spMk id="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56:33.901" v="5216" actId="255"/>
          <ac:spMkLst>
            <pc:docMk/>
            <pc:sldMk cId="0" sldId="274"/>
            <ac:spMk id="5" creationId="{00000000-0000-0000-0000-000000000000}"/>
          </ac:spMkLst>
        </pc:spChg>
      </pc:sldChg>
      <pc:sldChg chg="modSp mod modNotesTx">
        <pc:chgData name="Matrisciano, Salvatore" userId="faaac180-6cce-4db1-bdfa-60d62fdd4adb" providerId="ADAL" clId="{29623C48-0A88-510E-8DC5-E09F167645C6}" dt="2026-09-28T09:02:40.630" v="5257" actId="1036"/>
        <pc:sldMkLst>
          <pc:docMk/>
          <pc:sldMk cId="0" sldId="275"/>
        </pc:sldMkLst>
        <pc:spChg chg="mod">
          <ac:chgData name="Matrisciano, Salvatore" userId="faaac180-6cce-4db1-bdfa-60d62fdd4adb" providerId="ADAL" clId="{29623C48-0A88-510E-8DC5-E09F167645C6}" dt="2026-09-28T08:59:19.328" v="5225" actId="255"/>
          <ac:spMkLst>
            <pc:docMk/>
            <pc:sldMk cId="0" sldId="275"/>
            <ac:spMk id="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0:59.245" v="5247" actId="1038"/>
          <ac:spMkLst>
            <pc:docMk/>
            <pc:sldMk cId="0" sldId="275"/>
            <ac:spMk id="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0:34.146" v="5236" actId="14100"/>
          <ac:spMkLst>
            <pc:docMk/>
            <pc:sldMk cId="0" sldId="275"/>
            <ac:spMk id="5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2:40.630" v="5257" actId="1036"/>
          <ac:spMkLst>
            <pc:docMk/>
            <pc:sldMk cId="0" sldId="275"/>
            <ac:spMk id="6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2:40.630" v="5257" actId="1036"/>
          <ac:spMkLst>
            <pc:docMk/>
            <pc:sldMk cId="0" sldId="275"/>
            <ac:spMk id="7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2:40.630" v="5257" actId="1036"/>
          <ac:spMkLst>
            <pc:docMk/>
            <pc:sldMk cId="0" sldId="275"/>
            <ac:spMk id="8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2:40.630" v="5257" actId="1036"/>
          <ac:spMkLst>
            <pc:docMk/>
            <pc:sldMk cId="0" sldId="275"/>
            <ac:spMk id="9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2:40.630" v="5257" actId="1036"/>
          <ac:spMkLst>
            <pc:docMk/>
            <pc:sldMk cId="0" sldId="275"/>
            <ac:spMk id="10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2:40.630" v="5257" actId="1036"/>
          <ac:spMkLst>
            <pc:docMk/>
            <pc:sldMk cId="0" sldId="275"/>
            <ac:spMk id="11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2:40.630" v="5257" actId="103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2:40.630" v="5257" actId="1036"/>
          <ac:spMkLst>
            <pc:docMk/>
            <pc:sldMk cId="0" sldId="275"/>
            <ac:spMk id="1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2:40.630" v="5257" actId="1036"/>
          <ac:spMkLst>
            <pc:docMk/>
            <pc:sldMk cId="0" sldId="275"/>
            <ac:spMk id="1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2:40.630" v="5257" actId="1036"/>
          <ac:spMkLst>
            <pc:docMk/>
            <pc:sldMk cId="0" sldId="275"/>
            <ac:spMk id="15" creationId="{00000000-0000-0000-0000-000000000000}"/>
          </ac:spMkLst>
        </pc:spChg>
      </pc:sldChg>
      <pc:sldChg chg="modSp mod modNotesTx">
        <pc:chgData name="Matrisciano, Salvatore" userId="faaac180-6cce-4db1-bdfa-60d62fdd4adb" providerId="ADAL" clId="{29623C48-0A88-510E-8DC5-E09F167645C6}" dt="2026-09-28T09:05:36.823" v="5355" actId="14100"/>
        <pc:sldMkLst>
          <pc:docMk/>
          <pc:sldMk cId="0" sldId="276"/>
        </pc:sldMkLst>
        <pc:spChg chg="mod">
          <ac:chgData name="Matrisciano, Salvatore" userId="faaac180-6cce-4db1-bdfa-60d62fdd4adb" providerId="ADAL" clId="{29623C48-0A88-510E-8DC5-E09F167645C6}" dt="2026-09-28T09:04:19.618" v="5317" actId="1035"/>
          <ac:spMkLst>
            <pc:docMk/>
            <pc:sldMk cId="0" sldId="276"/>
            <ac:spMk id="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4:19.618" v="5317" actId="1035"/>
          <ac:spMkLst>
            <pc:docMk/>
            <pc:sldMk cId="0" sldId="276"/>
            <ac:spMk id="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4:23.985" v="5326" actId="1035"/>
          <ac:spMkLst>
            <pc:docMk/>
            <pc:sldMk cId="0" sldId="276"/>
            <ac:spMk id="5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4:29.756" v="5331" actId="1036"/>
          <ac:spMkLst>
            <pc:docMk/>
            <pc:sldMk cId="0" sldId="276"/>
            <ac:spMk id="6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4:23.985" v="5326" actId="1035"/>
          <ac:spMkLst>
            <pc:docMk/>
            <pc:sldMk cId="0" sldId="276"/>
            <ac:spMk id="8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4:23.985" v="5326" actId="1035"/>
          <ac:spMkLst>
            <pc:docMk/>
            <pc:sldMk cId="0" sldId="276"/>
            <ac:spMk id="9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4:44.417" v="5345" actId="1036"/>
          <ac:spMkLst>
            <pc:docMk/>
            <pc:sldMk cId="0" sldId="276"/>
            <ac:spMk id="11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5:11.713" v="5351" actId="1076"/>
          <ac:spMkLst>
            <pc:docMk/>
            <pc:sldMk cId="0" sldId="276"/>
            <ac:spMk id="1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4:44.417" v="5345" actId="1036"/>
          <ac:spMkLst>
            <pc:docMk/>
            <pc:sldMk cId="0" sldId="276"/>
            <ac:spMk id="1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4:44.417" v="5345" actId="1036"/>
          <ac:spMkLst>
            <pc:docMk/>
            <pc:sldMk cId="0" sldId="276"/>
            <ac:spMk id="15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5:20.146" v="5353" actId="14100"/>
          <ac:spMkLst>
            <pc:docMk/>
            <pc:sldMk cId="0" sldId="276"/>
            <ac:spMk id="17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5:15.447" v="5352" actId="14100"/>
          <ac:spMkLst>
            <pc:docMk/>
            <pc:sldMk cId="0" sldId="276"/>
            <ac:spMk id="18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5:29.914" v="5354" actId="14100"/>
          <ac:spMkLst>
            <pc:docMk/>
            <pc:sldMk cId="0" sldId="276"/>
            <ac:spMk id="19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5:36.823" v="5355" actId="14100"/>
          <ac:spMkLst>
            <pc:docMk/>
            <pc:sldMk cId="0" sldId="276"/>
            <ac:spMk id="20" creationId="{00000000-0000-0000-0000-000000000000}"/>
          </ac:spMkLst>
        </pc:spChg>
      </pc:sldChg>
      <pc:sldChg chg="modSp mod modNotesTx">
        <pc:chgData name="Matrisciano, Salvatore" userId="faaac180-6cce-4db1-bdfa-60d62fdd4adb" providerId="ADAL" clId="{29623C48-0A88-510E-8DC5-E09F167645C6}" dt="2026-09-28T09:13:13.658" v="5447" actId="1035"/>
        <pc:sldMkLst>
          <pc:docMk/>
          <pc:sldMk cId="0" sldId="277"/>
        </pc:sldMkLst>
        <pc:spChg chg="mod">
          <ac:chgData name="Matrisciano, Salvatore" userId="faaac180-6cce-4db1-bdfa-60d62fdd4adb" providerId="ADAL" clId="{29623C48-0A88-510E-8DC5-E09F167645C6}" dt="2026-09-28T09:11:24.340" v="5398" actId="1035"/>
          <ac:spMkLst>
            <pc:docMk/>
            <pc:sldMk cId="0" sldId="277"/>
            <ac:spMk id="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11:24.340" v="5398" actId="1035"/>
          <ac:spMkLst>
            <pc:docMk/>
            <pc:sldMk cId="0" sldId="277"/>
            <ac:spMk id="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13:13.658" v="5447" actId="1035"/>
          <ac:spMkLst>
            <pc:docMk/>
            <pc:sldMk cId="0" sldId="277"/>
            <ac:spMk id="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13:13.658" v="5447" actId="1035"/>
          <ac:spMkLst>
            <pc:docMk/>
            <pc:sldMk cId="0" sldId="277"/>
            <ac:spMk id="5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13:13.658" v="5447" actId="1035"/>
          <ac:spMkLst>
            <pc:docMk/>
            <pc:sldMk cId="0" sldId="277"/>
            <ac:spMk id="6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13:13.658" v="5447" actId="1035"/>
          <ac:spMkLst>
            <pc:docMk/>
            <pc:sldMk cId="0" sldId="277"/>
            <ac:spMk id="7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10:36.530" v="5373" actId="255"/>
          <ac:spMkLst>
            <pc:docMk/>
            <pc:sldMk cId="0" sldId="277"/>
            <ac:spMk id="8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13:13.658" v="5447" actId="1035"/>
          <ac:spMkLst>
            <pc:docMk/>
            <pc:sldMk cId="0" sldId="277"/>
            <ac:spMk id="9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13:13.658" v="5447" actId="1035"/>
          <ac:spMkLst>
            <pc:docMk/>
            <pc:sldMk cId="0" sldId="277"/>
            <ac:spMk id="10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13:13.658" v="5447" actId="1035"/>
          <ac:spMkLst>
            <pc:docMk/>
            <pc:sldMk cId="0" sldId="277"/>
            <ac:spMk id="11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13:13.658" v="5447" actId="1035"/>
          <ac:spMkLst>
            <pc:docMk/>
            <pc:sldMk cId="0" sldId="277"/>
            <ac:spMk id="1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12:49.583" v="5435" actId="1036"/>
          <ac:spMkLst>
            <pc:docMk/>
            <pc:sldMk cId="0" sldId="277"/>
            <ac:spMk id="1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13:13.658" v="5447" actId="1035"/>
          <ac:spMkLst>
            <pc:docMk/>
            <pc:sldMk cId="0" sldId="277"/>
            <ac:spMk id="1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13:13.658" v="5447" actId="1035"/>
          <ac:spMkLst>
            <pc:docMk/>
            <pc:sldMk cId="0" sldId="277"/>
            <ac:spMk id="15" creationId="{00000000-0000-0000-0000-000000000000}"/>
          </ac:spMkLst>
        </pc:spChg>
      </pc:sldChg>
      <pc:sldChg chg="modSp mod modNotesTx">
        <pc:chgData name="Matrisciano, Salvatore" userId="faaac180-6cce-4db1-bdfa-60d62fdd4adb" providerId="ADAL" clId="{29623C48-0A88-510E-8DC5-E09F167645C6}" dt="2026-09-28T10:11:09.633" v="5696" actId="1036"/>
        <pc:sldMkLst>
          <pc:docMk/>
          <pc:sldMk cId="0" sldId="278"/>
        </pc:sldMkLst>
        <pc:spChg chg="mod">
          <ac:chgData name="Matrisciano, Salvatore" userId="faaac180-6cce-4db1-bdfa-60d62fdd4adb" providerId="ADAL" clId="{29623C48-0A88-510E-8DC5-E09F167645C6}" dt="2026-09-28T09:31:48.005" v="5622" actId="1035"/>
          <ac:spMkLst>
            <pc:docMk/>
            <pc:sldMk cId="0" sldId="278"/>
            <ac:spMk id="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31:50.588" v="5623" actId="1036"/>
          <ac:spMkLst>
            <pc:docMk/>
            <pc:sldMk cId="0" sldId="278"/>
            <ac:spMk id="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10:10:16.098" v="5666" actId="14100"/>
          <ac:spMkLst>
            <pc:docMk/>
            <pc:sldMk cId="0" sldId="278"/>
            <ac:spMk id="5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10:08:33.806" v="5638" actId="1035"/>
          <ac:spMkLst>
            <pc:docMk/>
            <pc:sldMk cId="0" sldId="278"/>
            <ac:spMk id="8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10:09:14.143" v="5646" actId="20577"/>
          <ac:spMkLst>
            <pc:docMk/>
            <pc:sldMk cId="0" sldId="278"/>
            <ac:spMk id="9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10:11:03.002" v="5693" actId="1036"/>
          <ac:spMkLst>
            <pc:docMk/>
            <pc:sldMk cId="0" sldId="278"/>
            <ac:spMk id="10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10:11:09.633" v="5696" actId="103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10:11:09.633" v="5696" actId="1036"/>
          <ac:spMkLst>
            <pc:docMk/>
            <pc:sldMk cId="0" sldId="278"/>
            <ac:spMk id="1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10:11:09.633" v="5696" actId="1036"/>
          <ac:spMkLst>
            <pc:docMk/>
            <pc:sldMk cId="0" sldId="278"/>
            <ac:spMk id="1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10:11:09.633" v="5696" actId="1036"/>
          <ac:spMkLst>
            <pc:docMk/>
            <pc:sldMk cId="0" sldId="278"/>
            <ac:spMk id="15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10:11:09.633" v="5696" actId="1036"/>
          <ac:spMkLst>
            <pc:docMk/>
            <pc:sldMk cId="0" sldId="278"/>
            <ac:spMk id="16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10:11:09.633" v="5696" actId="1036"/>
          <ac:spMkLst>
            <pc:docMk/>
            <pc:sldMk cId="0" sldId="278"/>
            <ac:spMk id="18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10:11:06.166" v="5694" actId="1036"/>
          <ac:spMkLst>
            <pc:docMk/>
            <pc:sldMk cId="0" sldId="278"/>
            <ac:spMk id="19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10:11:09.633" v="5696" actId="1036"/>
          <ac:spMkLst>
            <pc:docMk/>
            <pc:sldMk cId="0" sldId="278"/>
            <ac:spMk id="20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10:11:09.633" v="5696" actId="1036"/>
          <ac:spMkLst>
            <pc:docMk/>
            <pc:sldMk cId="0" sldId="278"/>
            <ac:spMk id="21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10:11:09.633" v="5696" actId="1036"/>
          <ac:spMkLst>
            <pc:docMk/>
            <pc:sldMk cId="0" sldId="278"/>
            <ac:spMk id="2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10:11:09.633" v="5696" actId="1036"/>
          <ac:spMkLst>
            <pc:docMk/>
            <pc:sldMk cId="0" sldId="278"/>
            <ac:spMk id="24" creationId="{00000000-0000-0000-0000-000000000000}"/>
          </ac:spMkLst>
        </pc:spChg>
        <pc:picChg chg="mod">
          <ac:chgData name="Matrisciano, Salvatore" userId="faaac180-6cce-4db1-bdfa-60d62fdd4adb" providerId="ADAL" clId="{29623C48-0A88-510E-8DC5-E09F167645C6}" dt="2026-09-28T10:11:03.002" v="5693" actId="1036"/>
          <ac:picMkLst>
            <pc:docMk/>
            <pc:sldMk cId="0" sldId="278"/>
            <ac:picMk id="12" creationId="{00000000-0000-0000-0000-000000000000}"/>
          </ac:picMkLst>
        </pc:picChg>
        <pc:picChg chg="mod">
          <ac:chgData name="Matrisciano, Salvatore" userId="faaac180-6cce-4db1-bdfa-60d62fdd4adb" providerId="ADAL" clId="{29623C48-0A88-510E-8DC5-E09F167645C6}" dt="2026-09-28T10:11:06.166" v="5694" actId="1036"/>
          <ac:picMkLst>
            <pc:docMk/>
            <pc:sldMk cId="0" sldId="278"/>
            <ac:picMk id="17" creationId="{00000000-0000-0000-0000-000000000000}"/>
          </ac:picMkLst>
        </pc:picChg>
        <pc:picChg chg="mod">
          <ac:chgData name="Matrisciano, Salvatore" userId="faaac180-6cce-4db1-bdfa-60d62fdd4adb" providerId="ADAL" clId="{29623C48-0A88-510E-8DC5-E09F167645C6}" dt="2026-09-28T10:11:06.166" v="5694" actId="1036"/>
          <ac:picMkLst>
            <pc:docMk/>
            <pc:sldMk cId="0" sldId="278"/>
            <ac:picMk id="22" creationId="{00000000-0000-0000-0000-000000000000}"/>
          </ac:picMkLst>
        </pc:picChg>
      </pc:sldChg>
      <pc:sldChg chg="modSp del mod modNotesTx">
        <pc:chgData name="Matrisciano, Salvatore" userId="faaac180-6cce-4db1-bdfa-60d62fdd4adb" providerId="ADAL" clId="{29623C48-0A88-510E-8DC5-E09F167645C6}" dt="2026-09-29T19:09:01.441" v="5723" actId="2696"/>
        <pc:sldMkLst>
          <pc:docMk/>
          <pc:sldMk cId="0" sldId="279"/>
        </pc:sldMkLst>
      </pc:sldChg>
      <pc:sldChg chg="del modNotesTx">
        <pc:chgData name="Matrisciano, Salvatore" userId="faaac180-6cce-4db1-bdfa-60d62fdd4adb" providerId="ADAL" clId="{29623C48-0A88-510E-8DC5-E09F167645C6}" dt="2026-09-28T09:30:44.434" v="5607" actId="2696"/>
        <pc:sldMkLst>
          <pc:docMk/>
          <pc:sldMk cId="0" sldId="280"/>
        </pc:sldMkLst>
      </pc:sldChg>
      <pc:sldChg chg="modSp add mod">
        <pc:chgData name="Matrisciano, Salvatore" userId="faaac180-6cce-4db1-bdfa-60d62fdd4adb" providerId="ADAL" clId="{29623C48-0A88-510E-8DC5-E09F167645C6}" dt="2026-09-27T22:21:36.399" v="4095" actId="255"/>
        <pc:sldMkLst>
          <pc:docMk/>
          <pc:sldMk cId="0" sldId="281"/>
        </pc:sldMkLst>
        <pc:spChg chg="mod">
          <ac:chgData name="Matrisciano, Salvatore" userId="faaac180-6cce-4db1-bdfa-60d62fdd4adb" providerId="ADAL" clId="{29623C48-0A88-510E-8DC5-E09F167645C6}" dt="2026-09-27T22:21:26.991" v="4094" actId="255"/>
          <ac:spMkLst>
            <pc:docMk/>
            <pc:sldMk cId="0" sldId="281"/>
            <ac:spMk id="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7T22:21:36.399" v="4095" actId="255"/>
          <ac:spMkLst>
            <pc:docMk/>
            <pc:sldMk cId="0" sldId="281"/>
            <ac:spMk id="4" creationId="{00000000-0000-0000-0000-000000000000}"/>
          </ac:spMkLst>
        </pc:spChg>
      </pc:sldChg>
      <pc:sldChg chg="modSp add mod ord modNotesTx">
        <pc:chgData name="Matrisciano, Salvatore" userId="faaac180-6cce-4db1-bdfa-60d62fdd4adb" providerId="ADAL" clId="{29623C48-0A88-510E-8DC5-E09F167645C6}" dt="2026-09-28T12:27:54.870" v="5714" actId="20577"/>
        <pc:sldMkLst>
          <pc:docMk/>
          <pc:sldMk cId="0" sldId="282"/>
        </pc:sldMkLst>
        <pc:spChg chg="mod">
          <ac:chgData name="Matrisciano, Salvatore" userId="faaac180-6cce-4db1-bdfa-60d62fdd4adb" providerId="ADAL" clId="{29623C48-0A88-510E-8DC5-E09F167645C6}" dt="2026-09-27T22:22:50.065" v="4098" actId="255"/>
          <ac:spMkLst>
            <pc:docMk/>
            <pc:sldMk cId="0" sldId="282"/>
            <ac:spMk id="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7T22:22:57.577" v="4099" actId="255"/>
          <ac:spMkLst>
            <pc:docMk/>
            <pc:sldMk cId="0" sldId="282"/>
            <ac:spMk id="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8:27.927" v="5356" actId="207"/>
          <ac:spMkLst>
            <pc:docMk/>
            <pc:sldMk cId="0" sldId="282"/>
            <ac:spMk id="7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7T22:25:00.110" v="4141"/>
          <ac:spMkLst>
            <pc:docMk/>
            <pc:sldMk cId="0" sldId="282"/>
            <ac:spMk id="9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8:30.570" v="5357" actId="207"/>
          <ac:spMkLst>
            <pc:docMk/>
            <pc:sldMk cId="0" sldId="282"/>
            <ac:spMk id="10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7T22:25:42.834" v="4156"/>
          <ac:spMkLst>
            <pc:docMk/>
            <pc:sldMk cId="0" sldId="282"/>
            <ac:spMk id="1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8:33.560" v="5358" actId="207"/>
          <ac:spMkLst>
            <pc:docMk/>
            <pc:sldMk cId="0" sldId="282"/>
            <ac:spMk id="1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8:35.948" v="5359" actId="207"/>
          <ac:spMkLst>
            <pc:docMk/>
            <pc:sldMk cId="0" sldId="282"/>
            <ac:spMk id="16" creationId="{00000000-0000-0000-0000-000000000000}"/>
          </ac:spMkLst>
        </pc:spChg>
      </pc:sldChg>
      <pc:sldChg chg="modSp add del mod">
        <pc:chgData name="Matrisciano, Salvatore" userId="faaac180-6cce-4db1-bdfa-60d62fdd4adb" providerId="ADAL" clId="{29623C48-0A88-510E-8DC5-E09F167645C6}" dt="2026-09-28T09:08:47.606" v="5363" actId="207"/>
        <pc:sldMkLst>
          <pc:docMk/>
          <pc:sldMk cId="0" sldId="283"/>
        </pc:sldMkLst>
        <pc:spChg chg="mod">
          <ac:chgData name="Matrisciano, Salvatore" userId="faaac180-6cce-4db1-bdfa-60d62fdd4adb" providerId="ADAL" clId="{29623C48-0A88-510E-8DC5-E09F167645C6}" dt="2026-09-28T07:34:19.109" v="4168" actId="255"/>
          <ac:spMkLst>
            <pc:docMk/>
            <pc:sldMk cId="0" sldId="283"/>
            <ac:spMk id="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37:04.496" v="4308" actId="1036"/>
          <ac:spMkLst>
            <pc:docMk/>
            <pc:sldMk cId="0" sldId="283"/>
            <ac:spMk id="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38:54.606" v="4364" actId="14100"/>
          <ac:spMkLst>
            <pc:docMk/>
            <pc:sldMk cId="0" sldId="283"/>
            <ac:spMk id="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39:43.663" v="4389" actId="255"/>
          <ac:spMkLst>
            <pc:docMk/>
            <pc:sldMk cId="0" sldId="283"/>
            <ac:spMk id="5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8:40.951" v="5360" actId="207"/>
          <ac:spMkLst>
            <pc:docMk/>
            <pc:sldMk cId="0" sldId="283"/>
            <ac:spMk id="6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39:00.572" v="4368" actId="14100"/>
          <ac:spMkLst>
            <pc:docMk/>
            <pc:sldMk cId="0" sldId="283"/>
            <ac:spMk id="7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39:47.660" v="4390" actId="255"/>
          <ac:spMkLst>
            <pc:docMk/>
            <pc:sldMk cId="0" sldId="283"/>
            <ac:spMk id="8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8:42.949" v="5361" actId="207"/>
          <ac:spMkLst>
            <pc:docMk/>
            <pc:sldMk cId="0" sldId="283"/>
            <ac:spMk id="9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39:11.338" v="4378" actId="14100"/>
          <ac:spMkLst>
            <pc:docMk/>
            <pc:sldMk cId="0" sldId="283"/>
            <ac:spMk id="10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39:38.156" v="4388" actId="14100"/>
          <ac:spMkLst>
            <pc:docMk/>
            <pc:sldMk cId="0" sldId="283"/>
            <ac:spMk id="11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8:45.401" v="5362" actId="207"/>
          <ac:spMkLst>
            <pc:docMk/>
            <pc:sldMk cId="0" sldId="283"/>
            <ac:spMk id="1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39:14.150" v="4379" actId="14100"/>
          <ac:spMkLst>
            <pc:docMk/>
            <pc:sldMk cId="0" sldId="283"/>
            <ac:spMk id="1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39:51.217" v="4391" actId="255"/>
          <ac:spMkLst>
            <pc:docMk/>
            <pc:sldMk cId="0" sldId="283"/>
            <ac:spMk id="1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8:47.606" v="5363" actId="207"/>
          <ac:spMkLst>
            <pc:docMk/>
            <pc:sldMk cId="0" sldId="283"/>
            <ac:spMk id="15" creationId="{00000000-0000-0000-0000-000000000000}"/>
          </ac:spMkLst>
        </pc:spChg>
      </pc:sldChg>
      <pc:sldChg chg="modSp add mod ord">
        <pc:chgData name="Matrisciano, Salvatore" userId="faaac180-6cce-4db1-bdfa-60d62fdd4adb" providerId="ADAL" clId="{29623C48-0A88-510E-8DC5-E09F167645C6}" dt="2026-09-28T07:43:34.681" v="4480" actId="1035"/>
        <pc:sldMkLst>
          <pc:docMk/>
          <pc:sldMk cId="0" sldId="284"/>
        </pc:sldMkLst>
        <pc:spChg chg="mod">
          <ac:chgData name="Matrisciano, Salvatore" userId="faaac180-6cce-4db1-bdfa-60d62fdd4adb" providerId="ADAL" clId="{29623C48-0A88-510E-8DC5-E09F167645C6}" dt="2026-09-28T07:41:12.232" v="4400" actId="255"/>
          <ac:spMkLst>
            <pc:docMk/>
            <pc:sldMk cId="0" sldId="284"/>
            <ac:spMk id="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43:15.745" v="4473" actId="1035"/>
          <ac:spMkLst>
            <pc:docMk/>
            <pc:sldMk cId="0" sldId="284"/>
            <ac:spMk id="6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43:07.612" v="4468" actId="1036"/>
          <ac:spMkLst>
            <pc:docMk/>
            <pc:sldMk cId="0" sldId="284"/>
            <ac:spMk id="8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42:58.324" v="4465" actId="1036"/>
          <ac:spMkLst>
            <pc:docMk/>
            <pc:sldMk cId="0" sldId="284"/>
            <ac:spMk id="10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43:32.622" v="4478" actId="1035"/>
          <ac:spMkLst>
            <pc:docMk/>
            <pc:sldMk cId="0" sldId="284"/>
            <ac:spMk id="11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43:34.681" v="4480" actId="1035"/>
          <ac:spMkLst>
            <pc:docMk/>
            <pc:sldMk cId="0" sldId="284"/>
            <ac:spMk id="12" creationId="{00000000-0000-0000-0000-000000000000}"/>
          </ac:spMkLst>
        </pc:spChg>
      </pc:sldChg>
      <pc:sldChg chg="modSp add del mod">
        <pc:chgData name="Matrisciano, Salvatore" userId="faaac180-6cce-4db1-bdfa-60d62fdd4adb" providerId="ADAL" clId="{29623C48-0A88-510E-8DC5-E09F167645C6}" dt="2026-09-28T09:09:00.849" v="5366" actId="207"/>
        <pc:sldMkLst>
          <pc:docMk/>
          <pc:sldMk cId="0" sldId="285"/>
        </pc:sldMkLst>
        <pc:spChg chg="mod">
          <ac:chgData name="Matrisciano, Salvatore" userId="faaac180-6cce-4db1-bdfa-60d62fdd4adb" providerId="ADAL" clId="{29623C48-0A88-510E-8DC5-E09F167645C6}" dt="2026-09-28T07:46:34.872" v="4524" actId="255"/>
          <ac:spMkLst>
            <pc:docMk/>
            <pc:sldMk cId="0" sldId="285"/>
            <ac:spMk id="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46:38.873" v="4525" actId="255"/>
          <ac:spMkLst>
            <pc:docMk/>
            <pc:sldMk cId="0" sldId="285"/>
            <ac:spMk id="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49:27.155" v="4579" actId="1036"/>
          <ac:spMkLst>
            <pc:docMk/>
            <pc:sldMk cId="0" sldId="285"/>
            <ac:spMk id="5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49:27.155" v="4579" actId="1036"/>
          <ac:spMkLst>
            <pc:docMk/>
            <pc:sldMk cId="0" sldId="285"/>
            <ac:spMk id="6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8:54.101" v="5364" actId="207"/>
          <ac:spMkLst>
            <pc:docMk/>
            <pc:sldMk cId="0" sldId="285"/>
            <ac:spMk id="7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49:27.155" v="4579" actId="1036"/>
          <ac:spMkLst>
            <pc:docMk/>
            <pc:sldMk cId="0" sldId="285"/>
            <ac:spMk id="8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49:27.155" v="4579" actId="1036"/>
          <ac:spMkLst>
            <pc:docMk/>
            <pc:sldMk cId="0" sldId="285"/>
            <ac:spMk id="9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8:56.073" v="5365" actId="207"/>
          <ac:spMkLst>
            <pc:docMk/>
            <pc:sldMk cId="0" sldId="285"/>
            <ac:spMk id="10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49:27.155" v="4579" actId="1036"/>
          <ac:spMkLst>
            <pc:docMk/>
            <pc:sldMk cId="0" sldId="285"/>
            <ac:spMk id="11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49:27.155" v="4579" actId="1036"/>
          <ac:spMkLst>
            <pc:docMk/>
            <pc:sldMk cId="0" sldId="285"/>
            <ac:spMk id="1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9:00.849" v="5366" actId="207"/>
          <ac:spMkLst>
            <pc:docMk/>
            <pc:sldMk cId="0" sldId="285"/>
            <ac:spMk id="13" creationId="{00000000-0000-0000-0000-000000000000}"/>
          </ac:spMkLst>
        </pc:spChg>
      </pc:sldChg>
      <pc:sldChg chg="modSp add mod">
        <pc:chgData name="Matrisciano, Salvatore" userId="faaac180-6cce-4db1-bdfa-60d62fdd4adb" providerId="ADAL" clId="{29623C48-0A88-510E-8DC5-E09F167645C6}" dt="2026-09-28T09:09:56.398" v="5371" actId="207"/>
        <pc:sldMkLst>
          <pc:docMk/>
          <pc:sldMk cId="0" sldId="286"/>
        </pc:sldMkLst>
        <pc:spChg chg="mod">
          <ac:chgData name="Matrisciano, Salvatore" userId="faaac180-6cce-4db1-bdfa-60d62fdd4adb" providerId="ADAL" clId="{29623C48-0A88-510E-8DC5-E09F167645C6}" dt="2026-09-28T07:51:48.066" v="4584" actId="255"/>
          <ac:spMkLst>
            <pc:docMk/>
            <pc:sldMk cId="0" sldId="286"/>
            <ac:spMk id="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7:51:51.751" v="4585" actId="255"/>
          <ac:spMkLst>
            <pc:docMk/>
            <pc:sldMk cId="0" sldId="286"/>
            <ac:spMk id="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9:22.390" v="5367" actId="207"/>
          <ac:spMkLst>
            <pc:docMk/>
            <pc:sldMk cId="0" sldId="286"/>
            <ac:spMk id="7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9:25.982" v="5368" actId="207"/>
          <ac:spMkLst>
            <pc:docMk/>
            <pc:sldMk cId="0" sldId="286"/>
            <ac:spMk id="11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9:47.976" v="5369" actId="207"/>
          <ac:spMkLst>
            <pc:docMk/>
            <pc:sldMk cId="0" sldId="286"/>
            <ac:spMk id="15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9:50.811" v="5370" actId="207"/>
          <ac:spMkLst>
            <pc:docMk/>
            <pc:sldMk cId="0" sldId="286"/>
            <ac:spMk id="19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09:56.398" v="5371" actId="207"/>
          <ac:spMkLst>
            <pc:docMk/>
            <pc:sldMk cId="0" sldId="286"/>
            <ac:spMk id="23" creationId="{00000000-0000-0000-0000-000000000000}"/>
          </ac:spMkLst>
        </pc:spChg>
      </pc:sldChg>
      <pc:sldChg chg="delSp modSp add mod modNotesTx">
        <pc:chgData name="Matrisciano, Salvatore" userId="faaac180-6cce-4db1-bdfa-60d62fdd4adb" providerId="ADAL" clId="{29623C48-0A88-510E-8DC5-E09F167645C6}" dt="2026-09-28T12:28:12.822" v="5718" actId="20577"/>
        <pc:sldMkLst>
          <pc:docMk/>
          <pc:sldMk cId="0" sldId="287"/>
        </pc:sldMkLst>
        <pc:spChg chg="mod">
          <ac:chgData name="Matrisciano, Salvatore" userId="faaac180-6cce-4db1-bdfa-60d62fdd4adb" providerId="ADAL" clId="{29623C48-0A88-510E-8DC5-E09F167645C6}" dt="2026-09-28T08:15:23.899" v="4610" actId="255"/>
          <ac:spMkLst>
            <pc:docMk/>
            <pc:sldMk cId="0" sldId="287"/>
            <ac:spMk id="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15:27.991" v="4611" actId="255"/>
          <ac:spMkLst>
            <pc:docMk/>
            <pc:sldMk cId="0" sldId="287"/>
            <ac:spMk id="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17:44.553" v="4621" actId="1076"/>
          <ac:spMkLst>
            <pc:docMk/>
            <pc:sldMk cId="0" sldId="287"/>
            <ac:spMk id="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18:09.685" v="4639" actId="14100"/>
          <ac:spMkLst>
            <pc:docMk/>
            <pc:sldMk cId="0" sldId="287"/>
            <ac:spMk id="5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50:35.621" v="5100" actId="1035"/>
          <ac:spMkLst>
            <pc:docMk/>
            <pc:sldMk cId="0" sldId="287"/>
            <ac:spMk id="6" creationId="{00000000-0000-0000-0000-000000000000}"/>
          </ac:spMkLst>
        </pc:spChg>
        <pc:spChg chg="del mod">
          <ac:chgData name="Matrisciano, Salvatore" userId="faaac180-6cce-4db1-bdfa-60d62fdd4adb" providerId="ADAL" clId="{29623C48-0A88-510E-8DC5-E09F167645C6}" dt="2026-09-28T08:13:46.347" v="4609" actId="478"/>
          <ac:spMkLst>
            <pc:docMk/>
            <pc:sldMk cId="0" sldId="287"/>
            <ac:spMk id="7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12:20:36.737" v="5711" actId="20577"/>
          <ac:spMkLst>
            <pc:docMk/>
            <pc:sldMk cId="0" sldId="287"/>
            <ac:spMk id="8" creationId="{00000000-0000-0000-0000-000000000000}"/>
          </ac:spMkLst>
        </pc:spChg>
      </pc:sldChg>
      <pc:sldChg chg="delSp modSp add del mod">
        <pc:chgData name="Matrisciano, Salvatore" userId="faaac180-6cce-4db1-bdfa-60d62fdd4adb" providerId="ADAL" clId="{29623C48-0A88-510E-8DC5-E09F167645C6}" dt="2026-09-28T08:29:40.398" v="4813" actId="1036"/>
        <pc:sldMkLst>
          <pc:docMk/>
          <pc:sldMk cId="0" sldId="288"/>
        </pc:sldMkLst>
        <pc:spChg chg="mod">
          <ac:chgData name="Matrisciano, Salvatore" userId="faaac180-6cce-4db1-bdfa-60d62fdd4adb" providerId="ADAL" clId="{29623C48-0A88-510E-8DC5-E09F167645C6}" dt="2026-09-28T08:29:07.568" v="4807" actId="1036"/>
          <ac:spMkLst>
            <pc:docMk/>
            <pc:sldMk cId="0" sldId="288"/>
            <ac:spMk id="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29:40.398" v="4813" actId="1036"/>
          <ac:spMkLst>
            <pc:docMk/>
            <pc:sldMk cId="0" sldId="288"/>
            <ac:spMk id="3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29:13.687" v="4812" actId="1036"/>
          <ac:spMkLst>
            <pc:docMk/>
            <pc:sldMk cId="0" sldId="288"/>
            <ac:spMk id="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29:13.687" v="4812" actId="1036"/>
          <ac:spMkLst>
            <pc:docMk/>
            <pc:sldMk cId="0" sldId="288"/>
            <ac:spMk id="5" creationId="{00000000-0000-0000-0000-000000000000}"/>
          </ac:spMkLst>
        </pc:spChg>
        <pc:spChg chg="del">
          <ac:chgData name="Matrisciano, Salvatore" userId="faaac180-6cce-4db1-bdfa-60d62fdd4adb" providerId="ADAL" clId="{29623C48-0A88-510E-8DC5-E09F167645C6}" dt="2026-09-28T08:27:13.673" v="4750" actId="478"/>
          <ac:spMkLst>
            <pc:docMk/>
            <pc:sldMk cId="0" sldId="288"/>
            <ac:spMk id="6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29:13.687" v="4812" actId="1036"/>
          <ac:spMkLst>
            <pc:docMk/>
            <pc:sldMk cId="0" sldId="288"/>
            <ac:spMk id="7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29:13.687" v="4812" actId="1036"/>
          <ac:spMkLst>
            <pc:docMk/>
            <pc:sldMk cId="0" sldId="288"/>
            <ac:spMk id="8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29:13.687" v="4812" actId="1036"/>
          <ac:spMkLst>
            <pc:docMk/>
            <pc:sldMk cId="0" sldId="288"/>
            <ac:spMk id="9" creationId="{00000000-0000-0000-0000-000000000000}"/>
          </ac:spMkLst>
        </pc:spChg>
      </pc:sldChg>
      <pc:sldChg chg="modSp add del mod">
        <pc:chgData name="Matrisciano, Salvatore" userId="faaac180-6cce-4db1-bdfa-60d62fdd4adb" providerId="ADAL" clId="{29623C48-0A88-510E-8DC5-E09F167645C6}" dt="2026-09-28T08:54:24.058" v="5210" actId="14100"/>
        <pc:sldMkLst>
          <pc:docMk/>
          <pc:sldMk cId="0" sldId="289"/>
        </pc:sldMkLst>
        <pc:spChg chg="mod">
          <ac:chgData name="Matrisciano, Salvatore" userId="faaac180-6cce-4db1-bdfa-60d62fdd4adb" providerId="ADAL" clId="{29623C48-0A88-510E-8DC5-E09F167645C6}" dt="2026-09-28T08:54:16.576" v="5208" actId="1035"/>
          <ac:spMkLst>
            <pc:docMk/>
            <pc:sldMk cId="0" sldId="289"/>
            <ac:spMk id="4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54:24.058" v="5210" actId="14100"/>
          <ac:spMkLst>
            <pc:docMk/>
            <pc:sldMk cId="0" sldId="289"/>
            <ac:spMk id="5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54:13.791" v="5206" actId="1036"/>
          <ac:spMkLst>
            <pc:docMk/>
            <pc:sldMk cId="0" sldId="289"/>
            <ac:spMk id="6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54:16.576" v="5208" actId="1035"/>
          <ac:spMkLst>
            <pc:docMk/>
            <pc:sldMk cId="0" sldId="289"/>
            <ac:spMk id="7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54:16.576" v="5208" actId="1035"/>
          <ac:spMkLst>
            <pc:docMk/>
            <pc:sldMk cId="0" sldId="289"/>
            <ac:spMk id="8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8:54:16.576" v="5208" actId="1035"/>
          <ac:spMkLst>
            <pc:docMk/>
            <pc:sldMk cId="0" sldId="289"/>
            <ac:spMk id="9" creationId="{00000000-0000-0000-0000-000000000000}"/>
          </ac:spMkLst>
        </pc:spChg>
      </pc:sldChg>
      <pc:sldChg chg="add del">
        <pc:chgData name="Matrisciano, Salvatore" userId="faaac180-6cce-4db1-bdfa-60d62fdd4adb" providerId="ADAL" clId="{29623C48-0A88-510E-8DC5-E09F167645C6}" dt="2026-09-28T09:30:42.923" v="5606" actId="2696"/>
        <pc:sldMkLst>
          <pc:docMk/>
          <pc:sldMk cId="0" sldId="290"/>
        </pc:sldMkLst>
      </pc:sldChg>
      <pc:sldChg chg="modSp add del mod ord">
        <pc:chgData name="Matrisciano, Salvatore" userId="faaac180-6cce-4db1-bdfa-60d62fdd4adb" providerId="ADAL" clId="{29623C48-0A88-510E-8DC5-E09F167645C6}" dt="2026-09-28T09:29:55.446" v="5605" actId="20578"/>
        <pc:sldMkLst>
          <pc:docMk/>
          <pc:sldMk cId="0" sldId="291"/>
        </pc:sldMkLst>
        <pc:spChg chg="mod">
          <ac:chgData name="Matrisciano, Salvatore" userId="faaac180-6cce-4db1-bdfa-60d62fdd4adb" providerId="ADAL" clId="{29623C48-0A88-510E-8DC5-E09F167645C6}" dt="2026-09-28T09:27:25.252" v="5561" actId="1035"/>
          <ac:spMkLst>
            <pc:docMk/>
            <pc:sldMk cId="0" sldId="291"/>
            <ac:spMk id="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29:43.249" v="5604" actId="1076"/>
          <ac:spMkLst>
            <pc:docMk/>
            <pc:sldMk cId="0" sldId="291"/>
            <ac:spMk id="13" creationId="{C9E1C4DB-FBEF-BC3C-3B1A-89725B030B3B}"/>
          </ac:spMkLst>
        </pc:spChg>
        <pc:spChg chg="mod">
          <ac:chgData name="Matrisciano, Salvatore" userId="faaac180-6cce-4db1-bdfa-60d62fdd4adb" providerId="ADAL" clId="{29623C48-0A88-510E-8DC5-E09F167645C6}" dt="2026-09-28T09:29:35.241" v="5603" actId="1076"/>
          <ac:spMkLst>
            <pc:docMk/>
            <pc:sldMk cId="0" sldId="291"/>
            <ac:spMk id="16" creationId="{7BEBF36C-5F18-17AA-FA23-91A11E84074B}"/>
          </ac:spMkLst>
        </pc:spChg>
        <pc:spChg chg="mod">
          <ac:chgData name="Matrisciano, Salvatore" userId="faaac180-6cce-4db1-bdfa-60d62fdd4adb" providerId="ADAL" clId="{29623C48-0A88-510E-8DC5-E09F167645C6}" dt="2026-09-28T09:28:40.020" v="5596" actId="1076"/>
          <ac:spMkLst>
            <pc:docMk/>
            <pc:sldMk cId="0" sldId="291"/>
            <ac:spMk id="17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09:28:45.598" v="5600" actId="1036"/>
          <ac:spMkLst>
            <pc:docMk/>
            <pc:sldMk cId="0" sldId="291"/>
            <ac:spMk id="19" creationId="{00000000-0000-0000-0000-000000000000}"/>
          </ac:spMkLst>
        </pc:spChg>
        <pc:picChg chg="mod">
          <ac:chgData name="Matrisciano, Salvatore" userId="faaac180-6cce-4db1-bdfa-60d62fdd4adb" providerId="ADAL" clId="{29623C48-0A88-510E-8DC5-E09F167645C6}" dt="2026-09-28T09:27:35.929" v="5582" actId="1035"/>
          <ac:picMkLst>
            <pc:docMk/>
            <pc:sldMk cId="0" sldId="291"/>
            <ac:picMk id="3" creationId="{00000000-0000-0000-0000-000000000000}"/>
          </ac:picMkLst>
        </pc:picChg>
        <pc:picChg chg="mod">
          <ac:chgData name="Matrisciano, Salvatore" userId="faaac180-6cce-4db1-bdfa-60d62fdd4adb" providerId="ADAL" clId="{29623C48-0A88-510E-8DC5-E09F167645C6}" dt="2026-09-28T09:27:44.823" v="5583" actId="1076"/>
          <ac:picMkLst>
            <pc:docMk/>
            <pc:sldMk cId="0" sldId="291"/>
            <ac:picMk id="10" creationId="{283E7036-6760-391B-87BE-9F7E71E6059B}"/>
          </ac:picMkLst>
        </pc:picChg>
        <pc:picChg chg="mod">
          <ac:chgData name="Matrisciano, Salvatore" userId="faaac180-6cce-4db1-bdfa-60d62fdd4adb" providerId="ADAL" clId="{29623C48-0A88-510E-8DC5-E09F167645C6}" dt="2026-09-28T09:27:35.929" v="5582" actId="1035"/>
          <ac:picMkLst>
            <pc:docMk/>
            <pc:sldMk cId="0" sldId="291"/>
            <ac:picMk id="11" creationId="{791DD59E-DF22-FBAC-C586-9E08192F43A7}"/>
          </ac:picMkLst>
        </pc:picChg>
        <pc:picChg chg="mod">
          <ac:chgData name="Matrisciano, Salvatore" userId="faaac180-6cce-4db1-bdfa-60d62fdd4adb" providerId="ADAL" clId="{29623C48-0A88-510E-8DC5-E09F167645C6}" dt="2026-09-28T09:27:44.823" v="5583" actId="1076"/>
          <ac:picMkLst>
            <pc:docMk/>
            <pc:sldMk cId="0" sldId="291"/>
            <ac:picMk id="14" creationId="{13F53A0F-D62F-523E-6D16-830DF466193A}"/>
          </ac:picMkLst>
        </pc:picChg>
        <pc:picChg chg="mod">
          <ac:chgData name="Matrisciano, Salvatore" userId="faaac180-6cce-4db1-bdfa-60d62fdd4adb" providerId="ADAL" clId="{29623C48-0A88-510E-8DC5-E09F167645C6}" dt="2026-09-28T09:28:35.929" v="5595" actId="1076"/>
          <ac:picMkLst>
            <pc:docMk/>
            <pc:sldMk cId="0" sldId="291"/>
            <ac:picMk id="18" creationId="{00000000-0000-0000-0000-000000000000}"/>
          </ac:picMkLst>
        </pc:picChg>
      </pc:sldChg>
      <pc:sldChg chg="modSp add mod ord modNotes">
        <pc:chgData name="Matrisciano, Salvatore" userId="faaac180-6cce-4db1-bdfa-60d62fdd4adb" providerId="ADAL" clId="{29623C48-0A88-510E-8DC5-E09F167645C6}" dt="2026-09-28T12:31:41.664" v="5722" actId="20577"/>
        <pc:sldMkLst>
          <pc:docMk/>
          <pc:sldMk cId="0" sldId="292"/>
        </pc:sldMkLst>
        <pc:spChg chg="mod">
          <ac:chgData name="Matrisciano, Salvatore" userId="faaac180-6cce-4db1-bdfa-60d62fdd4adb" providerId="ADAL" clId="{29623C48-0A88-510E-8DC5-E09F167645C6}" dt="2026-09-28T11:37:09.594" v="5706" actId="255"/>
          <ac:spMkLst>
            <pc:docMk/>
            <pc:sldMk cId="0" sldId="292"/>
            <ac:spMk id="2" creationId="{00000000-0000-0000-0000-000000000000}"/>
          </ac:spMkLst>
        </pc:spChg>
        <pc:spChg chg="mod">
          <ac:chgData name="Matrisciano, Salvatore" userId="faaac180-6cce-4db1-bdfa-60d62fdd4adb" providerId="ADAL" clId="{29623C48-0A88-510E-8DC5-E09F167645C6}" dt="2026-09-28T11:37:16.788" v="5709" actId="1036"/>
          <ac:spMkLst>
            <pc:docMk/>
            <pc:sldMk cId="0" sldId="29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326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noProof="0" dirty="0"/>
              <a:t>SALVATORE:</a:t>
            </a:r>
          </a:p>
          <a:p>
            <a:r>
              <a:rPr lang="it-IT" noProof="0" dirty="0"/>
              <a:t>Ciao, ciao a tutti! Io sono Salvatore Matrisciano, mobile developer in Deloitte Digital…</a:t>
            </a:r>
          </a:p>
          <a:p>
            <a:endParaRPr lang="it-IT" noProof="0" dirty="0"/>
          </a:p>
          <a:p>
            <a:r>
              <a:rPr lang="it-IT" b="1" noProof="0" dirty="0"/>
              <a:t>STEFANO:</a:t>
            </a:r>
          </a:p>
          <a:p>
            <a:r>
              <a:rPr lang="it-IT" noProof="0" dirty="0"/>
              <a:t>…e io sono Stefano Soriano, anche io mobile developer in Deloitte Digital. Ciao a tutti!</a:t>
            </a:r>
          </a:p>
          <a:p>
            <a:endParaRPr lang="it-IT" noProof="0" dirty="0"/>
          </a:p>
          <a:p>
            <a:endParaRPr lang="it-IT" noProof="0" dirty="0"/>
          </a:p>
          <a:p>
            <a:endParaRPr lang="it-IT" noProof="0" dirty="0"/>
          </a:p>
          <a:p>
            <a:r>
              <a:rPr lang="it-IT" b="1" noProof="0" dirty="0"/>
              <a:t>SALVATORE:</a:t>
            </a:r>
          </a:p>
          <a:p>
            <a:r>
              <a:rPr lang="it-IT" noProof="0" dirty="0"/>
              <a:t>Allora, oggi vi raccontiamo una storia. Una storia vera.</a:t>
            </a:r>
          </a:p>
          <a:p>
            <a:r>
              <a:rPr lang="it-IT" noProof="0" dirty="0"/>
              <a:t>La storia di un’app che guarda dentro il vostro frigo e vi consiglia cosa cucinare stasera.</a:t>
            </a:r>
          </a:p>
          <a:p>
            <a:r>
              <a:rPr lang="it-IT" noProof="0" dirty="0"/>
              <a:t>L’abbiamo costruita con tre modelli di intelligenza artificiale diversi: Gemini Nano, Gemma e MobileCLIP.</a:t>
            </a:r>
          </a:p>
          <a:p>
            <a:r>
              <a:rPr lang="it-IT" noProof="0" dirty="0"/>
              <a:t>E tutti e 3 girano direttamente sul telefono, in locale.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Non vi faremo vedere solo la versione finale, quella che funziona.</a:t>
            </a:r>
          </a:p>
          <a:p>
            <a:r>
              <a:rPr lang="it-IT" noProof="0" dirty="0"/>
              <a:t>Ma vi faremo vedere anche le strade sbagliate che abbiamo preso, perché è da lì che abbiamo imparato di più.</a:t>
            </a:r>
          </a:p>
          <a:p>
            <a:endParaRPr lang="it-IT" noProof="0" dirty="0"/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Partiamo da una domanda.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Cosa succede quando decidi di far girare tutta l’AI della tua app direttamente sul telefono?</a:t>
            </a:r>
          </a:p>
          <a:p>
            <a:endParaRPr lang="it-IT" noProof="0" dirty="0"/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Oggi, quando aggiungiamo una feature AI a un’app, ci viene quasi in automatico: </a:t>
            </a:r>
          </a:p>
          <a:p>
            <a:r>
              <a:rPr lang="it-IT" noProof="0" dirty="0"/>
              <a:t>prendo una API key, chiamo un modello nel cloud, mando la richiesta, aspetto la risposta.</a:t>
            </a:r>
          </a:p>
          <a:p>
            <a:r>
              <a:rPr lang="it-IT" noProof="0" dirty="0"/>
              <a:t>Funziona, è comodo, lo facciamo tutti.</a:t>
            </a:r>
          </a:p>
          <a:p>
            <a:endParaRPr lang="it-IT" noProof="0" dirty="0"/>
          </a:p>
          <a:p>
            <a:br>
              <a:rPr lang="it-IT" noProof="0" dirty="0"/>
            </a:br>
            <a:r>
              <a:rPr lang="it-IT" noProof="0" dirty="0"/>
              <a:t>Punto principale: chiamare un’API AI in un’app prima di tutto ha un costo.</a:t>
            </a:r>
          </a:p>
          <a:p>
            <a:r>
              <a:rPr lang="it-IT" noProof="0" dirty="0"/>
              <a:t>Poi, nel nostro caso la richiesta è una foto dell’interno della cucina di qualcuno.</a:t>
            </a:r>
          </a:p>
          <a:p>
            <a:r>
              <a:rPr lang="it-IT" noProof="0" dirty="0"/>
              <a:t>Del suo frigo. Di cosa mangia, di come vive.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Ci siamo quindi chiesti: e se non la mandassimo da nessuna parte?</a:t>
            </a:r>
          </a:p>
          <a:p>
            <a:r>
              <a:rPr lang="it-IT" noProof="0" dirty="0"/>
              <a:t>Niente cloud. Niente API key da proteggere. Nessuna foto su nessun server.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Ogni richiesta che mandi a un server è una cosa in più da proteggere, da giustificare, da spiegare all’utente nella privacy policy, e anche, soprattutto, da pagare.</a:t>
            </a:r>
          </a:p>
          <a:p>
            <a:endParaRPr lang="it-IT" noProof="0" dirty="0"/>
          </a:p>
          <a:p>
            <a:br>
              <a:rPr lang="it-IT" noProof="0" dirty="0"/>
            </a:br>
            <a:r>
              <a:rPr lang="it-IT" noProof="0" dirty="0"/>
              <a:t>Prima di andare avanti, vi facciamo vedere l’app.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L’app si chiama AI Pantry: Dispensa AI, e l’idea è molto semplice: fai una foto al frigo e ottieni un’idea di ricetta per cena.</a:t>
            </a:r>
          </a:p>
          <a:p>
            <a:endParaRPr lang="it-IT" noProof="0" dirty="0"/>
          </a:p>
          <a:p>
            <a:r>
              <a:rPr lang="it-IT" noProof="0" dirty="0"/>
              <a:t>Funziona così. Prima fai una o più foto al tuo frigo, e l’app riconosce gli ingredienti che vede.</a:t>
            </a:r>
          </a:p>
          <a:p>
            <a:endParaRPr lang="it-IT" noProof="0" dirty="0"/>
          </a:p>
          <a:p>
            <a:r>
              <a:rPr lang="it-IT" noProof="0" dirty="0"/>
              <a:t>Poi con quelle foto costruisce l’inventario della tua dispensa. Quindi l’app si ricorda cos'hai.</a:t>
            </a:r>
          </a:p>
          <a:p>
            <a:endParaRPr lang="it-IT" noProof="0" dirty="0"/>
          </a:p>
          <a:p>
            <a:r>
              <a:rPr lang="it-IT" noProof="0" dirty="0"/>
              <a:t>E poi, da quello che hai davvero in dispensa, genera idee di ricette.</a:t>
            </a:r>
          </a:p>
          <a:p>
            <a:r>
              <a:rPr lang="it-IT" noProof="0" dirty="0"/>
              <a:t>Infine, se una ti piace, genera la ricetta completa, con tutti gli step per cucinarla.</a:t>
            </a:r>
          </a:p>
          <a:p>
            <a:endParaRPr lang="it-IT" noProof="0" dirty="0"/>
          </a:p>
          <a:p>
            <a:r>
              <a:rPr lang="it-IT" noProof="0" dirty="0"/>
              <a:t>E il punto centrale è che è tutto al 100% on-device.</a:t>
            </a:r>
          </a:p>
          <a:p>
            <a:r>
              <a:rPr lang="it-IT" noProof="0" dirty="0"/>
              <a:t>Quindi le foto e i prompt non lasciano mai il telefono.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Andiamo a vederla:</a:t>
            </a:r>
          </a:p>
          <a:p>
            <a:endParaRPr lang="it-IT" noProof="0" dirty="0"/>
          </a:p>
          <a:p>
            <a:r>
              <a:rPr lang="it-IT" noProof="0" dirty="0"/>
              <a:t>────────────────────────</a:t>
            </a:r>
          </a:p>
          <a:p>
            <a:r>
              <a:rPr lang="it-IT" noProof="0" dirty="0"/>
              <a:t>🎬 DEMO LIVE:</a:t>
            </a:r>
          </a:p>
          <a:p>
            <a:r>
              <a:rPr lang="it-IT" noProof="0" dirty="0"/>
              <a:t>[Prima del talk: telefono in mirroring, modalità aereo ATTIVA, dispensa vuota (“La tua dispensa è vuota”, eventualmente “Svuota tutto”), Gemma già pronto (niente banner “Preparazione di Gemma 4 E2B…”). Tenere in galleria una foto di frigo e una di dispensa già testate, da scegliere con il pulsante della galleria in basso a sinistra. Video di backup pronto: demo.mp4.]</a:t>
            </a:r>
          </a:p>
          <a:p>
            <a:r>
              <a:rPr lang="it-IT" noProof="0" dirty="0"/>
              <a:t>[Tempi, dal video: ogni foto si analizza in 20-25 secondi, le 4 ricette arrivano in meno di un minuto, la ricetta completa in poco più di 2 minuti.]</a:t>
            </a:r>
          </a:p>
          <a:p>
            <a:endParaRPr lang="it-IT" noProof="0" dirty="0"/>
          </a:p>
          <a:p>
            <a:r>
              <a:rPr lang="it-IT" noProof="0" dirty="0"/>
              <a:t>[mostra la barra di stato]</a:t>
            </a:r>
          </a:p>
          <a:p>
            <a:r>
              <a:rPr lang="it-IT" noProof="0" dirty="0"/>
              <a:t>Prima cosa: guardate qui in alto. Il telefono è in modalità aereo. Internet non serve.</a:t>
            </a:r>
          </a:p>
          <a:p>
            <a:r>
              <a:rPr lang="it-IT" noProof="0" dirty="0"/>
              <a:t>[tocca “Scansiona il frigo”, “Frigo” già selezionato, scatta la foto o la sceglie dalla galleria]</a:t>
            </a:r>
          </a:p>
          <a:p>
            <a:r>
              <a:rPr lang="it-IT" noProof="0" dirty="0"/>
              <a:t>Scelgo “Frigo”, inquadro il frigo e scatto.</a:t>
            </a:r>
          </a:p>
          <a:p>
            <a:endParaRPr lang="it-IT" noProof="0" dirty="0"/>
          </a:p>
          <a:p>
            <a:r>
              <a:rPr lang="it-IT" noProof="0" dirty="0"/>
              <a:t>[sullo schermo “Riconosco gli ingredienti”: sulla foto si accendono le zone che sta analizzando (“Zone analizzate”) e gli ingredienti compaiono man mano]</a:t>
            </a:r>
          </a:p>
          <a:p>
            <a:r>
              <a:rPr lang="it-IT" noProof="0" dirty="0"/>
              <a:t>Quello che sta succedendo adesso è la parte di percezione: l’app sta capendo quali ingredienti ci sono nella foto, zona per zona, e li vedete comparire appena li trova. Nel corso del talk vi spieghiamo perché questa parte, all’inizio, ci metteva minuti, e come l’abbiamo portata a pochi secondi.</a:t>
            </a:r>
          </a:p>
          <a:p>
            <a:endParaRPr lang="it-IT" noProof="0" dirty="0"/>
          </a:p>
          <a:p>
            <a:r>
              <a:rPr lang="it-IT" noProof="0" dirty="0"/>
              <a:t>[si apre il foglio “N ingredienti trovati”]</a:t>
            </a:r>
          </a:p>
          <a:p>
            <a:r>
              <a:rPr lang="it-IT" noProof="0" dirty="0"/>
              <a:t>Eccoli. [leggere ad alta voce 3-4 ingredienti che compaiono davvero]. Ognuno ha la sua confidenza, e quelli sotto una certa soglia vengono già scartati. Se qualcosa è sbagliato, lo tolgo con la X. [rimuove un elemento se serve]</a:t>
            </a:r>
          </a:p>
          <a:p>
            <a:endParaRPr lang="it-IT" noProof="0" dirty="0"/>
          </a:p>
          <a:p>
            <a:r>
              <a:rPr lang="it-IT" noProof="0" dirty="0"/>
              <a:t>[indica la riga in alto “MobileCLIP-S2 zero-shot · LiteRT · on device”]</a:t>
            </a:r>
          </a:p>
          <a:p>
            <a:r>
              <a:rPr lang="it-IT" noProof="0" dirty="0"/>
              <a:t>E guardate questa riga: l’app vi dice quale motore ha fatto il lavoro. Su questo telefono è [leggere: MobileCLIP-S2 oppure Gemini Nano]. Tenetelo a mente, perché è il cuore del talk.</a:t>
            </a:r>
          </a:p>
          <a:p>
            <a:endParaRPr lang="it-IT" noProof="0" dirty="0"/>
          </a:p>
          <a:p>
            <a:r>
              <a:rPr lang="it-IT" noProof="0" dirty="0"/>
              <a:t>[tocca “Altra scansione”, seleziona “Dispensa”, scatta o sceglie la foto della dispensa]</a:t>
            </a:r>
          </a:p>
          <a:p>
            <a:r>
              <a:rPr lang="it-IT" noProof="0" dirty="0"/>
              <a:t>Faccio lo stesso con la dispensa. Le due scansioni si sommano. [il foglio ora conta gli ingredienti di tutte e due]</a:t>
            </a:r>
          </a:p>
          <a:p>
            <a:endParaRPr lang="it-IT" noProof="0" dirty="0"/>
          </a:p>
          <a:p>
            <a:r>
              <a:rPr lang="it-IT" noProof="0" dirty="0"/>
              <a:t>[tocca “Aggiungi a frigo e dispensa (N)”, torna a “La tua cucina” con frigo e dispensa]</a:t>
            </a:r>
          </a:p>
          <a:p>
            <a:r>
              <a:rPr lang="it-IT" noProof="0" dirty="0"/>
              <a:t>Aggiungo tutto. E questo è l’inventario, salvato in locale sul telefono.</a:t>
            </a:r>
          </a:p>
          <a:p>
            <a:endParaRPr lang="it-IT" noProof="0" dirty="0"/>
          </a:p>
          <a:p>
            <a:r>
              <a:rPr lang="it-IT" noProof="0" dirty="0"/>
              <a:t>[tocca “Cosa posso cucinare? (N)”]</a:t>
            </a:r>
          </a:p>
          <a:p>
            <a:r>
              <a:rPr lang="it-IT" noProof="0" dirty="0"/>
              <a:t>Adesso la parte divertente. Chiedo all’app: cosa ci cucino con questa roba?</a:t>
            </a:r>
          </a:p>
          <a:p>
            <a:endParaRPr lang="it-IT" noProof="0" dirty="0"/>
          </a:p>
          <a:p>
            <a:r>
              <a:rPr lang="it-IT" noProof="0" dirty="0"/>
              <a:t>[schermata “Genero le ricette”, poi le ricette arrivano una alla volta (“Ricetta 2 di 4”…)]</a:t>
            </a:r>
          </a:p>
          <a:p>
            <a:r>
              <a:rPr lang="it-IT" noProof="0" dirty="0"/>
              <a:t>Qui entra in gioco un modello diverso, un LLM vero e proprio, Gemma, perché inventare una ricetta è un compito completamente diverso dal riconoscere un’anguria. Anche questo lo vedremo nel dettaglio.</a:t>
            </a:r>
          </a:p>
          <a:p>
            <a:endParaRPr lang="it-IT" noProof="0" dirty="0"/>
          </a:p>
          <a:p>
            <a:r>
              <a:rPr lang="it-IT" noProof="0" dirty="0"/>
              <a:t>[appare la lista “Ecco cosa puoi cucinare”]</a:t>
            </a:r>
          </a:p>
          <a:p>
            <a:r>
              <a:rPr lang="it-IT" noProof="0" dirty="0"/>
              <a:t>Ecco quattro idee per la cena, con tempo e difficoltà. Sono ordinate in base a quanto usano quello che ho davvero: quelle che richiedono di comprare qualcosa finiscono in fondo, e l’app mi dice cosa mi manca. [se una ricetta mostra “Mancano: …”, indicarlo] E se non mi convincono, “Altre ricette” me ne propone altre quattro.</a:t>
            </a:r>
          </a:p>
          <a:p>
            <a:endParaRPr lang="it-IT" noProof="0" dirty="0"/>
          </a:p>
          <a:p>
            <a:r>
              <a:rPr lang="it-IT" noProof="0" dirty="0"/>
              <a:t>[apre una ricetta: in basso “Genero la ricetta…”]</a:t>
            </a:r>
          </a:p>
          <a:p>
            <a:r>
              <a:rPr lang="it-IT" noProof="0" dirty="0"/>
              <a:t>Apro questa. Quantità e passaggi non esistevano finché non l’ho aperta: li sta scrivendo adesso, qui sul telefono. [compaiono le quantità, poi i passaggi del “Procedimento” uno alla volta, poi le “Varianti”. Non aspettare la fine: la ricetta completa ci mette poco più di 2 minuti]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vi ricordo: modalità aereo. Nessuna chiamata di rete. Nessun costo per chiamata. Nessuna foto di questo frigo è finita su un server.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Questa è AI Pantry. Ora vi raccontiamo come ci siamo arrivati, e perché ci abbiamo messo più tentativi del previsto. [torna alle slide]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[PIANO B: se la demo si blocca → “La demo on-device ha deciso di essere molto on-device” → far partire il video di backup (demo.mp4) e commentarlo con lo stesso script. Nel video il telefono non è in modalità aereo: saltare le frasi sulla modalità aereo. La ricetta completa occupa gli ultimi 2 minuti del video: si può mandare avanti.]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Ok, quindi torniamo un passo indietro.</a:t>
            </a:r>
          </a:p>
          <a:p>
            <a:r>
              <a:rPr lang="it-IT" noProof="0" dirty="0"/>
              <a:t>Perché on-device? Perché complicarsi la vita, quando un’API cloud avrebbe fatto il lavoro molto più velocemente?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La prima risposta, è la privacy. Prima di tutto.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Nessun server che vede le foto.</a:t>
            </a:r>
          </a:p>
          <a:p>
            <a:r>
              <a:rPr lang="it-IT" noProof="0" dirty="0"/>
              <a:t>Le foto della cucina non lasciano mai il telefono.</a:t>
            </a:r>
          </a:p>
          <a:p>
            <a:r>
              <a:rPr lang="it-IT" noProof="0" dirty="0"/>
              <a:t>E una foto del frigo racconta molto più di quanto si possa pensare: abitudini alimentari, allergie, magari condizioni di salute, e a volte anche un pezzo di casa sullo sfondo.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Nessun Data Processing Agreement.</a:t>
            </a:r>
          </a:p>
          <a:p>
            <a:r>
              <a:rPr lang="it-IT" noProof="0" dirty="0"/>
              <a:t>Nello sviluppare un’app, appena mandi dati utente a un fornitore terzo, parte il giro di legal, DPA, valutazioni…</a:t>
            </a:r>
          </a:p>
          <a:p>
            <a:r>
              <a:rPr lang="it-IT" noProof="0" dirty="0"/>
              <a:t>Se nessun dato utente esce, non c’è nessun agreement da firmare.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Nessun problema di data retention.</a:t>
            </a:r>
          </a:p>
          <a:p>
            <a:r>
              <a:rPr lang="it-IT" noProof="0" dirty="0"/>
              <a:t>Per quanto tempo tengo le foto? Dove? Chi le può cancellare?</a:t>
            </a:r>
          </a:p>
          <a:p>
            <a:r>
              <a:rPr lang="it-IT" noProof="0" dirty="0"/>
              <a:t>Se non le memorizzi mai, la domanda non si pone proprio.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infine, nessun log sul server.</a:t>
            </a:r>
          </a:p>
          <a:p>
            <a:r>
              <a:rPr lang="it-IT" noProof="0" dirty="0"/>
              <a:t>Nessuna richiesta cloud significa che non c’è niente da far trapelare, e niente da violare.</a:t>
            </a:r>
          </a:p>
          <a:p>
            <a:r>
              <a:rPr lang="it-IT" noProof="0" dirty="0"/>
              <a:t>Il dato più sicuro è quello che non hai mai raccolto.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Ma la privacy non è l’unico motivo.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Poi ci sono resilienza e costi.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Resilienza vuol dire, prima di tutto, che funziona anche senza internet.</a:t>
            </a:r>
          </a:p>
          <a:p>
            <a:r>
              <a:rPr lang="it-IT" noProof="0" dirty="0"/>
              <a:t>Senza rete, in modalità aereo, come </a:t>
            </a:r>
            <a:r>
              <a:rPr lang="it-IT" noProof="0"/>
              <a:t>abbiamo visto, </a:t>
            </a:r>
            <a:r>
              <a:rPr lang="it-IT" noProof="0" dirty="0"/>
              <a:t>o con il segnale debole.</a:t>
            </a:r>
          </a:p>
          <a:p>
            <a:r>
              <a:rPr lang="it-IT" noProof="0" dirty="0"/>
              <a:t>E un frigo si trova in cucina, magari in una casa vecchia, magari in una taverna o in un seminterrato, o comunque può trovarsi in posti dove internet non prende.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Poi, nessun round-trip verso il server. Niente latenza di rete, niente cold start.</a:t>
            </a:r>
          </a:p>
          <a:p>
            <a:r>
              <a:rPr lang="it-IT" noProof="0" dirty="0"/>
              <a:t>Il “backend”, tra virgolette, è già caldo, ce l’hai in mano.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Poi c’è il tema dei costi, che per un prodotto vero è enorme: il costo del cloud cresce con l’uso. </a:t>
            </a:r>
          </a:p>
          <a:p>
            <a:r>
              <a:rPr lang="it-IT" noProof="0" dirty="0"/>
              <a:t>Ogni chiamata multimodale si paga per immagine e per token.</a:t>
            </a:r>
          </a:p>
          <a:p>
            <a:r>
              <a:rPr lang="it-IT" noProof="0" dirty="0"/>
              <a:t>E va moltiplicato per ogni scansione, per ogni utente attivo, ogni giorno.</a:t>
            </a:r>
          </a:p>
          <a:p>
            <a:r>
              <a:rPr lang="it-IT" noProof="0" dirty="0"/>
              <a:t>Più l’app ha successo, più costa.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On-device ribalta completamente questo modello.</a:t>
            </a:r>
          </a:p>
          <a:p>
            <a:r>
              <a:rPr lang="it-IT" noProof="0" dirty="0"/>
              <a:t>L’inferenza gira sull’hardware dell’utente, e la bolletta cloud resta a zero.</a:t>
            </a:r>
          </a:p>
          <a:p>
            <a:r>
              <a:rPr lang="it-IT" noProof="0" dirty="0"/>
              <a:t>Anche con un milione di utenti.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Quindi: privacy, resilienza e costi. </a:t>
            </a:r>
          </a:p>
          <a:p>
            <a:r>
              <a:rPr lang="it-IT" noProof="0" dirty="0"/>
              <a:t>Ora, quale modello usiamo?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Oggi, la scelta ovvia, se sviluppi su Android, è Gemini Nano.</a:t>
            </a:r>
          </a:p>
          <a:p>
            <a:r>
              <a:rPr lang="it-IT" dirty="0"/>
              <a:t>È il modello on-device che Google ha integrato in Android: non sta nella tua app, vive nel sistema operativo.</a:t>
            </a:r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Ed è multimodale: quindi gli puoi dare una foto e del testo, </a:t>
            </a:r>
            <a:r>
              <a:rPr lang="it-IT"/>
              <a:t>e risponde </a:t>
            </a:r>
            <a:r>
              <a:rPr lang="it-IT" dirty="0"/>
              <a:t>con del testo.</a:t>
            </a:r>
          </a:p>
          <a:p>
            <a:r>
              <a:rPr lang="it-IT" dirty="0"/>
              <a:t>Esattamente quello che serve per scansionare un frigo: “ecco la foto, dimmi cosa c’è dentro”.</a:t>
            </a:r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Poi la parte più bella è che è una dipendenza Gradle.</a:t>
            </a:r>
          </a:p>
          <a:p>
            <a:r>
              <a:rPr lang="it-IT" dirty="0"/>
              <a:t>Quindi zero megabyte nell’app.</a:t>
            </a:r>
          </a:p>
          <a:p>
            <a:r>
              <a:rPr lang="it-IT" dirty="0"/>
              <a:t>Non c’è nessun modello da includere, da scaricare o da aggiornare: se ne occupa interamente la piattaforma.</a:t>
            </a:r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In più, accelerazione hardware inclusa: quindi sfrutta gli acceleratori hardware del telefono, senza dover scrivere una riga di codice specifico per il chip.</a:t>
            </a:r>
          </a:p>
          <a:p>
            <a:r>
              <a:rPr lang="it-IT" dirty="0"/>
              <a:t>E gli aggiornamenti sono gestiti direttamente da Google: quando esce una versione migliore del modello, arriva agli utenti senza un nuovo rilascio dell’app.</a:t>
            </a:r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Per uno sviluppatore Android, è quasi troppo bello per essere vero.</a:t>
            </a:r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Sulla carta era perfetto</a:t>
            </a:r>
            <a:r>
              <a:rPr lang="it-IT" i="1" dirty="0">
                <a:solidFill>
                  <a:schemeClr val="bg1">
                    <a:lumMod val="85000"/>
                  </a:schemeClr>
                </a:solidFill>
              </a:rPr>
              <a:t>.  [pausa]</a:t>
            </a:r>
          </a:p>
          <a:p>
            <a:endParaRPr lang="it-IT" dirty="0"/>
          </a:p>
          <a:p>
            <a:r>
              <a:rPr lang="it-IT" dirty="0"/>
              <a:t>Tranne che…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…gira solo sui flagship più recenti.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Pixel 10, Pixel 11, Galaxy S26.</a:t>
            </a:r>
          </a:p>
          <a:p>
            <a:r>
              <a:rPr lang="it-IT" noProof="0" dirty="0"/>
              <a:t>Telefoni bellissimi.</a:t>
            </a:r>
          </a:p>
          <a:p>
            <a:r>
              <a:rPr lang="it-IT" noProof="0" dirty="0"/>
              <a:t>Ma non sono i telefoni che la maggior parte delle persone ha davvero in tasca.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questo per chi rilascia un’app è un problema serio.</a:t>
            </a:r>
          </a:p>
          <a:p>
            <a:r>
              <a:rPr lang="it-IT" noProof="0" dirty="0"/>
              <a:t>Se costruisci la feature principale della tua app su un modello che c’è solo su una piccola fetta di dispositivi, per tutti gli altri semplicemente l’app non funziona.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non c’è niente che si possa fare lato codice: non è una questione di permessi o di versione di Android, dipende dall’hardware e da cosa Google ha deciso di supportare.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Quindi abbiamo capito subito: Gemini Nano poteva essere un bonus, ma non poteva essere la base della nostra app.</a:t>
            </a:r>
          </a:p>
          <a:p>
            <a:r>
              <a:rPr lang="it-IT" noProof="0" dirty="0"/>
              <a:t>Ci serviva un piano B che girasse su tutti i telefoni, o quasi.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Il piano B era semplice, almeno nella nostra testa: un solo LLM multimodale che fa tutto.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Abbiamo scelto Gemma. La versione 4 E2B. Quindi Gemma, quarta generazione, 2 miliardi di parametri effettivi.</a:t>
            </a:r>
          </a:p>
          <a:p>
            <a:r>
              <a:rPr lang="it-IT" noProof="0" dirty="0"/>
              <a:t>Pesi aperti, multimodale, ovvero visione più testo, e gira su qualsiasi telefono, perché il modello lo porti tu.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L’idea sembrava elegante: un modello, due compiti.</a:t>
            </a:r>
          </a:p>
          <a:p>
            <a:r>
              <a:rPr lang="it-IT" noProof="0" dirty="0"/>
              <a:t>Prima gli chiedi “cosa c’è in questa foto?”, e poi gli chiedi “Che cosa ci cucino?”.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Quindi l’abbiamo integrato, e ha funzionato.</a:t>
            </a:r>
          </a:p>
          <a:p>
            <a:r>
              <a:rPr lang="it-IT" noProof="0" dirty="0"/>
              <a:t>Ingredienti corretti, JSON valido, ricette vere.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Il modello riconosceva le uova, distingueva lo yogurt dal latte, rispettava il formato che gli chiedevamo.</a:t>
            </a:r>
          </a:p>
          <a:p>
            <a:r>
              <a:rPr lang="it-IT" noProof="0" dirty="0"/>
              <a:t>Dal punto di vista della qualità, sembrava perfetto.</a:t>
            </a:r>
          </a:p>
          <a:p>
            <a:endParaRPr lang="it-IT" noProof="0" dirty="0"/>
          </a:p>
          <a:p>
            <a:endParaRPr lang="it-IT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i="1" noProof="0" dirty="0"/>
              <a:t>[pausa]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Però ci metteva 5-10 minuti per una singola scansione.</a:t>
            </a:r>
          </a:p>
          <a:p>
            <a:r>
              <a:rPr lang="it-IT" noProof="0" dirty="0"/>
              <a:t>Su un Pixel 7, un telefono di fascia media.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nessuno ovviamente inquadra il frigo e aspetta dieci minuti per avere un’idea per la cena.</a:t>
            </a:r>
          </a:p>
          <a:p>
            <a:r>
              <a:rPr lang="it-IT" noProof="0" dirty="0"/>
              <a:t>In dieci minuti ordini una pizza e ti arriva a casa. </a:t>
            </a:r>
            <a:r>
              <a:rPr lang="it-IT" i="1" noProof="0" dirty="0"/>
              <a:t>[pausa]</a:t>
            </a:r>
          </a:p>
          <a:p>
            <a:endParaRPr lang="it-IT" i="1" noProof="0" dirty="0"/>
          </a:p>
          <a:p>
            <a:endParaRPr lang="it-IT" noProof="0" dirty="0"/>
          </a:p>
          <a:p>
            <a:r>
              <a:rPr lang="it-IT" noProof="0" dirty="0"/>
              <a:t>Quindi avevamo due strade (Gemini Nano e Gemma) e nessuna delle due andava bene: una veloce ma solo per pochi, e una per tutti ma inutilizzabile.</a:t>
            </a:r>
          </a:p>
          <a:p>
            <a:r>
              <a:rPr lang="it-IT" noProof="0" dirty="0"/>
              <a:t>Come ne siamo usciti? Ve lo raccontiamo in cinque capitoli.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Capitolo 1: Gemini Nano, tramite Machine Learning Kit GenAI.</a:t>
            </a:r>
          </a:p>
          <a:p>
            <a:r>
              <a:rPr lang="it-IT" noProof="0" dirty="0"/>
              <a:t>Come usarlo come un upgrade gratuito, ma mai come la base della nostra app.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Capitolo 2: un modello per domarli tutti (Gemma), e perché andava così lento.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Capitolo 3: rilevamento zero-shot con MobileCLIP-S2.</a:t>
            </a:r>
          </a:p>
          <a:p>
            <a:r>
              <a:rPr lang="it-IT" noProof="0" dirty="0"/>
              <a:t>Il capitolo in cui siamo passati da minuti a secondi.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Capitolo 4: dove l’LLM si guadagna davvero il suo posto, cioè la generazione delle ricette.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infine, capitolo 5: la distribuzione.</a:t>
            </a:r>
          </a:p>
          <a:p>
            <a:r>
              <a:rPr lang="it-IT" noProof="0" dirty="0"/>
              <a:t>Perché ogni modello arriva sul telefono in un modo diverso, e questo conta molto più di quanto si possa pensare.</a:t>
            </a:r>
          </a:p>
          <a:p>
            <a:endParaRPr lang="it-IT" noProof="0" dirty="0"/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Vi spoilero già il finale, così non c’è suspense: alla fine abbiamo usato tutti e 3 i modelli.</a:t>
            </a:r>
          </a:p>
          <a:p>
            <a:r>
              <a:rPr lang="it-IT" noProof="0" dirty="0"/>
              <a:t>Ma ognuno per un compito diverso, e il punto principale è capire perché.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Capitolo uno. Il protagonista: Gemini Nano.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Gemini Nano è il membro più piccolo della famiglia Gemini di Google.</a:t>
            </a:r>
          </a:p>
          <a:p>
            <a:r>
              <a:rPr lang="it-IT" noProof="0" dirty="0"/>
              <a:t>È un modello distillato per girare su un telefono: stesso DNA dei fratelli che girano nel cloud, ma ridotto finché non entra nel budget di memoria e nel budget termico di uno smartphone.</a:t>
            </a:r>
          </a:p>
          <a:p>
            <a:r>
              <a:rPr lang="it-IT" noProof="0" dirty="0"/>
              <a:t>Perché su un telefono non conta solo quanto è veloce, ma anche quanto scalda.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È multimodale: foto più testo in ingresso, testo in uscita.</a:t>
            </a:r>
          </a:p>
          <a:p>
            <a:r>
              <a:rPr lang="it-IT" noProof="0" dirty="0"/>
              <a:t>Ed era proprio il problema che volevamo risolvere con la nostra app: “Guarda questo frigo, dimmi cosa c’è dentro”.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Poi c’è un dettaglio architetturale importante: c’è un solo modello, condiviso, per dispositivo. Non uno per app. </a:t>
            </a:r>
          </a:p>
          <a:p>
            <a:r>
              <a:rPr lang="it-IT" noProof="0" dirty="0"/>
              <a:t>Viene aggiornato tramite Google Play services, e a seconda del dispositivo può essere nano v3 o v4.</a:t>
            </a:r>
          </a:p>
          <a:p>
            <a:r>
              <a:rPr lang="it-IT" noProof="0" dirty="0"/>
              <a:t>Quindi il modello migliora nel tempo senza rilasciare nuovi aggiornamenti dell’app.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Si può usare tramite Machine Learning Kit GenAI, che espone sia API già pronte, come riassunti o riscrittura del testo, sia una Prompt API in cui il prompt lo possiamo scrivere noi.</a:t>
            </a:r>
          </a:p>
          <a:p>
            <a:r>
              <a:rPr lang="it-IT" noProof="0" dirty="0"/>
              <a:t>E noi ovviamente abbiamo usato la Prompt API.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il costo per la tua app? Zero megabyte.</a:t>
            </a:r>
          </a:p>
          <a:p>
            <a:endParaRPr lang="it-IT" noProof="0" dirty="0"/>
          </a:p>
          <a:p>
            <a:r>
              <a:rPr lang="it-IT" noProof="0" dirty="0"/>
              <a:t>Ma come fa a costare zero? Dove sta il modello?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Il modello vive in AICore, non nell'app.</a:t>
            </a:r>
          </a:p>
          <a:p>
            <a:br>
              <a:rPr lang="it-IT" noProof="0" dirty="0"/>
            </a:br>
            <a:endParaRPr lang="it-IT" noProof="0" dirty="0"/>
          </a:p>
          <a:p>
            <a:r>
              <a:rPr lang="it-IT" noProof="0" dirty="0"/>
              <a:t>AICore è un servizio di sistema di Android.</a:t>
            </a:r>
          </a:p>
          <a:p>
            <a:r>
              <a:rPr lang="it-IT" noProof="0" dirty="0"/>
              <a:t>Gestisce lui i pesi del modello, lo storage, gli aggiornamenti e l’accelerazione hardware.</a:t>
            </a:r>
          </a:p>
          <a:p>
            <a:r>
              <a:rPr lang="it-IT" noProof="0" dirty="0"/>
              <a:t>L’app non tocca mai un singolo file del modello.</a:t>
            </a:r>
          </a:p>
          <a:p>
            <a:r>
              <a:rPr lang="it-IT" noProof="0" dirty="0"/>
              <a:t>Basta mandare una richiesta, ed AICore restituisce una risposta.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le richieste possono essere multimodali: foto più testo in ingresso, testo in uscita</a:t>
            </a:r>
          </a:p>
          <a:p>
            <a:r>
              <a:rPr lang="it-IT" noProof="0" dirty="0"/>
              <a:t>Tutto questo gira su pesi che non serve mai distribuire, scaricare, o aggiornare.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c’è un vantaggio da non sottovalutare: se 10 app sullo stesso telefono usano Gemini Nano, il modello sul disco è uno solo.</a:t>
            </a:r>
          </a:p>
          <a:p>
            <a:r>
              <a:rPr lang="it-IT" noProof="0" dirty="0"/>
              <a:t>Non dieci copie da qualche gigabyte ciascuna</a:t>
            </a:r>
          </a:p>
          <a:p>
            <a:r>
              <a:rPr lang="it-IT" noProof="0" dirty="0"/>
              <a:t>Per l’utente è un risparmio enorme di spazio, e per chi sviluppa app è un problema in meno.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Per noi sviluppatori è quindi un modello mentale molto comodo: è come usare la fotocamera o il GPS.</a:t>
            </a:r>
          </a:p>
          <a:p>
            <a:r>
              <a:rPr lang="it-IT" noProof="0" dirty="0"/>
              <a:t>È una capability del sistema, non una cosa da impacchettare nell’app.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Ma proprio perché è una capability del sistema, può esserci o non esserci.</a:t>
            </a:r>
          </a:p>
          <a:p>
            <a:r>
              <a:rPr lang="it-IT" noProof="0" dirty="0"/>
              <a:t>E quindi l’integrazione si riduce a una dipendenza e a una regola.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La dipendenza è Machine Learning Kit GenAI Prompt API.</a:t>
            </a:r>
          </a:p>
          <a:p>
            <a:r>
              <a:rPr lang="it-IT" noProof="0" dirty="0"/>
              <a:t>Poi si prende il client con </a:t>
            </a:r>
            <a:r>
              <a:rPr lang="it-IT" noProof="0" dirty="0" err="1"/>
              <a:t>getClient</a:t>
            </a:r>
            <a:r>
              <a:rPr lang="it-IT" noProof="0" dirty="0"/>
              <a:t>().</a:t>
            </a:r>
          </a:p>
          <a:p>
            <a:endParaRPr lang="it-IT" noProof="0" dirty="0"/>
          </a:p>
          <a:p>
            <a:endParaRPr lang="it-IT" noProof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noProof="0" dirty="0"/>
              <a:t>E ora la regola: prima di chiamare il modello, bisogna sempre chiamare checkStatus().</a:t>
            </a:r>
          </a:p>
          <a:p>
            <a:r>
              <a:rPr lang="it-IT" noProof="0" dirty="0"/>
              <a:t>La disponibilità è una questione di </a:t>
            </a:r>
            <a:r>
              <a:rPr lang="it-IT" noProof="0" dirty="0" err="1"/>
              <a:t>runtime</a:t>
            </a:r>
            <a:r>
              <a:rPr lang="it-IT" noProof="0" dirty="0"/>
              <a:t>, non di compile time.</a:t>
            </a:r>
          </a:p>
          <a:p>
            <a:r>
              <a:rPr lang="it-IT" noProof="0" dirty="0"/>
              <a:t>Non si può sapere finché non si </a:t>
            </a:r>
            <a:r>
              <a:rPr lang="it-IT" noProof="0" dirty="0" err="1"/>
              <a:t>builda</a:t>
            </a:r>
            <a:r>
              <a:rPr lang="it-IT" noProof="0" dirty="0"/>
              <a:t> l’app.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Gli stati che ci interessano sono tre.</a:t>
            </a:r>
          </a:p>
          <a:p>
            <a:r>
              <a:rPr lang="it-IT" noProof="0" dirty="0"/>
              <a:t>AVAILABLE: il modello c’è, è pronto, si può usare Nano.</a:t>
            </a:r>
          </a:p>
          <a:p>
            <a:r>
              <a:rPr lang="it-IT" noProof="0" dirty="0"/>
              <a:t>DOWNLOADABLE: il dispositivo lo supporta, ma il modello non è ancora stato scaricato. In quel caso lanciamo il download in modo opportunistico, in background, ma intanto, per questa richiesta, usiamo il </a:t>
            </a:r>
            <a:r>
              <a:rPr lang="it-IT" noProof="0" dirty="0" err="1"/>
              <a:t>fallback</a:t>
            </a:r>
            <a:r>
              <a:rPr lang="it-IT" noProof="0" dirty="0"/>
              <a:t>. Non facciamo aspettare l’utente.</a:t>
            </a:r>
          </a:p>
          <a:p>
            <a:r>
              <a:rPr lang="it-IT" noProof="0" dirty="0"/>
              <a:t>E in tutti gli altri casi, cioè dispositivo non supportato, </a:t>
            </a:r>
            <a:r>
              <a:rPr lang="it-IT" noProof="0" dirty="0" err="1"/>
              <a:t>fallback</a:t>
            </a:r>
            <a:r>
              <a:rPr lang="it-IT" noProof="0" dirty="0"/>
              <a:t>, direttamente.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Poi la chiamata vera è banale: </a:t>
            </a:r>
            <a:r>
              <a:rPr lang="it-IT" noProof="0" dirty="0" err="1"/>
              <a:t>generateContent</a:t>
            </a:r>
            <a:r>
              <a:rPr lang="it-IT" noProof="0" dirty="0"/>
              <a:t> con un’</a:t>
            </a:r>
            <a:r>
              <a:rPr lang="it-IT" noProof="0" dirty="0" err="1"/>
              <a:t>ImagePart</a:t>
            </a:r>
            <a:r>
              <a:rPr lang="it-IT" noProof="0" dirty="0"/>
              <a:t>, cioè il bitmap della foto, e una </a:t>
            </a:r>
            <a:r>
              <a:rPr lang="it-IT" noProof="0" dirty="0" err="1"/>
              <a:t>TextPart</a:t>
            </a:r>
            <a:r>
              <a:rPr lang="it-IT" noProof="0" dirty="0"/>
              <a:t> con il prompt.</a:t>
            </a:r>
          </a:p>
          <a:p>
            <a:r>
              <a:rPr lang="it-IT" noProof="0" dirty="0"/>
              <a:t>Temperatura bassa in questo caso, 0.2, perché qui non vogliamo creatività: vogliamo una lista di ingredienti affidabile.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il </a:t>
            </a:r>
            <a:r>
              <a:rPr lang="it-IT" noProof="0" dirty="0" err="1"/>
              <a:t>fallback</a:t>
            </a:r>
            <a:r>
              <a:rPr lang="it-IT" noProof="0" dirty="0"/>
              <a:t> non è un messaggio di errore: è un altro motore di rilevamento.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La cosa più importante è che lo stesso telefono può rispondere in modo diverso nel tempo.</a:t>
            </a:r>
          </a:p>
          <a:p>
            <a:r>
              <a:rPr lang="it-IT" noProof="0" dirty="0"/>
              <a:t>Oggi il modello non è ancora scaricato, domani sì, dopodomani il sistema lo può rimuovere per liberare spazio.</a:t>
            </a:r>
          </a:p>
          <a:p>
            <a:r>
              <a:rPr lang="it-IT" noProof="0" dirty="0"/>
              <a:t>Quindi quel check non si fa una volta all’avvio: si fa ogni volta.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Bene. Nano risolve il problema sui flagship.</a:t>
            </a:r>
          </a:p>
          <a:p>
            <a:r>
              <a:rPr lang="it-IT" noProof="0" dirty="0"/>
              <a:t>Ma non per tutti gli altri. Quindi torniamo al nostro piano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noProof="0" dirty="0"/>
              <a:t>STEFANO:</a:t>
            </a:r>
          </a:p>
          <a:p>
            <a:r>
              <a:rPr lang="it-IT" noProof="0" dirty="0"/>
              <a:t>Capitolo due. Il protagonista: Gemma 4 E2B.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Gemma è la famiglia open-weights di Google.</a:t>
            </a:r>
          </a:p>
          <a:p>
            <a:r>
              <a:rPr lang="it-IT" noProof="0" dirty="0"/>
              <a:t>Potete pensarla come il fratello scaricabile di Gemini.</a:t>
            </a:r>
          </a:p>
          <a:p>
            <a:r>
              <a:rPr lang="it-IT" noProof="0" dirty="0"/>
              <a:t>I pesi sono vostri: li includete e li distribuite con la vostra app.</a:t>
            </a:r>
          </a:p>
          <a:p>
            <a:r>
              <a:rPr lang="it-IT" noProof="0" dirty="0"/>
              <a:t>Nessuna fatturazione per chiamata, nessun server.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Cosa vuol dire “4 E2B”? Quarta generazione, e 2 miliardi di parametri effettivi.</a:t>
            </a:r>
          </a:p>
          <a:p>
            <a:r>
              <a:rPr lang="it-IT" noProof="0" dirty="0"/>
              <a:t>Quella “E” sta per </a:t>
            </a:r>
            <a:r>
              <a:rPr lang="it-IT" noProof="0" dirty="0" err="1"/>
              <a:t>effective</a:t>
            </a:r>
            <a:r>
              <a:rPr lang="it-IT" noProof="0" dirty="0"/>
              <a:t>: è progettato apposta per i telefoni, con dei trucchi di memoria che gli danno una qualità da modello più grande, ma con un’impronta di RAM da telefono.</a:t>
            </a:r>
          </a:p>
          <a:p>
            <a:r>
              <a:rPr lang="it-IT" noProof="0" dirty="0"/>
              <a:t>Ed è </a:t>
            </a:r>
            <a:r>
              <a:rPr lang="it-IT" noProof="0" dirty="0" err="1"/>
              <a:t>instruction-tuned</a:t>
            </a:r>
            <a:r>
              <a:rPr lang="it-IT" noProof="0" dirty="0"/>
              <a:t>, quindi segue bene le istruzioni.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È multimodale: c’è un vision encoder che alimenta il </a:t>
            </a:r>
            <a:r>
              <a:rPr lang="it-IT" noProof="0" dirty="0" err="1"/>
              <a:t>language</a:t>
            </a:r>
            <a:r>
              <a:rPr lang="it-IT" noProof="0" dirty="0"/>
              <a:t> model.</a:t>
            </a:r>
          </a:p>
          <a:p>
            <a:r>
              <a:rPr lang="it-IT" noProof="0" dirty="0"/>
              <a:t>Quindi sa guardare e sa scrivere.</a:t>
            </a:r>
          </a:p>
          <a:p>
            <a:r>
              <a:rPr lang="it-IT" noProof="0" dirty="0"/>
              <a:t>Esattamente quello che serve a uno scanner per il frigo, e in più può generare anche le ricette.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gira tramite </a:t>
            </a:r>
            <a:r>
              <a:rPr lang="it-IT" noProof="0" dirty="0" err="1"/>
              <a:t>LiteRT</a:t>
            </a:r>
            <a:r>
              <a:rPr lang="it-IT" noProof="0" dirty="0"/>
              <a:t>-LM su qualsiasi Android.</a:t>
            </a:r>
          </a:p>
          <a:p>
            <a:r>
              <a:rPr lang="it-IT" noProof="0" dirty="0"/>
              <a:t>Non dipende da quale chip ha l’utente.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Un modello, un’integrazione, due compiti: rilevamento e ricette.</a:t>
            </a:r>
          </a:p>
          <a:p>
            <a:r>
              <a:rPr lang="it-IT" noProof="0" dirty="0"/>
              <a:t>Per chi non lo conosce, </a:t>
            </a:r>
            <a:r>
              <a:rPr lang="it-IT" noProof="0" dirty="0" err="1"/>
              <a:t>LiteRT</a:t>
            </a:r>
            <a:r>
              <a:rPr lang="it-IT" noProof="0" dirty="0"/>
              <a:t> è il nuovo nome di </a:t>
            </a:r>
            <a:r>
              <a:rPr lang="it-IT" noProof="0" dirty="0" err="1"/>
              <a:t>TensorFlow</a:t>
            </a:r>
            <a:r>
              <a:rPr lang="it-IT" noProof="0" dirty="0"/>
              <a:t> Lite, e </a:t>
            </a:r>
            <a:r>
              <a:rPr lang="it-IT" noProof="0" dirty="0" err="1"/>
              <a:t>LiteRT</a:t>
            </a:r>
            <a:r>
              <a:rPr lang="it-IT" noProof="0" dirty="0"/>
              <a:t>-LM è la sua estensione pensata apposta per far girare </a:t>
            </a:r>
            <a:r>
              <a:rPr lang="it-IT" noProof="0" dirty="0" err="1"/>
              <a:t>language</a:t>
            </a:r>
            <a:r>
              <a:rPr lang="it-IT" noProof="0" dirty="0"/>
              <a:t> model sul dispositivo: gestisce tokenizzazione, cache, sessioni di conversazione, e sceglie CPU o GPU.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Sembrava l’architettura perfetta.</a:t>
            </a:r>
          </a:p>
          <a:p>
            <a:r>
              <a:rPr lang="it-IT" noProof="0" dirty="0"/>
              <a:t>Vediamo come l’abbiamo usato.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L’approccio era: chiedi all’LLM di guardare, e poi di scrivere.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Questo è, più o meno, il prompt che usavamo. </a:t>
            </a:r>
          </a:p>
          <a:p>
            <a:r>
              <a:rPr lang="it-IT" noProof="0" dirty="0"/>
              <a:t>“Questa è una foto dell’interno di un frigorifero. Identifica gli ingredienti alimentari che vedi, al massimo 15.</a:t>
            </a:r>
          </a:p>
          <a:p>
            <a:r>
              <a:rPr lang="it-IT" noProof="0" dirty="0"/>
              <a:t>Rispondi solo con un array JSON, niente </a:t>
            </a:r>
            <a:r>
              <a:rPr lang="it-IT" noProof="0" dirty="0" err="1"/>
              <a:t>markdown</a:t>
            </a:r>
            <a:r>
              <a:rPr lang="it-IT" noProof="0" dirty="0"/>
              <a:t>, nessun testo extra.” </a:t>
            </a:r>
          </a:p>
          <a:p>
            <a:endParaRPr lang="it-IT" noProof="0" dirty="0"/>
          </a:p>
          <a:p>
            <a:r>
              <a:rPr lang="it-IT" noProof="0" dirty="0"/>
              <a:t>E gli diamo lo schema: nome e quantità approssimativa. E infine: “includi solo gli elementi che vedi davvero”, per limitare le allucinazioni.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Poi mandiamo foto e prompt nella conversazione, prendiamo il testo, facciamo il </a:t>
            </a:r>
            <a:r>
              <a:rPr lang="it-IT" noProof="0" dirty="0" err="1"/>
              <a:t>parsing</a:t>
            </a:r>
            <a:r>
              <a:rPr lang="it-IT" noProof="0" dirty="0"/>
              <a:t> del JSON, e se è malformato riproviamo in silenzio. Ci torneremo, su questo.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Da notare anche il limite di quindici elementi: non è casuale.</a:t>
            </a:r>
          </a:p>
          <a:p>
            <a:r>
              <a:rPr lang="it-IT" noProof="0" dirty="0"/>
              <a:t>Ogni ingrediente in più nella risposta sono token in più da generare, e, come vedremo tra un attimo, i token in uscita costano molto.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la cosa affascinante è la nota in basso: il rilevamento diventa un problema di </a:t>
            </a:r>
            <a:r>
              <a:rPr lang="it-IT" noProof="0" dirty="0" err="1"/>
              <a:t>prompting</a:t>
            </a:r>
            <a:r>
              <a:rPr lang="it-IT" noProof="0" dirty="0"/>
              <a:t>.</a:t>
            </a:r>
          </a:p>
          <a:p>
            <a:r>
              <a:rPr lang="it-IT" noProof="0" dirty="0"/>
              <a:t>Nessun dataset da raccogliere, nessun training, nessuna etichettatura. Basta chiedere.</a:t>
            </a:r>
          </a:p>
          <a:p>
            <a:endParaRPr lang="it-IT" noProof="0" dirty="0"/>
          </a:p>
          <a:p>
            <a:r>
              <a:rPr lang="it-IT" i="1" noProof="0" dirty="0"/>
              <a:t>[pausa]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Cosa potrebbe andare storto?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i="1" noProof="0" dirty="0"/>
              <a:t>[pausa]</a:t>
            </a:r>
          </a:p>
          <a:p>
            <a:endParaRPr lang="it-IT" i="1" noProof="0" dirty="0"/>
          </a:p>
          <a:p>
            <a:endParaRPr lang="it-IT" noProof="0" dirty="0"/>
          </a:p>
          <a:p>
            <a:r>
              <a:rPr lang="it-IT" noProof="0" dirty="0"/>
              <a:t>Beh, lo sapete già: 5-10 minuti per scansione. La domanda interessante è: perché?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Perché andava così lento?</a:t>
            </a:r>
          </a:p>
          <a:p>
            <a:r>
              <a:rPr lang="it-IT" noProof="0" dirty="0"/>
              <a:t>Qui c’è il concetto più importante di questo capitolo: il costo a due fasi degli LLM multimodali.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Fase uno: il </a:t>
            </a:r>
            <a:r>
              <a:rPr lang="it-IT" noProof="0" dirty="0" err="1"/>
              <a:t>prefill</a:t>
            </a:r>
            <a:r>
              <a:rPr lang="it-IT" noProof="0" dirty="0"/>
              <a:t>.</a:t>
            </a:r>
          </a:p>
          <a:p>
            <a:r>
              <a:rPr lang="it-IT" noProof="0" dirty="0"/>
              <a:t>Prima di scrivere anche solo una parola, il modello deve leggere tutto l’input.</a:t>
            </a:r>
          </a:p>
          <a:p>
            <a:r>
              <a:rPr lang="it-IT" noProof="0" dirty="0"/>
              <a:t>E la nostra foto non è “un’immagine”: per il modello diventa qualche centinaio di token immagine.</a:t>
            </a:r>
          </a:p>
          <a:p>
            <a:r>
              <a:rPr lang="it-IT" noProof="0" dirty="0"/>
              <a:t>Token che vanno elaborati tutti, prima che compaia qualsiasi output.</a:t>
            </a:r>
          </a:p>
          <a:p>
            <a:r>
              <a:rPr lang="it-IT" noProof="0" dirty="0"/>
              <a:t>Su un telefono di fascia media, già questo da solo è pesante.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Fase due: il </a:t>
            </a:r>
            <a:r>
              <a:rPr lang="it-IT" noProof="0" dirty="0" err="1"/>
              <a:t>decode</a:t>
            </a:r>
            <a:r>
              <a:rPr lang="it-IT" noProof="0" dirty="0"/>
              <a:t>. La risposta viene generata un token alla volta.</a:t>
            </a:r>
          </a:p>
          <a:p>
            <a:r>
              <a:rPr lang="it-IT" noProof="0" dirty="0"/>
              <a:t>E ogni singolo token passa attraverso un modello da due miliardi di parametri.</a:t>
            </a:r>
          </a:p>
          <a:p>
            <a:r>
              <a:rPr lang="it-IT" noProof="0" dirty="0"/>
              <a:t>Un JSON con quindici ingredienti e quantità sono tanti token, e ognuno costa un passaggio completo del modello.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Per darvi un’idea: sul cloud, su GPU da data center, entrambe le fasi sono talmente veloci che non ci pensate nemmeno.</a:t>
            </a:r>
          </a:p>
          <a:p>
            <a:r>
              <a:rPr lang="it-IT" noProof="0" dirty="0"/>
              <a:t>Sul telefono, con memoria condivisa, limiti termici e una batteria da non prosciugare, ogni token si sente.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Mettete insieme le due fasi, e su un telefono di fascia media ottenete una scansione da 5-10 minuti.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notate: non è un problema di qualità del modello. Le risposte erano giuste. È l’aritmetica a decidere tra secondi e minuti.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Quindi, il consiglio: conoscete questo modello di costo prima di promettere qualsiasi UX multimodale.</a:t>
            </a:r>
          </a:p>
          <a:p>
            <a:r>
              <a:rPr lang="it-IT" noProof="0" dirty="0"/>
              <a:t>Prima di dire al product </a:t>
            </a:r>
            <a:r>
              <a:rPr lang="it-IT" noProof="0" dirty="0" err="1"/>
              <a:t>owner</a:t>
            </a:r>
            <a:r>
              <a:rPr lang="it-IT" noProof="0" dirty="0"/>
              <a:t> “facciamo scattare una foto e l’AI capisce tutto”, fate questo conto.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a quel punto ci siamo fatti la domanda giusta:</a:t>
            </a:r>
          </a:p>
          <a:p>
            <a:r>
              <a:rPr lang="it-IT" noProof="0" dirty="0"/>
              <a:t>Ci serve davvero un modello che scrive, per riconoscere un’arancia?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Capitolo tre. Il protagonista: MobileCLIP-S2.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Prima cosa da capire: non è un LLM.</a:t>
            </a:r>
          </a:p>
          <a:p>
            <a:r>
              <a:rPr lang="it-IT" noProof="0" dirty="0"/>
              <a:t>Non genera nulla. Misura.</a:t>
            </a:r>
          </a:p>
          <a:p>
            <a:r>
              <a:rPr lang="it-IT" noProof="0" dirty="0"/>
              <a:t>Misura quanto un’immagine corrisponde a una frase.</a:t>
            </a:r>
          </a:p>
          <a:p>
            <a:r>
              <a:rPr lang="it-IT" noProof="0" dirty="0"/>
              <a:t>È un modello della famiglia CLIP, che sta per Contrastive Language–Image Pre-training.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MobileCLIP è la versione mobile di CLIP, realizzata da Apple.</a:t>
            </a:r>
          </a:p>
          <a:p>
            <a:r>
              <a:rPr lang="it-IT" noProof="0" dirty="0"/>
              <a:t>Sì, in un talk Android a una DevFest usiamo un modello di Apple: l’open source è bello anche per questo.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È distillato da modelli più grandi, e la variante S2 è il giusto compromesso tra accuratezza e velocità: in zero-shot è accurato come modelli più grandi, ma con una latenza da telefono.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I numeri: circa 140 megabyte, input a 256 per 256 pixel, </a:t>
            </a:r>
            <a:r>
              <a:rPr lang="it-IT" noProof="0" dirty="0" err="1"/>
              <a:t>embedding</a:t>
            </a:r>
            <a:r>
              <a:rPr lang="it-IT" noProof="0" dirty="0"/>
              <a:t> a 512 dimensioni.</a:t>
            </a:r>
          </a:p>
          <a:p>
            <a:r>
              <a:rPr lang="it-IT" noProof="0" dirty="0"/>
              <a:t>Minuscolo, accanto a un LLM da 2 miliardi di parametri, e soprattutto con un profilo di costo completamente diverso.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“zero-shot” è la parola chiave: significa che il modello riconosce categorie su cui non è mai stato addestrato esplicitamente.</a:t>
            </a:r>
          </a:p>
          <a:p>
            <a:r>
              <a:rPr lang="it-IT" noProof="0" dirty="0"/>
              <a:t>Non abbiamo fatto nessun fine-tuning sugli ingredienti.</a:t>
            </a:r>
          </a:p>
          <a:p>
            <a:r>
              <a:rPr lang="it-IT" noProof="0" dirty="0"/>
              <a:t>Non abbiamo raccolto nemmeno una foto di frigo.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Pesi aperti, si esporta senza problemi in </a:t>
            </a:r>
            <a:r>
              <a:rPr lang="it-IT" noProof="0" dirty="0" err="1"/>
              <a:t>LiteRT</a:t>
            </a:r>
            <a:r>
              <a:rPr lang="it-IT" noProof="0" dirty="0"/>
              <a:t>, e gira su qualsiasi telefono Android.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Questo sì che può essere la base della nostra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L’intuizione chiave è questa: il riconoscimento non richiede un modello che scrive, ma un modello che confronta.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Come funziona CLIP?</a:t>
            </a:r>
          </a:p>
          <a:p>
            <a:r>
              <a:rPr lang="it-IT" noProof="0" dirty="0"/>
              <a:t>Sono due piccoli encoder: uno per le immagini, uno per il testo.</a:t>
            </a:r>
          </a:p>
          <a:p>
            <a:r>
              <a:rPr lang="it-IT" noProof="0" dirty="0"/>
              <a:t>Sono stati addestrati su milioni di coppie immagine–didascalia, in modo che una foto e la frase che la descrive finiscano vicine nello stesso spazio vettoriale.</a:t>
            </a:r>
          </a:p>
          <a:p>
            <a:r>
              <a:rPr lang="it-IT" noProof="0" dirty="0"/>
              <a:t>La foto di un’arancia e la frase “una foto di un’arancia” diventano due vettori che puntano più o meno nella stessa direzione.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quindi la domanda “è un’arancia?” diventa una similarità del coseno.</a:t>
            </a:r>
          </a:p>
          <a:p>
            <a:r>
              <a:rPr lang="it-IT" noProof="0" dirty="0"/>
              <a:t>Prendo il vettore dell’immagine, prendo il vettore della frase, faccio un prodotto scalare.</a:t>
            </a:r>
          </a:p>
          <a:p>
            <a:r>
              <a:rPr lang="it-IT" noProof="0" dirty="0"/>
              <a:t>Il riconoscimento diventa geometria.</a:t>
            </a:r>
          </a:p>
          <a:p>
            <a:r>
              <a:rPr lang="it-IT" noProof="0" dirty="0"/>
              <a:t>Un prodotto scalare, e non un paragrafo generato.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il bello della similarità del coseno è che è un numero: da meno uno a uno.</a:t>
            </a:r>
          </a:p>
          <a:p>
            <a:r>
              <a:rPr lang="it-IT" noProof="0" dirty="0"/>
              <a:t>Possiamo mettere una soglia, ordinare i risultati, scartare quelli poco convinti.</a:t>
            </a:r>
          </a:p>
          <a:p>
            <a:r>
              <a:rPr lang="it-IT" noProof="0" dirty="0"/>
              <a:t>Niente JSON da </a:t>
            </a:r>
            <a:r>
              <a:rPr lang="it-IT" noProof="0" dirty="0" err="1"/>
              <a:t>parsare</a:t>
            </a:r>
            <a:r>
              <a:rPr lang="it-IT" noProof="0" dirty="0"/>
              <a:t>, niente allucinazioni in forma di testo: al massimo un punteggio basso.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Ora ripensate alle due fasi di prima.</a:t>
            </a:r>
          </a:p>
          <a:p>
            <a:r>
              <a:rPr lang="it-IT" noProof="0" dirty="0"/>
              <a:t>Qui non c’è </a:t>
            </a:r>
            <a:r>
              <a:rPr lang="it-IT" noProof="0" dirty="0" err="1"/>
              <a:t>decode</a:t>
            </a:r>
            <a:r>
              <a:rPr lang="it-IT" noProof="0" dirty="0"/>
              <a:t>: non genero nessun token.</a:t>
            </a:r>
          </a:p>
          <a:p>
            <a:r>
              <a:rPr lang="it-IT" noProof="0" dirty="0"/>
              <a:t>Non c’è un </a:t>
            </a:r>
            <a:r>
              <a:rPr lang="it-IT" noProof="0" dirty="0" err="1"/>
              <a:t>prefill</a:t>
            </a:r>
            <a:r>
              <a:rPr lang="it-IT" noProof="0" dirty="0"/>
              <a:t> da centinaia di token attraverso due miliardi di parametri.</a:t>
            </a:r>
          </a:p>
          <a:p>
            <a:r>
              <a:rPr lang="it-IT" noProof="0" dirty="0"/>
              <a:t>C’è solo un encoder da circa 140 mega che guarda la foto. Fine.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MobileCLIP-S2 gira su </a:t>
            </a:r>
            <a:r>
              <a:rPr lang="it-IT" noProof="0" dirty="0" err="1"/>
              <a:t>LiteRT</a:t>
            </a:r>
            <a:r>
              <a:rPr lang="it-IT" noProof="0" dirty="0"/>
              <a:t>, su qualsiasi telefono Android, senza nessun ciclo di </a:t>
            </a:r>
            <a:r>
              <a:rPr lang="it-IT" noProof="0" dirty="0" err="1"/>
              <a:t>decode</a:t>
            </a:r>
            <a:r>
              <a:rPr lang="it-IT" noProof="0" dirty="0"/>
              <a:t>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C’è però una domanda ovvia: se il modello confronta un’immagine con delle frasi… quali frasi? Da dove arrivano?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Ed ecco il trucco: il vocabolario l’abbiamo costruito noi.</a:t>
            </a:r>
          </a:p>
          <a:p>
            <a:r>
              <a:rPr lang="it-IT" noProof="0" dirty="0"/>
              <a:t>Ed è un file di testo.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Si chiama </a:t>
            </a:r>
            <a:r>
              <a:rPr lang="it-IT" noProof="0" dirty="0" err="1"/>
              <a:t>ingredient_labels.txt</a:t>
            </a:r>
            <a:r>
              <a:rPr lang="it-IT" noProof="0" dirty="0"/>
              <a:t>, e contiene più di ottocento etichette di ingredienti, curate a mano.</a:t>
            </a:r>
          </a:p>
          <a:p>
            <a:r>
              <a:rPr lang="it-IT" noProof="0" dirty="0"/>
              <a:t>Arancia. Fragola. Banana.</a:t>
            </a:r>
          </a:p>
          <a:p>
            <a:r>
              <a:rPr lang="it-IT" noProof="0" dirty="0"/>
              <a:t>E guardate la terza riga: “latte senza lattosio, pipe, latte”. A sinistra c’è l’etichetta specifica, quella che usiamo per il match; a destra quella semplice, che mostriamo all’utente. Così il modello riconosce il cartone di latte intero, ma nella dispensa vedete solo “latte”.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Questo trucco risolve un problema molto concreto: CLIP ragiona meglio con descrizioni specifiche, ma per le ricette è meglio una dispensa pulita, non “cartone di latte intero parzialmente scremato”.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Poi: gli </a:t>
            </a:r>
            <a:r>
              <a:rPr lang="it-IT" noProof="0" dirty="0" err="1"/>
              <a:t>embedding</a:t>
            </a:r>
            <a:r>
              <a:rPr lang="it-IT" noProof="0" dirty="0"/>
              <a:t> del testo li calcoliamo offline, su un laptop, una volta sola.</a:t>
            </a:r>
          </a:p>
          <a:p>
            <a:r>
              <a:rPr lang="it-IT" noProof="0" dirty="0"/>
              <a:t>Per ogni etichetta usiamo quattro template, tipo “una foto di un’arancia”, e facciamo la media dei vettori, che rende il risultato più robusto.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Il risultato sono circa 4,5 megabyte di vettori, inclusi nell’APK.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qui c’è il punto chiave: siccome le etichette non cambiano a </a:t>
            </a:r>
            <a:r>
              <a:rPr lang="it-IT" noProof="0" dirty="0" err="1"/>
              <a:t>runtime</a:t>
            </a:r>
            <a:r>
              <a:rPr lang="it-IT" noProof="0" dirty="0"/>
              <a:t>, non ha senso far girare il text encoder sul telefono. Lo lasciamo sul laptop.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quindi sul telefono gira solo l’image encoder.</a:t>
            </a:r>
          </a:p>
          <a:p>
            <a:r>
              <a:rPr lang="it-IT" noProof="0" dirty="0"/>
              <a:t>Il flusso è: ritagliamo la foto in tanti </a:t>
            </a:r>
            <a:r>
              <a:rPr lang="it-IT" noProof="0" dirty="0" err="1"/>
              <a:t>crop</a:t>
            </a:r>
            <a:r>
              <a:rPr lang="it-IT" noProof="0" dirty="0"/>
              <a:t>, a due scale diverse, calcoliamo l’</a:t>
            </a:r>
            <a:r>
              <a:rPr lang="it-IT" noProof="0" dirty="0" err="1"/>
              <a:t>embedding</a:t>
            </a:r>
            <a:r>
              <a:rPr lang="it-IT" noProof="0" dirty="0"/>
              <a:t> di ogni </a:t>
            </a:r>
            <a:r>
              <a:rPr lang="it-IT" noProof="0" dirty="0" err="1"/>
              <a:t>crop</a:t>
            </a:r>
            <a:r>
              <a:rPr lang="it-IT" noProof="0" dirty="0"/>
              <a:t>, confrontiamo col coseno contro tutte le etichette, e vincono le corrispondenze migliori, sopra una soglia di confidenza.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un dettaglio furbo: nel file ci sono anche alcune etichette “distrattore”, che non sono cibo.</a:t>
            </a:r>
          </a:p>
          <a:p>
            <a:r>
              <a:rPr lang="it-IT" noProof="0" dirty="0"/>
              <a:t>Servono ad assorbire i </a:t>
            </a:r>
            <a:r>
              <a:rPr lang="it-IT" noProof="0" dirty="0" err="1"/>
              <a:t>crop</a:t>
            </a:r>
            <a:r>
              <a:rPr lang="it-IT" noProof="0" dirty="0"/>
              <a:t> vuoti, lo scaffale, la mensola, così non diventano un ingrediente.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la cosa bella è questa: il “classificatore” è un file di testo modificabile.</a:t>
            </a:r>
          </a:p>
          <a:p>
            <a:r>
              <a:rPr lang="it-IT" noProof="0" dirty="0"/>
              <a:t>Vuoi aggiungere un ingrediente? Aggiungi una riga, rigeneri i vettori, fatto. Nessun dataset, nessun training.</a:t>
            </a:r>
          </a:p>
          <a:p>
            <a:endParaRPr lang="it-IT" noProof="0" dirty="0"/>
          </a:p>
          <a:p>
            <a:r>
              <a:rPr lang="it-IT" noProof="0" dirty="0"/>
              <a:t>E il risultato?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Stesso telefono. Stessa foto del frigo.</a:t>
            </a:r>
          </a:p>
          <a:p>
            <a:endParaRPr lang="it-IT" noProof="0" dirty="0"/>
          </a:p>
          <a:p>
            <a:r>
              <a:rPr lang="it-IT" i="1" noProof="0" dirty="0"/>
              <a:t>[pausa]</a:t>
            </a:r>
          </a:p>
          <a:p>
            <a:endParaRPr lang="it-IT" noProof="0" dirty="0"/>
          </a:p>
          <a:p>
            <a:r>
              <a:rPr lang="it-IT" noProof="0" dirty="0"/>
              <a:t>Minuti… diventano secondi.</a:t>
            </a:r>
          </a:p>
          <a:p>
            <a:endParaRPr lang="it-IT" noProof="0" dirty="0"/>
          </a:p>
          <a:p>
            <a:r>
              <a:rPr lang="it-IT" i="1" noProof="0" dirty="0"/>
              <a:t>[pausa]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Non abbiamo cambiato telefono. Non abbiamo comprato un chip nuovo.</a:t>
            </a:r>
          </a:p>
          <a:p>
            <a:r>
              <a:rPr lang="it-IT" noProof="0" dirty="0"/>
              <a:t>Non abbiamo quantizzato fino all’osso l’LLM.</a:t>
            </a:r>
          </a:p>
          <a:p>
            <a:r>
              <a:rPr lang="it-IT" noProof="0" dirty="0"/>
              <a:t>Abbiamo cambiato la classe di modello.</a:t>
            </a:r>
          </a:p>
          <a:p>
            <a:r>
              <a:rPr lang="it-IT" noProof="0" dirty="0"/>
              <a:t>Abbiamo smesso di chiedere a un modello generativo di fare un lavoro di confronto.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il bello è che il vecchio approccio non l’abbiamo buttato: la qualità dell’LLM per il rilevamento era ottima, ma MobileCLIP ci dà una qualità comparabile in una frazione del tempo, su qualsiasi telefono.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Ed è la lezione più importante di tutto il talk: prima di ottimizzare il modello, chiedetevi se è il modello giusto per quel compito.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Ma a questo punto avevamo 2,6 gigabyte di Gemma sul telefono, e nessun lavoro da fargli fare.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Capitolo quattro. Il protagonista: Gemma, il ritorno.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Sono gli stessi 2,6 gigabyte che avevamo già sul telefono.</a:t>
            </a:r>
          </a:p>
          <a:p>
            <a:r>
              <a:rPr lang="it-IT" noProof="0" dirty="0"/>
              <a:t>Ma ora fa il lavoro per cui è stato costruito.</a:t>
            </a:r>
          </a:p>
          <a:p>
            <a:r>
              <a:rPr lang="it-IT" noProof="0" dirty="0"/>
              <a:t>Lo avevamo messo in panchina per la percezione, ma non l’abbiamo mai disinstallato.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La differenza è che stavolta lavora solo con il testo.</a:t>
            </a:r>
          </a:p>
          <a:p>
            <a:r>
              <a:rPr lang="it-IT" noProof="0" dirty="0"/>
              <a:t>Niente foto, niente token immagine, niente </a:t>
            </a:r>
            <a:r>
              <a:rPr lang="it-IT" noProof="0" dirty="0" err="1"/>
              <a:t>prefill</a:t>
            </a:r>
            <a:r>
              <a:rPr lang="it-IT" noProof="0" dirty="0"/>
              <a:t> enorme.</a:t>
            </a:r>
          </a:p>
          <a:p>
            <a:r>
              <a:rPr lang="it-IT" noProof="0" dirty="0"/>
              <a:t>L’input è una breve lista di ingredienti: “uova, zucchine, pomodori, Parmigiano”.</a:t>
            </a:r>
          </a:p>
          <a:p>
            <a:r>
              <a:rPr lang="it-IT" noProof="0" dirty="0"/>
              <a:t>Quindi il costo a due fasi, che prima ci aveva ucciso, adesso gioca a nostro favore: </a:t>
            </a:r>
            <a:r>
              <a:rPr lang="it-IT" noProof="0" dirty="0" err="1"/>
              <a:t>prefill</a:t>
            </a:r>
            <a:r>
              <a:rPr lang="it-IT" noProof="0" dirty="0"/>
              <a:t> minuscolo, e </a:t>
            </a:r>
            <a:r>
              <a:rPr lang="it-IT" noProof="0" dirty="0" err="1"/>
              <a:t>decode</a:t>
            </a:r>
            <a:r>
              <a:rPr lang="it-IT" noProof="0" dirty="0"/>
              <a:t> che produce proprio quello che vogliamo.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qui la generazione </a:t>
            </a:r>
            <a:r>
              <a:rPr lang="it-IT" noProof="0" dirty="0" err="1"/>
              <a:t>instruction-tuned</a:t>
            </a:r>
            <a:r>
              <a:rPr lang="it-IT" noProof="0" dirty="0"/>
              <a:t> ha senso, perché le ricette sono testo nuovo.</a:t>
            </a:r>
          </a:p>
          <a:p>
            <a:r>
              <a:rPr lang="it-IT" noProof="0" dirty="0"/>
              <a:t>Sono inventate sul momento.</a:t>
            </a:r>
          </a:p>
          <a:p>
            <a:r>
              <a:rPr lang="it-IT" noProof="0" dirty="0"/>
              <a:t>È l’unico compito nell’app che nessun confronto, nessun vocabolario, nessun </a:t>
            </a:r>
            <a:r>
              <a:rPr lang="it-IT" noProof="0" dirty="0" err="1"/>
              <a:t>lookup</a:t>
            </a:r>
            <a:r>
              <a:rPr lang="it-IT" noProof="0" dirty="0"/>
              <a:t> potrebbe mai svolgere.</a:t>
            </a:r>
          </a:p>
          <a:p>
            <a:r>
              <a:rPr lang="it-IT" noProof="0" dirty="0"/>
              <a:t>Ma per cui serve necessariamente un LLM.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c’è un altro vantaggio: per le ricette la creatività serve.</a:t>
            </a:r>
          </a:p>
          <a:p>
            <a:r>
              <a:rPr lang="it-IT" noProof="0" dirty="0"/>
              <a:t>Qui possiamo alzare un po’ la temperatura, lasciare che il modello proponga abbinamenti che non ci aspettavamo.</a:t>
            </a:r>
          </a:p>
          <a:p>
            <a:r>
              <a:rPr lang="it-IT" noProof="0" dirty="0"/>
              <a:t>Nel rilevamento la creatività era un difetto; qui diventa il prodotto.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Gira tramite </a:t>
            </a:r>
            <a:r>
              <a:rPr lang="it-IT" noProof="0" dirty="0" err="1"/>
              <a:t>LiteRT</a:t>
            </a:r>
            <a:r>
              <a:rPr lang="it-IT" noProof="0" dirty="0"/>
              <a:t>-LM, con la GPU come prima scelta.</a:t>
            </a:r>
          </a:p>
          <a:p>
            <a:r>
              <a:rPr lang="it-IT" noProof="0" dirty="0"/>
              <a:t>E siccome le GPU dei telefoni Android sono un mondo variegato, se la GPU si blocca o dà errore, l’app se ne accorge, passa alla CPU e se lo ricorda per le volte successive.</a:t>
            </a:r>
          </a:p>
          <a:p>
            <a:r>
              <a:rPr lang="it-IT" noProof="0" dirty="0"/>
              <a:t>E </a:t>
            </a:r>
            <a:r>
              <a:rPr lang="it-IT" noProof="0" dirty="0" err="1"/>
              <a:t>LiteRT</a:t>
            </a:r>
            <a:r>
              <a:rPr lang="it-IT" noProof="0" dirty="0"/>
              <a:t>-LM supporta anche lo streaming della risposta, token per token.</a:t>
            </a:r>
          </a:p>
          <a:p>
            <a:r>
              <a:rPr lang="it-IT" noProof="0" dirty="0"/>
              <a:t>Lato UX, questo cambia tutto.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Le ricette sono creazione, non riconoscimento.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Passare da un inventario a delle idee per la cena è esattamente il motivo per cui esistono i modelli generativi.</a:t>
            </a:r>
          </a:p>
          <a:p>
            <a:r>
              <a:rPr lang="it-IT" noProof="0" dirty="0"/>
              <a:t>Nessun vocabolario chiuso può farlo.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Tre accorgimenti che ci hanno salvato.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Primo: </a:t>
            </a:r>
            <a:r>
              <a:rPr lang="it-IT" noProof="0" dirty="0" err="1"/>
              <a:t>prompting</a:t>
            </a:r>
            <a:r>
              <a:rPr lang="it-IT" noProof="0" dirty="0"/>
              <a:t> a due stadi.</a:t>
            </a:r>
          </a:p>
          <a:p>
            <a:r>
              <a:rPr lang="it-IT" noProof="0" dirty="0"/>
              <a:t>Prima chiediamo una lista di cinque ricette, con titolo, tempo, difficoltà e ingredienti usati, ma senza procedimento.</a:t>
            </a:r>
          </a:p>
          <a:p>
            <a:r>
              <a:rPr lang="it-IT" noProof="0" dirty="0"/>
              <a:t>Poi, solo quando l’utente ne apre una, generiamo passaggi e varianti.</a:t>
            </a:r>
          </a:p>
          <a:p>
            <a:r>
              <a:rPr lang="it-IT" noProof="0" dirty="0"/>
              <a:t>Prompt più corti, output più corti, meno attesa.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Secondo: </a:t>
            </a:r>
            <a:r>
              <a:rPr lang="it-IT" noProof="0" dirty="0" err="1"/>
              <a:t>parsing</a:t>
            </a:r>
            <a:r>
              <a:rPr lang="it-IT" noProof="0" dirty="0"/>
              <a:t> JSON difensivo con </a:t>
            </a:r>
            <a:r>
              <a:rPr lang="it-IT" noProof="0" dirty="0" err="1"/>
              <a:t>retry</a:t>
            </a:r>
            <a:r>
              <a:rPr lang="it-IT" noProof="0" dirty="0"/>
              <a:t> silenziosi.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noProof="0" dirty="0"/>
              <a:t>È facile che i modelli piccoli rompano i contratti di formato: una virgola di troppo, un blocco </a:t>
            </a:r>
            <a:r>
              <a:rPr lang="it-IT" noProof="0" dirty="0" err="1"/>
              <a:t>markdown</a:t>
            </a:r>
            <a:r>
              <a:rPr lang="it-IT" noProof="0" dirty="0"/>
              <a:t> attorno al JSON, una frase di cortesia prima della risposta.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noProof="0" dirty="0"/>
              <a:t>Non è un bug raro: è il comportamento normale.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noProof="0" dirty="0"/>
              <a:t>Quindi prevedetelo, non scusatevi con l’utente.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In pratica: togliamo i blocchi </a:t>
            </a:r>
            <a:r>
              <a:rPr lang="it-IT" noProof="0" dirty="0" err="1"/>
              <a:t>markdown</a:t>
            </a:r>
            <a:r>
              <a:rPr lang="it-IT" noProof="0" dirty="0"/>
              <a:t>, estraiamo tutti gli oggetti JSON che troviamo, accettiamo anche nomi dei campi scritti in modo diverso, e se una sola ricetta è rotta scartiamo quella, non tutta la lista.</a:t>
            </a:r>
          </a:p>
          <a:p>
            <a:r>
              <a:rPr lang="it-IT" noProof="0" dirty="0"/>
              <a:t>E se proprio non c’è niente di valido, riproviamo, fino a quattro volte, prima di mostrare un errore all’utente.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Terzo: senza foto, la generazione solo testo va a 15–25 token al secondo.</a:t>
            </a:r>
          </a:p>
          <a:p>
            <a:r>
              <a:rPr lang="it-IT" noProof="0" dirty="0"/>
              <a:t>E siccome la lista è leggera, e i passaggi li generiamo solo per la ricetta che aprite, l’attesa resta breve.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Capitolo cinque: la distribuzione.</a:t>
            </a:r>
          </a:p>
          <a:p>
            <a:r>
              <a:rPr lang="it-IT" noProof="0" dirty="0"/>
              <a:t>Perché avere tre modelli è bello, ma poi bisogna farli arrivare sul telefono.</a:t>
            </a:r>
          </a:p>
          <a:p>
            <a:r>
              <a:rPr lang="it-IT" noProof="0" dirty="0"/>
              <a:t>E ogni modello viaggia in modo diverso.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Gemini Nano: zero megabyte. Lo gestisce AICore. Nel nostro APK c’è solo un prompt.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MobileCLIP-S2: circa 140 megabyte.</a:t>
            </a:r>
          </a:p>
          <a:p>
            <a:r>
              <a:rPr lang="it-IT" noProof="0" dirty="0"/>
              <a:t>Lo includiamo nell’APK come qualsiasi altro asset.</a:t>
            </a:r>
          </a:p>
          <a:p>
            <a:r>
              <a:rPr lang="it-IT" noProof="0" dirty="0"/>
              <a:t>Questo ha un vantaggio enorme: il rilevamento funziona subito dopo l’installazione, anche offline, anche al primo avvio.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Gemma: 2,6 gigabyte di pesi.</a:t>
            </a:r>
          </a:p>
          <a:p>
            <a:r>
              <a:rPr lang="it-IT" noProof="0" dirty="0"/>
              <a:t>Troppo grande per qualsiasi APK da pubblicare sul Play Store.</a:t>
            </a:r>
          </a:p>
          <a:p>
            <a:r>
              <a:rPr lang="it-IT" noProof="0" dirty="0"/>
              <a:t>E l’alternativa, scrivere a mano un </a:t>
            </a:r>
            <a:r>
              <a:rPr lang="it-IT" noProof="0" dirty="0" err="1"/>
              <a:t>downloader</a:t>
            </a:r>
            <a:r>
              <a:rPr lang="it-IT" noProof="0" dirty="0"/>
              <a:t> riprendibile, che gestisca rete che cade, spazio che finisce, integrità dei file, aggiornamenti, è un progetto a sé.</a:t>
            </a:r>
          </a:p>
          <a:p>
            <a:r>
              <a:rPr lang="it-IT" noProof="0" dirty="0"/>
              <a:t>E noi non volevamo che la nostra app non scaricasse niente da internet.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c’è anche un tema di esperienza utente: non potete chiedere a qualcuno di scaricare 2,6 giga al primo avvio, magari in 4G.</a:t>
            </a:r>
          </a:p>
          <a:p>
            <a:r>
              <a:rPr lang="it-IT" noProof="0" dirty="0"/>
              <a:t>Ecco perché il rilevamento deve funzionare subito, e le ricette possono arrivare un po’ dopo.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La soluzione sono gli AI pack tramite Play for On-device AI.</a:t>
            </a:r>
          </a:p>
          <a:p>
            <a:r>
              <a:rPr lang="it-IT" noProof="0" dirty="0"/>
              <a:t>Impacchettate il modello come un AI pack, e Google Play si occupa della consegna, esattamente come fa con l’app.</a:t>
            </a:r>
          </a:p>
          <a:p>
            <a:r>
              <a:rPr lang="it-IT" noProof="0" dirty="0"/>
              <a:t>La distribuzione smette di essere un problema vostro.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potete scegliere quando consegnarlo: all’installazione, in modalità fast-follow, cioè subito dopo l’installazione, in background, oppure on demand.</a:t>
            </a:r>
          </a:p>
          <a:p>
            <a:r>
              <a:rPr lang="it-IT" noProof="0" dirty="0"/>
              <a:t>Noi usiamo fast-follow.</a:t>
            </a:r>
          </a:p>
          <a:p>
            <a:r>
              <a:rPr lang="it-IT" noProof="0" dirty="0"/>
              <a:t>E siccome Play ha un limite di dimensione per singolo pack, abbiamo diviso Gemma in tre AI pack: al primo avvio l’app li riassembla nel modello, e poi i pack vengono rimossi per non occupare spazio 2 volte.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ora, rimettiamo insieme i pezzi.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Ecco il quadro completo: 3 modelli, 3 compiti, un’app.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Gemini Nano è l’acceleratore.</a:t>
            </a:r>
          </a:p>
          <a:p>
            <a:r>
              <a:rPr lang="it-IT" noProof="0" dirty="0"/>
              <a:t>Rilevamento multimodale gratuito sui flagship, sempre protetto da checkStatus().</a:t>
            </a:r>
          </a:p>
          <a:p>
            <a:r>
              <a:rPr lang="it-IT" noProof="0" dirty="0"/>
              <a:t>Se c’è, lo usiamo. Se non c’è, nessun problema.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MobileCLIP-S2 è la base.</a:t>
            </a:r>
          </a:p>
          <a:p>
            <a:r>
              <a:rPr lang="it-IT" noProof="0" dirty="0"/>
              <a:t>Rilevamento zero-shot in pochi secondi, su ogni telefono.</a:t>
            </a:r>
          </a:p>
          <a:p>
            <a:r>
              <a:rPr lang="it-IT" noProof="0" dirty="0"/>
              <a:t>È la base sotto cui l’esperienza non scende mai.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Gemma è il creatore.</a:t>
            </a:r>
          </a:p>
          <a:p>
            <a:r>
              <a:rPr lang="it-IT" noProof="0" dirty="0"/>
              <a:t>Ricette generate on-device: l’unico compito che solo un LLM sa fare.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il quarto elemento, che è forse il più importante lato architettura: una sola interfaccia nel codice.</a:t>
            </a:r>
          </a:p>
          <a:p>
            <a:r>
              <a:rPr lang="it-IT" noProof="0" dirty="0"/>
              <a:t>Tutti i motori di rilevamento implementano lo stesso contratto.</a:t>
            </a:r>
          </a:p>
          <a:p>
            <a:r>
              <a:rPr lang="it-IT" noProof="0" dirty="0"/>
              <a:t>La UI non sa mai quale motore ha risposto. Non le interessa.</a:t>
            </a:r>
          </a:p>
          <a:p>
            <a:r>
              <a:rPr lang="it-IT" noProof="0" dirty="0"/>
              <a:t>Oggi risponde Nano, domani MobileCLIP, e l’utente vede sempre la stessa esperienza.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In pratica è un pattern che conosciamo benissimo: un’interfaccia, più implementazioni, e una piccola strategia che sceglie a </a:t>
            </a:r>
            <a:r>
              <a:rPr lang="it-IT" noProof="0" dirty="0" err="1"/>
              <a:t>runtime</a:t>
            </a:r>
            <a:r>
              <a:rPr lang="it-IT" noProof="0" dirty="0"/>
              <a:t> la migliore disponibile.</a:t>
            </a:r>
          </a:p>
          <a:p>
            <a:r>
              <a:rPr lang="it-IT" noProof="0" dirty="0"/>
              <a:t>Prima provo Nano; se checkStatus() dice di no, uso MobileCLIP.</a:t>
            </a:r>
          </a:p>
          <a:p>
            <a:r>
              <a:rPr lang="it-IT" noProof="0" dirty="0"/>
              <a:t>Niente di magico: buona architettura Android, applicata all’AI.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Questo permette di aggiungere, togliere o sostituire modelli senza toccare una riga di UI.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Chiudiamo con quello che vorremmo vi portaste a casa.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noProof="0" dirty="0"/>
              <a:t>3 punti chiave.</a:t>
            </a:r>
          </a:p>
          <a:p>
            <a:endParaRPr lang="it-IT" noProof="0" dirty="0"/>
          </a:p>
          <a:p>
            <a:r>
              <a:rPr lang="it-IT" noProof="0" dirty="0"/>
              <a:t>1: il modello giusto prima del modello veloce.</a:t>
            </a:r>
          </a:p>
          <a:p>
            <a:r>
              <a:rPr lang="it-IT" noProof="0" dirty="0"/>
              <a:t>Riconoscere è confrontare, scrivere è generare.</a:t>
            </a:r>
          </a:p>
          <a:p>
            <a:r>
              <a:rPr lang="it-IT" noProof="0" dirty="0"/>
              <a:t>Scegliere quello giusto è la differenza tra secondi e minuti.</a:t>
            </a:r>
          </a:p>
          <a:p>
            <a:r>
              <a:rPr lang="it-IT" noProof="0" dirty="0"/>
              <a:t>E a volte il classificatore più economico di sempre è un file di testo: </a:t>
            </a:r>
            <a:r>
              <a:rPr lang="it-IT" noProof="0" dirty="0" err="1"/>
              <a:t>embedding</a:t>
            </a:r>
            <a:r>
              <a:rPr lang="it-IT" noProof="0" dirty="0"/>
              <a:t> delle etichette calcolati offline, zero training, zero infrastruttura.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2: l’AI di piattaforma è un upgrade, non la base.</a:t>
            </a:r>
          </a:p>
          <a:p>
            <a:r>
              <a:rPr lang="it-IT" noProof="0" dirty="0"/>
              <a:t>Controllate checkStatus() a ogni chiamata, perché la disponibilità di Nano cambia a </a:t>
            </a:r>
            <a:r>
              <a:rPr lang="it-IT" noProof="0" dirty="0" err="1"/>
              <a:t>runtime</a:t>
            </a:r>
            <a:r>
              <a:rPr lang="it-IT" noProof="0" dirty="0"/>
              <a:t>.</a:t>
            </a:r>
          </a:p>
          <a:p>
            <a:r>
              <a:rPr lang="it-IT" noProof="0" dirty="0"/>
              <a:t>E sotto tenete sempre un </a:t>
            </a:r>
            <a:r>
              <a:rPr lang="it-IT" noProof="0" dirty="0" err="1"/>
              <a:t>fallback</a:t>
            </a:r>
            <a:r>
              <a:rPr lang="it-IT" noProof="0" dirty="0"/>
              <a:t> vero: un altro motore, non un messaggio di errore.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3: fate i conti prima di promettere.</a:t>
            </a:r>
          </a:p>
          <a:p>
            <a:r>
              <a:rPr lang="it-IT" noProof="0" dirty="0"/>
              <a:t>Token in uscita, giga di RAM, giga da distribuire.</a:t>
            </a:r>
          </a:p>
          <a:p>
            <a:r>
              <a:rPr lang="it-IT" noProof="0" dirty="0"/>
              <a:t>È quell’aritmetica che decide se la vostra feature ci mette secondi o minuti.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Tutti questi punti non valgono solo per un’app di ricette.</a:t>
            </a:r>
          </a:p>
          <a:p>
            <a:r>
              <a:rPr lang="it-IT" noProof="0" dirty="0"/>
              <a:t>Valgono per qualsiasi feature AI on-device: scansione di documenti, riconoscimento di prodotti, assistenti nelle app.</a:t>
            </a:r>
          </a:p>
          <a:p>
            <a:r>
              <a:rPr lang="it-IT" noProof="0" dirty="0"/>
              <a:t>Il pattern è sempre lo stesso: percezione economica come base, generazione dove serve davvero, e piattaforma come upgrade.</a:t>
            </a:r>
          </a:p>
          <a:p>
            <a:endParaRPr lang="it-IT" noProof="0" dirty="0"/>
          </a:p>
          <a:p>
            <a:endParaRPr lang="it-IT" noProof="0" dirty="0"/>
          </a:p>
          <a:p>
            <a:r>
              <a:rPr lang="it-IT" noProof="0" dirty="0"/>
              <a:t>E se proprio dovete ricordarvi una sola cosa: prima di chiedervi come rendere un modello più veloce, chiedetevi se è il modello giusto.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E questo è tutto. Grazie mille!</a:t>
            </a:r>
          </a:p>
          <a:p>
            <a:endParaRPr lang="it-IT" dirty="0"/>
          </a:p>
          <a:p>
            <a:r>
              <a:rPr lang="it-IT" dirty="0"/>
              <a:t>Il codice di AI Pantry è open source: lo trovate su GitHub, al link che vedete qui, github.com/MatriscianoSalvatore/ai-</a:t>
            </a:r>
            <a:r>
              <a:rPr lang="it-IT" dirty="0" err="1"/>
              <a:t>pantry</a:t>
            </a:r>
            <a:r>
              <a:rPr lang="it-IT" dirty="0"/>
              <a:t>.</a:t>
            </a:r>
          </a:p>
          <a:p>
            <a:r>
              <a:rPr lang="it-IT" dirty="0"/>
              <a:t>Scaricatelo, provatelo sul vostro telefono, apriteci una </a:t>
            </a:r>
            <a:r>
              <a:rPr lang="it-IT" dirty="0" err="1"/>
              <a:t>issue</a:t>
            </a:r>
            <a:r>
              <a:rPr lang="it-IT" dirty="0"/>
              <a:t> se si rompe. Nella repo trovate anche le slide del talk.</a:t>
            </a:r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E se volete continuare la chiacchierata, trovate i nostri contatti qui: il sito di Salvatore e il mio LinkedIn.</a:t>
            </a:r>
          </a:p>
          <a:p>
            <a:r>
              <a:rPr lang="it-IT" dirty="0"/>
              <a:t>Oppure fermateci pure dopo, siamo qui tutto il giorno.</a:t>
            </a:r>
          </a:p>
          <a:p>
            <a:endParaRPr lang="it-IT" dirty="0"/>
          </a:p>
          <a:p>
            <a:br>
              <a:rPr lang="it-IT" dirty="0"/>
            </a:br>
            <a:r>
              <a:rPr lang="it-IT" dirty="0"/>
              <a:t>Grazie ancora alla DevFest Milano e a tutti voi.</a:t>
            </a:r>
          </a:p>
          <a:p>
            <a:r>
              <a:rPr lang="it-IT" dirty="0"/>
              <a:t>Se ci sono domande, siamo qui!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it-IT" noProof="0" dirty="0"/>
              <a:t>Prima di salutarci, un’ultima cosa.</a:t>
            </a:r>
          </a:p>
          <a:p>
            <a:endParaRPr lang="it-IT" noProof="0" dirty="0"/>
          </a:p>
          <a:p>
            <a:r>
              <a:rPr lang="it-IT" noProof="0" dirty="0"/>
              <a:t>Potete Inquadrare questo QR per lasciarci un feedback sul talk.</a:t>
            </a:r>
          </a:p>
          <a:p>
            <a:endParaRPr lang="it-IT" noProof="0" dirty="0"/>
          </a:p>
          <a:p>
            <a:r>
              <a:rPr lang="it-IT" noProof="0" dirty="0"/>
              <a:t>Ci aiuta a migliorare, e aiuta gli organizzatori dell’evento a capire cosa è piaciuto.</a:t>
            </a:r>
          </a:p>
          <a:p>
            <a:endParaRPr lang="it-IT" noProof="0" dirty="0"/>
          </a:p>
          <a:p>
            <a:r>
              <a:rPr lang="it-IT" noProof="0" dirty="0"/>
              <a:t>E ora, se ci sono domande, siamo qui!</a:t>
            </a:r>
          </a:p>
        </p:txBody>
      </p:sp>
    </p:spTree>
    <p:extLst>
      <p:ext uri="{BB962C8B-B14F-4D97-AF65-F5344CB8AC3E}">
        <p14:creationId xmlns:p14="http://schemas.microsoft.com/office/powerpoint/2010/main" val="2902824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3920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03EEA6-6ABF-11D4-88FA-ACF13666F0DE}"/>
              </a:ext>
            </a:extLst>
          </p:cNvPr>
          <p:cNvSpPr txBox="1"/>
          <p:nvPr/>
        </p:nvSpPr>
        <p:spPr>
          <a:xfrm>
            <a:off x="822960" y="1645920"/>
            <a:ext cx="6335486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i="0" noProof="0" dirty="0">
                <a:solidFill>
                  <a:srgbClr val="F1F5F9"/>
                </a:solidFill>
                <a:latin typeface="Helvetica Neue"/>
              </a:rPr>
              <a:t>AI On-Device</a:t>
            </a:r>
          </a:p>
          <a:p>
            <a:r>
              <a:rPr lang="en-US" sz="2400" noProof="0" dirty="0">
                <a:solidFill>
                  <a:srgbClr val="94A3B8"/>
                </a:solidFill>
                <a:latin typeface="Helvetica Neue"/>
              </a:rPr>
              <a:t>Cooking from your fridge with Gemini Nano, MobileCLIP and Gemma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5F9E6A-2A5F-5C9A-9CC3-6E24B162D563}"/>
              </a:ext>
            </a:extLst>
          </p:cNvPr>
          <p:cNvSpPr/>
          <p:nvPr/>
        </p:nvSpPr>
        <p:spPr>
          <a:xfrm>
            <a:off x="868680" y="3749042"/>
            <a:ext cx="2011680" cy="508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8713B6-4549-8639-0BC7-1F9D99F7A18A}"/>
              </a:ext>
            </a:extLst>
          </p:cNvPr>
          <p:cNvSpPr txBox="1"/>
          <p:nvPr/>
        </p:nvSpPr>
        <p:spPr>
          <a:xfrm>
            <a:off x="822960" y="4937760"/>
            <a:ext cx="5162182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i="0" noProof="0" dirty="0">
                <a:solidFill>
                  <a:srgbClr val="F1F5F9"/>
                </a:solidFill>
                <a:latin typeface="Helvetica Neue"/>
              </a:rPr>
              <a:t>Salvatore Matrisciano  ·  Stefano Soriano</a:t>
            </a:r>
          </a:p>
          <a:p>
            <a:r>
              <a:rPr lang="en-US" sz="1600" b="0" i="0" noProof="0" dirty="0">
                <a:solidFill>
                  <a:srgbClr val="94A3B8"/>
                </a:solidFill>
                <a:latin typeface="Helvetica Neue"/>
              </a:rPr>
              <a:t>Mobile Developers</a:t>
            </a:r>
          </a:p>
          <a:p>
            <a:endParaRPr lang="en-US" sz="1600" b="0" i="0" noProof="0" dirty="0">
              <a:solidFill>
                <a:srgbClr val="94A3B8"/>
              </a:solidFill>
              <a:latin typeface="Helvetica Neue"/>
            </a:endParaRPr>
          </a:p>
          <a:p>
            <a:r>
              <a:rPr lang="en-US" sz="1600" b="0" i="0" noProof="0" dirty="0">
                <a:solidFill>
                  <a:srgbClr val="4ADE80"/>
                </a:solidFill>
                <a:latin typeface="Helvetica Neue"/>
              </a:rPr>
              <a:t>DevFest Milano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701386-B9F4-B853-287B-224B1F83D549}"/>
              </a:ext>
            </a:extLst>
          </p:cNvPr>
          <p:cNvSpPr txBox="1"/>
          <p:nvPr/>
        </p:nvSpPr>
        <p:spPr>
          <a:xfrm>
            <a:off x="5257800" y="1623060"/>
            <a:ext cx="6362700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lang="it-IT" sz="3400" b="1" i="0" noProof="0" dirty="0">
                <a:solidFill>
                  <a:srgbClr val="F1F5F9"/>
                </a:solidFill>
                <a:latin typeface="Helvetica Neue"/>
              </a:rPr>
              <a:t>Cosa succede quando decidi di far girare tutta l’AI della tua app direttamente sul telefono?</a:t>
            </a:r>
          </a:p>
          <a:p>
            <a:pPr>
              <a:spcAft>
                <a:spcPts val="1600"/>
              </a:spcAft>
            </a:pPr>
            <a:r>
              <a:rPr lang="it-IT" sz="2400" noProof="0" dirty="0">
                <a:solidFill>
                  <a:srgbClr val="4ADE80"/>
                </a:solidFill>
                <a:latin typeface="Helvetica Neue"/>
              </a:rPr>
              <a:t>Niente cloud. Niente API key. Nessuna foto della cucina dei tuoi utenti su un server.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1AC9E2-9F0C-2B25-B257-BB4F03A26B9B}"/>
              </a:ext>
            </a:extLst>
          </p:cNvPr>
          <p:cNvSpPr/>
          <p:nvPr/>
        </p:nvSpPr>
        <p:spPr>
          <a:xfrm>
            <a:off x="5270500" y="6041392"/>
            <a:ext cx="2011680" cy="508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818455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it-IT" sz="1850" noProof="0" dirty="0">
                <a:solidFill>
                  <a:srgbClr val="49DE8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L’APP</a:t>
            </a:r>
          </a:p>
        </p:txBody>
      </p:sp>
      <p:sp>
        <p:nvSpPr>
          <p:cNvPr id="4" name="Text 1"/>
          <p:cNvSpPr/>
          <p:nvPr/>
        </p:nvSpPr>
        <p:spPr>
          <a:xfrm>
            <a:off x="5233360" y="1201142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3700" noProof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Pantry: scansiona il frigo, ottieni la cena</a:t>
            </a: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0349" y="2715648"/>
            <a:ext cx="283461" cy="283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47608" y="2697480"/>
            <a:ext cx="5682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00" noProof="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Fotografi il frigo → riconosce gli ingredienti</a:t>
            </a: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491" y="3630462"/>
            <a:ext cx="283461" cy="2834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47608" y="3611880"/>
            <a:ext cx="5682612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00" noProof="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 ricorda la tua dispensa</a:t>
            </a: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492" y="4546402"/>
            <a:ext cx="283461" cy="2834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47608" y="4526280"/>
            <a:ext cx="5682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00" noProof="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 propone cosa cucinare e scrive la ricetta</a:t>
            </a: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491" y="5491460"/>
            <a:ext cx="283461" cy="28346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847608" y="5477256"/>
            <a:ext cx="5682612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00" noProof="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100% on-device: foto e prompt non escono dal telefono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5400"/>
            <a:ext cx="4800480" cy="68834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0368" y="548640"/>
            <a:ext cx="630021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5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MOTIVAZIONE</a:t>
            </a:r>
          </a:p>
        </p:txBody>
      </p:sp>
      <p:sp>
        <p:nvSpPr>
          <p:cNvPr id="4" name="Text 1"/>
          <p:cNvSpPr/>
          <p:nvPr/>
        </p:nvSpPr>
        <p:spPr>
          <a:xfrm>
            <a:off x="5230368" y="877824"/>
            <a:ext cx="6300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37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Perché on-device?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it-IT" sz="37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Privacy, prima di tutto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30368" y="2240280"/>
            <a:ext cx="6300216" cy="875157"/>
          </a:xfrm>
          <a:prstGeom prst="roundRect">
            <a:avLst>
              <a:gd name="adj" fmla="val 7313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</a:ln>
        </p:spPr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5413248" y="2386584"/>
            <a:ext cx="5934455" cy="2885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9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Nessun server che vede le foto</a:t>
            </a:r>
            <a:endParaRPr lang="it-IT" sz="1900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413248" y="2720848"/>
            <a:ext cx="5934455" cy="2665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700" noProof="0" dirty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Le foto della cucina non escono dal telefono.</a:t>
            </a:r>
            <a:endParaRPr lang="it-IT" sz="1700" noProof="0" dirty="0">
              <a:solidFill>
                <a:srgbClr val="94A3B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230368" y="3225165"/>
            <a:ext cx="6300216" cy="875157"/>
          </a:xfrm>
          <a:prstGeom prst="roundRect">
            <a:avLst>
              <a:gd name="adj" fmla="val 7313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</a:ln>
        </p:spPr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5413248" y="3371469"/>
            <a:ext cx="5934455" cy="2885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it-IT" sz="19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Nessun </a:t>
            </a: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Processing Agreement (DPA)</a:t>
            </a:r>
            <a:endParaRPr lang="it-IT" sz="1900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5413248" y="3705733"/>
            <a:ext cx="5934455" cy="2665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700" noProof="0" dirty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Nessun fornitore riceve le foto: niente da firmare.</a:t>
            </a:r>
            <a:endParaRPr lang="it-IT" sz="1700" noProof="0" dirty="0">
              <a:solidFill>
                <a:srgbClr val="94A3B8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230368" y="4210050"/>
            <a:ext cx="6300216" cy="875157"/>
          </a:xfrm>
          <a:prstGeom prst="roundRect">
            <a:avLst>
              <a:gd name="adj" fmla="val 7313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</a:ln>
        </p:spPr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413248" y="4356354"/>
            <a:ext cx="5934455" cy="2885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it-IT" sz="19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Nessun </a:t>
            </a: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problema di data retention</a:t>
            </a:r>
            <a:endParaRPr lang="it-IT" sz="1900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13248" y="4690618"/>
            <a:ext cx="5934455" cy="2665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700" noProof="0" dirty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Se non memorizzi mai dati, la retention non è un problema.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5194935"/>
            <a:ext cx="6300216" cy="875157"/>
          </a:xfrm>
          <a:prstGeom prst="roundRect">
            <a:avLst>
              <a:gd name="adj" fmla="val 7313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</a:ln>
        </p:spPr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5413248" y="5341239"/>
            <a:ext cx="5934455" cy="2885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9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Nessun log da far trapelare</a:t>
            </a:r>
            <a:endParaRPr lang="it-IT" sz="1900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5413248" y="5675503"/>
            <a:ext cx="5934455" cy="2665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700" noProof="0" dirty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Il dato più sicuro è quello che non hai mai raccolto.</a:t>
            </a:r>
            <a:endParaRPr lang="it-IT" sz="1700" noProof="0" dirty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87221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5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MOTIVAZIONE</a:t>
            </a:r>
          </a:p>
        </p:txBody>
      </p:sp>
      <p:sp>
        <p:nvSpPr>
          <p:cNvPr id="3" name="Text 1"/>
          <p:cNvSpPr/>
          <p:nvPr/>
        </p:nvSpPr>
        <p:spPr>
          <a:xfrm>
            <a:off x="658368" y="908304"/>
            <a:ext cx="10872216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37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…poi resilienza e costi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292096"/>
            <a:ext cx="5340096" cy="1448816"/>
          </a:xfrm>
          <a:prstGeom prst="roundRect">
            <a:avLst>
              <a:gd name="adj" fmla="val 5105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</a:ln>
        </p:spPr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841247" y="2438400"/>
            <a:ext cx="4974336" cy="331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235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Funziona anche senza internet</a:t>
            </a:r>
            <a:endParaRPr lang="it-IT" sz="2350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841247" y="2925064"/>
            <a:ext cx="4974336" cy="602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900" noProof="0" dirty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Senza rete, in modalità aereo, con segnale debole (anche in cucine seminterrate)</a:t>
            </a:r>
            <a:endParaRPr lang="it-IT" sz="1900" noProof="0" dirty="0">
              <a:solidFill>
                <a:srgbClr val="94A3B8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90488" y="2292096"/>
            <a:ext cx="5340096" cy="1448816"/>
          </a:xfrm>
          <a:prstGeom prst="roundRect">
            <a:avLst>
              <a:gd name="adj" fmla="val 5105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</a:ln>
        </p:spPr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373368" y="2438400"/>
            <a:ext cx="4974336" cy="331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235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Nessun round-trip verso il server</a:t>
            </a:r>
            <a:endParaRPr lang="it-IT" sz="2350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6373368" y="2925064"/>
            <a:ext cx="4974336" cy="602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900" noProof="0" dirty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Niente latenza di rete: il “backend” è già in tasca.</a:t>
            </a:r>
            <a:endParaRPr lang="it-IT" sz="1900" noProof="0" dirty="0">
              <a:solidFill>
                <a:srgbClr val="94A3B8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3981704"/>
            <a:ext cx="5340096" cy="1448816"/>
          </a:xfrm>
          <a:prstGeom prst="roundRect">
            <a:avLst>
              <a:gd name="adj" fmla="val 4085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</a:ln>
        </p:spPr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841246" y="4128008"/>
            <a:ext cx="5157215" cy="644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235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Il costo del cloud cresce con l’uso</a:t>
            </a:r>
            <a:endParaRPr lang="it-IT" sz="2350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841247" y="4614672"/>
            <a:ext cx="4974336" cy="602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900" noProof="0" dirty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Ogni foto si paga, per ogni utente, ogni giorno.</a:t>
            </a:r>
            <a:endParaRPr lang="it-IT" sz="1900" noProof="0" dirty="0">
              <a:solidFill>
                <a:srgbClr val="94A3B8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90488" y="3981704"/>
            <a:ext cx="5340096" cy="1448816"/>
          </a:xfrm>
          <a:prstGeom prst="roundRect">
            <a:avLst>
              <a:gd name="adj" fmla="val 4085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</a:ln>
        </p:spPr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6373368" y="4128008"/>
            <a:ext cx="4974336" cy="331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235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On-device ribalta il costo</a:t>
            </a:r>
            <a:endParaRPr lang="it-IT" sz="2350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373368" y="4614672"/>
            <a:ext cx="4974336" cy="602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900" noProof="0" dirty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L’inferenza gira sul telefono dell’utente: bolletta cloud a zero.</a:t>
            </a:r>
            <a:endParaRPr lang="it-IT" sz="1900" noProof="0" dirty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58368" y="566928"/>
            <a:ext cx="630021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0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PRIMA SCELTA</a:t>
            </a:r>
          </a:p>
        </p:txBody>
      </p:sp>
      <p:sp>
        <p:nvSpPr>
          <p:cNvPr id="4" name="Text 1"/>
          <p:cNvSpPr/>
          <p:nvPr/>
        </p:nvSpPr>
        <p:spPr>
          <a:xfrm>
            <a:off x="658368" y="896112"/>
            <a:ext cx="6300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37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La scelta ovvia: Gemini Nano</a:t>
            </a:r>
          </a:p>
        </p:txBody>
      </p:sp>
      <p:sp>
        <p:nvSpPr>
          <p:cNvPr id="5" name="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1475" y="2514600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0F172A"/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 3"/>
          <p:cNvSpPr/>
          <p:nvPr/>
        </p:nvSpPr>
        <p:spPr>
          <a:xfrm>
            <a:off x="1261872" y="2575560"/>
            <a:ext cx="5696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000"/>
              </a:lnSpc>
              <a:spcAft>
                <a:spcPts val="850"/>
              </a:spcAft>
              <a:buNone/>
            </a:pPr>
            <a:r>
              <a:rPr lang="it-IT" sz="1850" noProof="0" dirty="0">
                <a:solidFill>
                  <a:srgbClr val="EBEDF0"/>
                </a:solidFill>
                <a:latin typeface="Geist"/>
                <a:ea typeface="Geist"/>
                <a:cs typeface="Geist"/>
              </a:rPr>
              <a:t>Già nel sistema operativo, multimodale</a:t>
            </a:r>
          </a:p>
        </p:txBody>
      </p:sp>
      <p:sp>
        <p:nvSpPr>
          <p:cNvPr id="7" name="Shape 4"/>
          <p:cNvSpPr/>
          <p:nvPr/>
        </p:nvSpPr>
        <p:spPr>
          <a:xfrm>
            <a:off x="661475" y="3291840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0F172A"/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8" name="Text 5"/>
          <p:cNvSpPr/>
          <p:nvPr/>
        </p:nvSpPr>
        <p:spPr>
          <a:xfrm>
            <a:off x="1261872" y="3352800"/>
            <a:ext cx="5696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7000"/>
              </a:lnSpc>
              <a:spcAft>
                <a:spcPts val="850"/>
              </a:spcAft>
            </a:pPr>
            <a:r>
              <a:rPr lang="it-IT" sz="1850" noProof="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Una dipendenza, </a:t>
            </a:r>
            <a:r>
              <a:rPr lang="it-IT" sz="1850" noProof="0" dirty="0">
                <a:solidFill>
                  <a:srgbClr val="EBEDF0"/>
                </a:solidFill>
                <a:latin typeface="Geist"/>
                <a:ea typeface="Geist"/>
                <a:cs typeface="Geist"/>
              </a:rPr>
              <a:t>zero megabyte nell’APK</a:t>
            </a:r>
          </a:p>
        </p:txBody>
      </p:sp>
      <p:sp>
        <p:nvSpPr>
          <p:cNvPr id="9" name="Shape 6"/>
          <p:cNvSpPr/>
          <p:nvPr/>
        </p:nvSpPr>
        <p:spPr>
          <a:xfrm>
            <a:off x="661475" y="4069080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0F172A"/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Text 7"/>
          <p:cNvSpPr/>
          <p:nvPr/>
        </p:nvSpPr>
        <p:spPr>
          <a:xfrm>
            <a:off x="1261872" y="4130040"/>
            <a:ext cx="7674864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it-IT" noProof="0" dirty="0">
                <a:solidFill>
                  <a:srgbClr val="EBEDF0"/>
                </a:solidFill>
                <a:latin typeface="Geist"/>
                <a:ea typeface="Geist"/>
                <a:cs typeface="Geist"/>
              </a:rPr>
              <a:t>Accelerazione hardware e aggiornamenti gestiti da Google</a:t>
            </a:r>
          </a:p>
        </p:txBody>
      </p:sp>
      <p:sp>
        <p:nvSpPr>
          <p:cNvPr id="11" name="Shape 8"/>
          <p:cNvSpPr/>
          <p:nvPr/>
        </p:nvSpPr>
        <p:spPr>
          <a:xfrm>
            <a:off x="661475" y="5013960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0F172A"/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2" name="Text 9"/>
          <p:cNvSpPr/>
          <p:nvPr/>
        </p:nvSpPr>
        <p:spPr>
          <a:xfrm>
            <a:off x="1261872" y="5050536"/>
            <a:ext cx="5696712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it-IT" sz="240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Perfetto. Tranne che…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597521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50" noProof="0" dirty="0">
                <a:solidFill>
                  <a:srgbClr val="49DE8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PRIMA SCELTA · IL PROBLEMA</a:t>
            </a:r>
            <a:endParaRPr lang="it-IT" sz="1850" noProof="0" dirty="0">
              <a:solidFill>
                <a:srgbClr val="49DE8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61475" y="2188071"/>
            <a:ext cx="6296860" cy="2543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8000"/>
              </a:lnSpc>
            </a:pPr>
            <a:r>
              <a:rPr lang="it-IT" sz="5100" noProof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Gira solo sui flagship più recenti.</a:t>
            </a:r>
            <a:endParaRPr lang="it-IT" sz="5100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0DEC08-AABB-F109-136E-0FEC1339F739}"/>
              </a:ext>
            </a:extLst>
          </p:cNvPr>
          <p:cNvSpPr/>
          <p:nvPr/>
        </p:nvSpPr>
        <p:spPr>
          <a:xfrm>
            <a:off x="661475" y="6033790"/>
            <a:ext cx="2011680" cy="508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3CD9A80-91C3-0A43-A6B0-8C4E3FA7940B}"/>
              </a:ext>
            </a:extLst>
          </p:cNvPr>
          <p:cNvSpPr/>
          <p:nvPr/>
        </p:nvSpPr>
        <p:spPr>
          <a:xfrm>
            <a:off x="658368" y="492252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600"/>
              </a:spcAft>
            </a:pPr>
            <a:r>
              <a:rPr lang="it-IT" sz="2000" noProof="0" dirty="0">
                <a:solidFill>
                  <a:srgbClr val="CBD5E1"/>
                </a:solidFill>
                <a:latin typeface="Helvetica Neue"/>
              </a:rPr>
              <a:t>Pixel 10/11, Galaxy S26 e pochi altri top di gamma:</a:t>
            </a:r>
            <a:br>
              <a:rPr lang="it-IT" sz="2000" noProof="0" dirty="0">
                <a:solidFill>
                  <a:srgbClr val="CBD5E1"/>
                </a:solidFill>
                <a:latin typeface="Helvetica Neue"/>
              </a:rPr>
            </a:br>
            <a:r>
              <a:rPr lang="it-IT" sz="2000" noProof="0" dirty="0">
                <a:solidFill>
                  <a:srgbClr val="CBD5E1"/>
                </a:solidFill>
                <a:latin typeface="Helvetica Neue"/>
              </a:rPr>
              <a:t>non i telefoni che la maggior parte della gente ha davvero.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58368" y="566928"/>
            <a:ext cx="630021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5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PIANO</a:t>
            </a:r>
            <a:r>
              <a:rPr lang="it-IT" sz="180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 B</a:t>
            </a:r>
          </a:p>
        </p:txBody>
      </p:sp>
      <p:sp>
        <p:nvSpPr>
          <p:cNvPr id="4" name="Text 1"/>
          <p:cNvSpPr/>
          <p:nvPr/>
        </p:nvSpPr>
        <p:spPr>
          <a:xfrm>
            <a:off x="658368" y="896112"/>
            <a:ext cx="6300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36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Un </a:t>
            </a:r>
            <a:r>
              <a:rPr lang="it-IT" sz="37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solo</a:t>
            </a:r>
            <a:r>
              <a:rPr lang="it-IT" sz="36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 LLM multimodale per fare tutto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25624"/>
            <a:ext cx="6300216" cy="1215644"/>
          </a:xfrm>
          <a:prstGeom prst="roundRect">
            <a:avLst>
              <a:gd name="adj" fmla="val 5485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</a:ln>
        </p:spPr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841247" y="2471928"/>
            <a:ext cx="5934455" cy="302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22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Gemma 4 E2B</a:t>
            </a:r>
            <a:endParaRPr lang="it-IT" sz="2200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41247" y="2856992"/>
            <a:ext cx="5934455" cy="5440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750" noProof="0" dirty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Il modello open di Google: lo porti tu, gira anche dove Nano non c’è (con abbastanza RAM).</a:t>
            </a:r>
            <a:endParaRPr lang="it-IT" sz="1750" noProof="0" dirty="0">
              <a:solidFill>
                <a:srgbClr val="94A3B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3699764"/>
            <a:ext cx="6300216" cy="934466"/>
          </a:xfrm>
          <a:prstGeom prst="roundRect">
            <a:avLst>
              <a:gd name="adj" fmla="val 7080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</a:ln>
        </p:spPr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841247" y="3846068"/>
            <a:ext cx="5934455" cy="302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22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Ha funzionato.</a:t>
            </a:r>
            <a:endParaRPr lang="it-IT" sz="2200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41247" y="4231132"/>
            <a:ext cx="5934455" cy="28117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750" noProof="0" dirty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Ingredienti corretti, JSON valido, ricette vere.</a:t>
            </a:r>
            <a:endParaRPr lang="it-IT" sz="1750" noProof="0" dirty="0">
              <a:solidFill>
                <a:srgbClr val="94A3B8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4811014"/>
            <a:ext cx="6300216" cy="1187450"/>
          </a:xfrm>
          <a:prstGeom prst="roundRect">
            <a:avLst>
              <a:gd name="adj" fmla="val 5485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F59E0B"/>
            </a:solidFill>
          </a:ln>
        </p:spPr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841247" y="4957318"/>
            <a:ext cx="5934455" cy="302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22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Ma ci metteva 5-10 minuti per scansione</a:t>
            </a:r>
            <a:endParaRPr lang="it-IT" sz="2200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841247" y="5342382"/>
            <a:ext cx="5934455" cy="5440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750" noProof="0" dirty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Su un Pixel 7, un telefono di quattro anni fa.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it-IT" sz="1750" noProof="0" dirty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Nessuno aspetta 10 minuti per un’idea per cena.</a:t>
            </a:r>
            <a:endParaRPr lang="it-IT" sz="1750" noProof="0" dirty="0">
              <a:solidFill>
                <a:srgbClr val="94A3B8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2303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50" noProof="0" dirty="0">
                <a:solidFill>
                  <a:srgbClr val="49DE8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QUESTA SESSIONE</a:t>
            </a:r>
          </a:p>
        </p:txBody>
      </p:sp>
      <p:sp>
        <p:nvSpPr>
          <p:cNvPr id="3" name="Text 1"/>
          <p:cNvSpPr/>
          <p:nvPr/>
        </p:nvSpPr>
        <p:spPr>
          <a:xfrm>
            <a:off x="661475" y="1664990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3700" noProof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Come l’abbiamo risolto, in cinque capitoli</a:t>
            </a:r>
          </a:p>
        </p:txBody>
      </p:sp>
      <p:sp>
        <p:nvSpPr>
          <p:cNvPr id="4" name="Text 2"/>
          <p:cNvSpPr/>
          <p:nvPr/>
        </p:nvSpPr>
        <p:spPr>
          <a:xfrm>
            <a:off x="661475" y="2562721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450" noProof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01</a:t>
            </a:r>
            <a:endParaRPr lang="it-IT" sz="1450" noProof="0" dirty="0"/>
          </a:p>
        </p:txBody>
      </p:sp>
      <p:sp>
        <p:nvSpPr>
          <p:cNvPr id="5" name="Shape 3"/>
          <p:cNvSpPr/>
          <p:nvPr/>
        </p:nvSpPr>
        <p:spPr>
          <a:xfrm>
            <a:off x="661475" y="2868017"/>
            <a:ext cx="3496877" cy="25400"/>
          </a:xfrm>
          <a:prstGeom prst="rect">
            <a:avLst/>
          </a:prstGeom>
          <a:solidFill>
            <a:srgbClr val="49DE8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 4"/>
          <p:cNvSpPr/>
          <p:nvPr/>
        </p:nvSpPr>
        <p:spPr>
          <a:xfrm>
            <a:off x="661475" y="3013273"/>
            <a:ext cx="3496877" cy="30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5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Gemini Nano via ML Kit GenAI</a:t>
            </a:r>
            <a:endParaRPr lang="it-IT" sz="1850" noProof="0" dirty="0"/>
          </a:p>
        </p:txBody>
      </p:sp>
      <p:sp>
        <p:nvSpPr>
          <p:cNvPr id="7" name="Text 5"/>
          <p:cNvSpPr/>
          <p:nvPr/>
        </p:nvSpPr>
        <p:spPr>
          <a:xfrm>
            <a:off x="661475" y="3433763"/>
            <a:ext cx="3496877" cy="245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6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 upgrade gratuito, mai la base</a:t>
            </a:r>
          </a:p>
        </p:txBody>
      </p:sp>
      <p:sp>
        <p:nvSpPr>
          <p:cNvPr id="8" name="Text 6"/>
          <p:cNvSpPr/>
          <p:nvPr/>
        </p:nvSpPr>
        <p:spPr>
          <a:xfrm>
            <a:off x="4347359" y="2562721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450" noProof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02</a:t>
            </a:r>
            <a:endParaRPr lang="it-IT" sz="1450" noProof="0" dirty="0"/>
          </a:p>
        </p:txBody>
      </p:sp>
      <p:sp>
        <p:nvSpPr>
          <p:cNvPr id="9" name="Shape 7"/>
          <p:cNvSpPr/>
          <p:nvPr/>
        </p:nvSpPr>
        <p:spPr>
          <a:xfrm>
            <a:off x="4347359" y="2868017"/>
            <a:ext cx="3496877" cy="25400"/>
          </a:xfrm>
          <a:prstGeom prst="rect">
            <a:avLst/>
          </a:prstGeom>
          <a:solidFill>
            <a:srgbClr val="49DE8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Text 8"/>
          <p:cNvSpPr/>
          <p:nvPr/>
        </p:nvSpPr>
        <p:spPr>
          <a:xfrm>
            <a:off x="4347359" y="3013273"/>
            <a:ext cx="3496877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5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Un modello per domarli tutti: Gemma</a:t>
            </a:r>
          </a:p>
        </p:txBody>
      </p:sp>
      <p:sp>
        <p:nvSpPr>
          <p:cNvPr id="11" name="Text 9"/>
          <p:cNvSpPr/>
          <p:nvPr/>
        </p:nvSpPr>
        <p:spPr>
          <a:xfrm>
            <a:off x="4347359" y="3694806"/>
            <a:ext cx="3496877" cy="245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6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…e perché era così lento</a:t>
            </a:r>
          </a:p>
        </p:txBody>
      </p:sp>
      <p:sp>
        <p:nvSpPr>
          <p:cNvPr id="12" name="Text 10"/>
          <p:cNvSpPr/>
          <p:nvPr/>
        </p:nvSpPr>
        <p:spPr>
          <a:xfrm>
            <a:off x="8033244" y="2562721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450" noProof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03</a:t>
            </a:r>
            <a:endParaRPr lang="it-IT" sz="1450" noProof="0" dirty="0"/>
          </a:p>
        </p:txBody>
      </p:sp>
      <p:sp>
        <p:nvSpPr>
          <p:cNvPr id="13" name="Shape 11"/>
          <p:cNvSpPr/>
          <p:nvPr/>
        </p:nvSpPr>
        <p:spPr>
          <a:xfrm>
            <a:off x="8033244" y="2868017"/>
            <a:ext cx="3496877" cy="25400"/>
          </a:xfrm>
          <a:prstGeom prst="rect">
            <a:avLst/>
          </a:prstGeom>
          <a:solidFill>
            <a:srgbClr val="49DE8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4" name="Text 12"/>
          <p:cNvSpPr/>
          <p:nvPr/>
        </p:nvSpPr>
        <p:spPr>
          <a:xfrm>
            <a:off x="8033244" y="3013273"/>
            <a:ext cx="3496877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5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Rilevamento zero-shot con MobileCLIP-S2</a:t>
            </a:r>
          </a:p>
        </p:txBody>
      </p:sp>
      <p:sp>
        <p:nvSpPr>
          <p:cNvPr id="15" name="Text 13"/>
          <p:cNvSpPr/>
          <p:nvPr/>
        </p:nvSpPr>
        <p:spPr>
          <a:xfrm>
            <a:off x="8033244" y="3740845"/>
            <a:ext cx="34968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6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 modello che confronta, non che scrive</a:t>
            </a:r>
          </a:p>
        </p:txBody>
      </p:sp>
      <p:sp>
        <p:nvSpPr>
          <p:cNvPr id="16" name="Text 14"/>
          <p:cNvSpPr/>
          <p:nvPr/>
        </p:nvSpPr>
        <p:spPr>
          <a:xfrm>
            <a:off x="661475" y="4317206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450" noProof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04</a:t>
            </a:r>
            <a:endParaRPr lang="it-IT" sz="1450" noProof="0" dirty="0"/>
          </a:p>
        </p:txBody>
      </p:sp>
      <p:sp>
        <p:nvSpPr>
          <p:cNvPr id="17" name="Shape 15"/>
          <p:cNvSpPr/>
          <p:nvPr/>
        </p:nvSpPr>
        <p:spPr>
          <a:xfrm>
            <a:off x="661475" y="4603651"/>
            <a:ext cx="5339820" cy="25400"/>
          </a:xfrm>
          <a:prstGeom prst="rect">
            <a:avLst/>
          </a:prstGeom>
          <a:solidFill>
            <a:srgbClr val="49DE8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18" name="Text 16"/>
          <p:cNvSpPr/>
          <p:nvPr/>
        </p:nvSpPr>
        <p:spPr>
          <a:xfrm>
            <a:off x="661475" y="4767759"/>
            <a:ext cx="5339820" cy="30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5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Dove l’LLM si guadagna il suo posto</a:t>
            </a:r>
            <a:endParaRPr lang="it-IT" sz="1850" noProof="0" dirty="0"/>
          </a:p>
        </p:txBody>
      </p:sp>
      <p:sp>
        <p:nvSpPr>
          <p:cNvPr id="19" name="Text 17"/>
          <p:cNvSpPr/>
          <p:nvPr/>
        </p:nvSpPr>
        <p:spPr>
          <a:xfrm>
            <a:off x="661475" y="5188248"/>
            <a:ext cx="5339820" cy="245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6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Generazione delle ricette</a:t>
            </a:r>
          </a:p>
        </p:txBody>
      </p:sp>
      <p:sp>
        <p:nvSpPr>
          <p:cNvPr id="20" name="Text 18"/>
          <p:cNvSpPr/>
          <p:nvPr/>
        </p:nvSpPr>
        <p:spPr>
          <a:xfrm>
            <a:off x="6190301" y="4317206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450" noProof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05</a:t>
            </a:r>
            <a:endParaRPr lang="it-IT" sz="1450" noProof="0" dirty="0"/>
          </a:p>
        </p:txBody>
      </p:sp>
      <p:sp>
        <p:nvSpPr>
          <p:cNvPr id="21" name="Shape 19"/>
          <p:cNvSpPr/>
          <p:nvPr/>
        </p:nvSpPr>
        <p:spPr>
          <a:xfrm>
            <a:off x="6190301" y="4603651"/>
            <a:ext cx="5339820" cy="25400"/>
          </a:xfrm>
          <a:prstGeom prst="rect">
            <a:avLst/>
          </a:prstGeom>
          <a:solidFill>
            <a:srgbClr val="49DE80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22" name="Text 20"/>
          <p:cNvSpPr/>
          <p:nvPr/>
        </p:nvSpPr>
        <p:spPr>
          <a:xfrm>
            <a:off x="6190301" y="4767759"/>
            <a:ext cx="5339820" cy="30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5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La distribuzione</a:t>
            </a:r>
            <a:endParaRPr lang="it-IT" sz="1850" noProof="0" dirty="0"/>
          </a:p>
        </p:txBody>
      </p:sp>
      <p:sp>
        <p:nvSpPr>
          <p:cNvPr id="23" name="Text 21"/>
          <p:cNvSpPr/>
          <p:nvPr/>
        </p:nvSpPr>
        <p:spPr>
          <a:xfrm>
            <a:off x="6190301" y="5188248"/>
            <a:ext cx="5339820" cy="245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6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Ogni modello viaggia in modo diverso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2225"/>
            <a:ext cx="4800480" cy="688022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643334"/>
            <a:ext cx="6296860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50" noProof="0" dirty="0">
                <a:solidFill>
                  <a:srgbClr val="49DE8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CAPITOLO 1 · GEMINI NANO</a:t>
            </a:r>
            <a:endParaRPr lang="it-IT" sz="1850" noProof="0" dirty="0">
              <a:solidFill>
                <a:srgbClr val="49DE8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233360" y="983655"/>
            <a:ext cx="6296860" cy="55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3700" noProof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Il protagonista: Gemini Nano</a:t>
            </a:r>
            <a:endParaRPr lang="it-IT" sz="3700" noProof="0" dirty="0"/>
          </a:p>
        </p:txBody>
      </p:sp>
      <p:sp>
        <p:nvSpPr>
          <p:cNvPr id="5" name="Shape 2"/>
          <p:cNvSpPr/>
          <p:nvPr/>
        </p:nvSpPr>
        <p:spPr>
          <a:xfrm>
            <a:off x="5233360" y="1773039"/>
            <a:ext cx="6296860" cy="1176437"/>
          </a:xfrm>
          <a:prstGeom prst="roundRect">
            <a:avLst>
              <a:gd name="adj" fmla="val 6116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 3"/>
          <p:cNvSpPr/>
          <p:nvPr/>
        </p:nvSpPr>
        <p:spPr>
          <a:xfrm>
            <a:off x="5423657" y="1963341"/>
            <a:ext cx="5916266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65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Il membro più piccolo della famiglia Gemini di Google</a:t>
            </a:r>
            <a:endParaRPr lang="it-IT" sz="1650" noProof="0" dirty="0"/>
          </a:p>
        </p:txBody>
      </p:sp>
      <p:sp>
        <p:nvSpPr>
          <p:cNvPr id="7" name="Text 4"/>
          <p:cNvSpPr/>
          <p:nvPr/>
        </p:nvSpPr>
        <p:spPr>
          <a:xfrm>
            <a:off x="5423657" y="2334716"/>
            <a:ext cx="5916266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it-IT" sz="14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Distillato per girare su un telefono. Stesso DNA dei fratelli cloud, ridotto finché non entra nel budget di memoria e termico di un telefono</a:t>
            </a:r>
          </a:p>
        </p:txBody>
      </p:sp>
      <p:sp>
        <p:nvSpPr>
          <p:cNvPr id="8" name="Shape 5"/>
          <p:cNvSpPr/>
          <p:nvPr/>
        </p:nvSpPr>
        <p:spPr>
          <a:xfrm>
            <a:off x="5233360" y="3104654"/>
            <a:ext cx="6296860" cy="964208"/>
          </a:xfrm>
          <a:prstGeom prst="roundRect">
            <a:avLst>
              <a:gd name="adj" fmla="val 7462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9" name="Text 6"/>
          <p:cNvSpPr/>
          <p:nvPr/>
        </p:nvSpPr>
        <p:spPr>
          <a:xfrm>
            <a:off x="5423657" y="3294955"/>
            <a:ext cx="5916266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65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Multimodale: foto + testo in, testo out</a:t>
            </a:r>
            <a:endParaRPr lang="it-IT" sz="1650" noProof="0" dirty="0"/>
          </a:p>
        </p:txBody>
      </p:sp>
      <p:sp>
        <p:nvSpPr>
          <p:cNvPr id="10" name="Text 7"/>
          <p:cNvSpPr/>
          <p:nvPr/>
        </p:nvSpPr>
        <p:spPr>
          <a:xfrm>
            <a:off x="5423657" y="3666331"/>
            <a:ext cx="5916266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3000"/>
              </a:lnSpc>
            </a:pPr>
            <a:r>
              <a:rPr lang="it-IT" sz="14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Proprio il nostro problema: "guarda questo frigo, dimmi cosa c'è dentro"</a:t>
            </a:r>
          </a:p>
        </p:txBody>
      </p:sp>
      <p:sp>
        <p:nvSpPr>
          <p:cNvPr id="11" name="Shape 8"/>
          <p:cNvSpPr/>
          <p:nvPr/>
        </p:nvSpPr>
        <p:spPr>
          <a:xfrm>
            <a:off x="5233360" y="4224040"/>
            <a:ext cx="6296860" cy="1176437"/>
          </a:xfrm>
          <a:prstGeom prst="roundRect">
            <a:avLst>
              <a:gd name="adj" fmla="val 6116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2" name="Text 9"/>
          <p:cNvSpPr/>
          <p:nvPr/>
        </p:nvSpPr>
        <p:spPr>
          <a:xfrm>
            <a:off x="5423657" y="4414341"/>
            <a:ext cx="5916266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65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Un solo modello condiviso per dispositivo</a:t>
            </a:r>
            <a:endParaRPr lang="it-IT" sz="1650" noProof="0" dirty="0"/>
          </a:p>
        </p:txBody>
      </p:sp>
      <p:sp>
        <p:nvSpPr>
          <p:cNvPr id="13" name="Text 10"/>
          <p:cNvSpPr/>
          <p:nvPr/>
        </p:nvSpPr>
        <p:spPr>
          <a:xfrm>
            <a:off x="5423657" y="4785717"/>
            <a:ext cx="5916266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it-IT" sz="14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Aggiornato da Google Play services: nano-v3 / nano-v4 in base al dispositivo, migliora senza che tu rilasci nulla</a:t>
            </a:r>
          </a:p>
        </p:txBody>
      </p:sp>
      <p:sp>
        <p:nvSpPr>
          <p:cNvPr id="14" name="Shape 11"/>
          <p:cNvSpPr/>
          <p:nvPr/>
        </p:nvSpPr>
        <p:spPr>
          <a:xfrm>
            <a:off x="5233360" y="5555655"/>
            <a:ext cx="6296860" cy="658912"/>
          </a:xfrm>
          <a:prstGeom prst="roundRect">
            <a:avLst>
              <a:gd name="adj" fmla="val 10919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5" name="Text 12"/>
          <p:cNvSpPr/>
          <p:nvPr/>
        </p:nvSpPr>
        <p:spPr>
          <a:xfrm>
            <a:off x="5423657" y="5745956"/>
            <a:ext cx="5916266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65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Il costo per la tua app: zero megabyte</a:t>
            </a:r>
            <a:endParaRPr lang="it-IT" sz="165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99562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50" noProof="0" dirty="0">
                <a:solidFill>
                  <a:srgbClr val="49DE8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CAPITOLO 1 · GEMINI NANO</a:t>
            </a:r>
            <a:endParaRPr lang="it-IT" sz="1850" noProof="0" dirty="0">
              <a:solidFill>
                <a:srgbClr val="49DE8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2182249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3700" noProof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Il modello vive in AICore, non nella tua app</a:t>
            </a:r>
            <a:endParaRPr lang="it-IT" sz="3700" noProof="0" dirty="0"/>
          </a:p>
        </p:txBody>
      </p:sp>
      <p:sp>
        <p:nvSpPr>
          <p:cNvPr id="13" name="Image 0" descr="preencoded.png"/>
          <p:cNvSpPr/>
          <p:nvPr/>
        </p:nvSpPr>
        <p:spPr>
          <a:xfrm>
            <a:off x="636075" y="3188692"/>
            <a:ext cx="50775" cy="2017292"/>
          </a:xfrm>
          <a:prstGeom prst="rect">
            <a:avLst/>
          </a:prstGeom>
          <a:solidFill>
            <a:srgbClr val="49DE80"/>
          </a:solidFill>
          <a:ln w="6338" cap="flat">
            <a:noFill/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5" name="Text 2"/>
          <p:cNvSpPr/>
          <p:nvPr/>
        </p:nvSpPr>
        <p:spPr>
          <a:xfrm>
            <a:off x="901281" y="3214092"/>
            <a:ext cx="3225620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AICore è un servizio di sistema Android</a:t>
            </a:r>
            <a:endParaRPr lang="it-IT" sz="2000" noProof="0" dirty="0"/>
          </a:p>
        </p:txBody>
      </p:sp>
      <p:sp>
        <p:nvSpPr>
          <p:cNvPr id="6" name="Text 3"/>
          <p:cNvSpPr/>
          <p:nvPr/>
        </p:nvSpPr>
        <p:spPr>
          <a:xfrm>
            <a:off x="901281" y="4002623"/>
            <a:ext cx="3225620" cy="120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Gestisce pesi, storage, aggiornamenti e accelerazione hardware, la tua app non tocca mai un file del modello.</a:t>
            </a:r>
          </a:p>
        </p:txBody>
      </p:sp>
      <p:sp>
        <p:nvSpPr>
          <p:cNvPr id="12" name="Image 1" descr="preencoded.png"/>
          <p:cNvSpPr/>
          <p:nvPr/>
        </p:nvSpPr>
        <p:spPr>
          <a:xfrm>
            <a:off x="4337735" y="3188692"/>
            <a:ext cx="50775" cy="2017292"/>
          </a:xfrm>
          <a:prstGeom prst="rect">
            <a:avLst/>
          </a:prstGeom>
          <a:solidFill>
            <a:srgbClr val="49DE80"/>
          </a:solidFill>
          <a:ln w="6338" cap="flat">
            <a:noFill/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8" name="Text 4"/>
          <p:cNvSpPr/>
          <p:nvPr/>
        </p:nvSpPr>
        <p:spPr>
          <a:xfrm>
            <a:off x="4602940" y="3214092"/>
            <a:ext cx="3225620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Prompt multimodali: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foto + testo in, testo out</a:t>
            </a:r>
            <a:endParaRPr lang="it-IT" sz="2000" noProof="0" dirty="0"/>
          </a:p>
        </p:txBody>
      </p:sp>
      <p:sp>
        <p:nvSpPr>
          <p:cNvPr id="9" name="Text 5"/>
          <p:cNvSpPr/>
          <p:nvPr/>
        </p:nvSpPr>
        <p:spPr>
          <a:xfrm>
            <a:off x="4602940" y="4002623"/>
            <a:ext cx="3225620" cy="1032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Gira su pesi che non devi mai distribuire, scaricare o aggiornare.</a:t>
            </a:r>
          </a:p>
        </p:txBody>
      </p:sp>
      <p:sp>
        <p:nvSpPr>
          <p:cNvPr id="14" name="Image 2" descr="preencoded.png"/>
          <p:cNvSpPr/>
          <p:nvPr/>
        </p:nvSpPr>
        <p:spPr>
          <a:xfrm>
            <a:off x="8039395" y="3188692"/>
            <a:ext cx="50775" cy="2017292"/>
          </a:xfrm>
          <a:prstGeom prst="rect">
            <a:avLst/>
          </a:prstGeom>
          <a:solidFill>
            <a:srgbClr val="49DE80"/>
          </a:solidFill>
          <a:ln w="6338" cap="flat">
            <a:noFill/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Text 6"/>
          <p:cNvSpPr/>
          <p:nvPr/>
        </p:nvSpPr>
        <p:spPr>
          <a:xfrm>
            <a:off x="8304600" y="3214092"/>
            <a:ext cx="3225620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L’integrazione è una dipendenza e una regola…</a:t>
            </a:r>
            <a:endParaRPr lang="it-IT" sz="20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87221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0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CAPITOLO 1 · </a:t>
            </a:r>
            <a:r>
              <a:rPr lang="it-IT" sz="185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GEMINI</a:t>
            </a:r>
            <a:r>
              <a:rPr lang="it-IT" sz="180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 NANO</a:t>
            </a:r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872216" cy="569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36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Una dipendenza, una regola: verifica, poi chiama</a:t>
            </a:r>
          </a:p>
        </p:txBody>
      </p:sp>
      <p:sp>
        <p:nvSpPr>
          <p:cNvPr id="4" name="Shape 2"/>
          <p:cNvSpPr/>
          <p:nvPr/>
        </p:nvSpPr>
        <p:spPr>
          <a:xfrm>
            <a:off x="661475" y="1703832"/>
            <a:ext cx="10868745" cy="4297680"/>
          </a:xfrm>
          <a:prstGeom prst="roundRect">
            <a:avLst>
              <a:gd name="adj" fmla="val 1794"/>
            </a:avLst>
          </a:prstGeom>
          <a:solidFill>
            <a:srgbClr val="1D232D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5" name="Shape 3"/>
          <p:cNvSpPr/>
          <p:nvPr/>
        </p:nvSpPr>
        <p:spPr>
          <a:xfrm>
            <a:off x="652645" y="1630680"/>
            <a:ext cx="10886406" cy="4370832"/>
          </a:xfrm>
          <a:prstGeom prst="roundRect">
            <a:avLst>
              <a:gd name="adj" fmla="val 641"/>
            </a:avLst>
          </a:prstGeom>
          <a:solidFill>
            <a:srgbClr val="1D232D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66835" y="6236208"/>
            <a:ext cx="1087221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it-IT" sz="200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Si controlla a ogni chiamata: la disponibilità cambia a </a:t>
            </a:r>
            <a:r>
              <a:rPr lang="it-IT" sz="2000" noProof="0" dirty="0" err="1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runtime</a:t>
            </a:r>
            <a:r>
              <a:rPr lang="it-IT" sz="200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.</a:t>
            </a:r>
            <a:endParaRPr lang="it-IT" sz="2000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877824" y="1844040"/>
            <a:ext cx="10424160" cy="3931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it-IT" sz="1600" noProof="0" dirty="0" err="1">
                <a:solidFill>
                  <a:schemeClr val="bg1"/>
                </a:solidFill>
                <a:highlight>
                  <a:srgbClr val="1D232D"/>
                </a:highlight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implementation</a:t>
            </a:r>
            <a:r>
              <a:rPr lang="it-IT" sz="1600" noProof="0" dirty="0">
                <a:solidFill>
                  <a:schemeClr val="bg1"/>
                </a:solidFill>
                <a:highlight>
                  <a:srgbClr val="1D232D"/>
                </a:highlight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("com.google.mlkit:genai-prompt:1.0.0-beta2")</a:t>
            </a:r>
            <a:endParaRPr lang="it-IT" sz="1600" noProof="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it-IT" sz="1000" noProof="0" dirty="0">
              <a:solidFill>
                <a:srgbClr val="C084FC"/>
              </a:solidFill>
              <a:latin typeface="Consolas"/>
              <a:ea typeface="Consolas"/>
              <a:cs typeface="Consolas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it-IT" sz="1000" noProof="0" dirty="0">
              <a:solidFill>
                <a:srgbClr val="C084FC"/>
              </a:solidFill>
              <a:latin typeface="Consolas"/>
              <a:ea typeface="Consolas"/>
              <a:cs typeface="Consolas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>
                <a:solidFill>
                  <a:srgbClr val="C084FC"/>
                </a:solidFill>
                <a:latin typeface="Consolas"/>
                <a:ea typeface="Consolas"/>
                <a:cs typeface="Consolas"/>
              </a:rPr>
              <a:t>val 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model = </a:t>
            </a: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Generation.getClient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()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 </a:t>
            </a:r>
            <a:endParaRPr lang="it-IT" sz="1600" noProof="0" dirty="0"/>
          </a:p>
          <a:p>
            <a:r>
              <a:rPr lang="it-IT" sz="1600" noProof="0" dirty="0" err="1">
                <a:solidFill>
                  <a:srgbClr val="C084FC"/>
                </a:solidFill>
                <a:latin typeface="Consolas"/>
                <a:ea typeface="Consolas"/>
                <a:cs typeface="Consolas"/>
              </a:rPr>
              <a:t>suspend</a:t>
            </a:r>
            <a:r>
              <a:rPr lang="it-IT" sz="1600" noProof="0" dirty="0">
                <a:solidFill>
                  <a:srgbClr val="C084F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it-IT" sz="1600" noProof="0" dirty="0" err="1">
                <a:solidFill>
                  <a:srgbClr val="C084FC"/>
                </a:solidFill>
                <a:latin typeface="Consolas"/>
                <a:ea typeface="Consolas"/>
                <a:cs typeface="Consolas"/>
              </a:rPr>
              <a:t>fun</a:t>
            </a:r>
            <a:r>
              <a:rPr lang="it-IT" sz="1600" noProof="0" dirty="0">
                <a:solidFill>
                  <a:srgbClr val="C084F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detect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(bitmap: Bitmap) =</a:t>
            </a:r>
          </a:p>
          <a:p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it-IT" sz="1600" noProof="0" dirty="0" err="1">
                <a:solidFill>
                  <a:srgbClr val="C084FC"/>
                </a:solidFill>
                <a:latin typeface="Consolas"/>
                <a:ea typeface="Consolas"/>
                <a:cs typeface="Consolas"/>
              </a:rPr>
              <a:t>when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 (</a:t>
            </a: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model.</a:t>
            </a:r>
            <a:r>
              <a:rPr lang="it-IT" sz="1600" noProof="0" dirty="0" err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checkStatus</a:t>
            </a:r>
            <a:r>
              <a:rPr lang="it-IT" sz="1600" noProof="0" dirty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()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) {</a:t>
            </a:r>
            <a:r>
              <a:rPr lang="it-IT" sz="1600" noProof="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 // </a:t>
            </a:r>
            <a:r>
              <a:rPr lang="it-IT" sz="1600" noProof="0" dirty="0" err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runtime</a:t>
            </a:r>
            <a:r>
              <a:rPr lang="it-IT" sz="1600" noProof="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, non compile time</a:t>
            </a:r>
          </a:p>
          <a:p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FeatureStatus.</a:t>
            </a:r>
            <a:r>
              <a:rPr lang="it-IT" sz="1600" noProof="0" dirty="0" err="1">
                <a:solidFill>
                  <a:srgbClr val="49DE80"/>
                </a:solidFill>
                <a:latin typeface="Consolas"/>
                <a:ea typeface="Consolas"/>
                <a:cs typeface="Consolas"/>
              </a:rPr>
              <a:t>AVAILABLE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 -&gt; </a:t>
            </a: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detectWithNano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(bitmap)</a:t>
            </a:r>
          </a:p>
          <a:p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FeatureStatus.</a:t>
            </a:r>
            <a:r>
              <a:rPr lang="it-IT" sz="1600" noProof="0" dirty="0" err="1">
                <a:solidFill>
                  <a:srgbClr val="49DE80"/>
                </a:solidFill>
                <a:latin typeface="Consolas"/>
                <a:ea typeface="Consolas"/>
                <a:cs typeface="Consolas"/>
              </a:rPr>
              <a:t>DOWNLOADABLE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 -&gt; {</a:t>
            </a:r>
          </a:p>
          <a:p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scope.launch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 { </a:t>
            </a: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model.download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().</a:t>
            </a: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collect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() }</a:t>
            </a:r>
            <a:r>
              <a:rPr lang="it-IT" sz="1600" noProof="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 // download in background</a:t>
            </a:r>
          </a:p>
          <a:p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clip.detect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(bitmap)</a:t>
            </a:r>
            <a:r>
              <a:rPr lang="it-IT" sz="1600" noProof="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                         // </a:t>
            </a:r>
            <a:r>
              <a:rPr lang="it-IT" sz="1600" noProof="0" dirty="0" err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fallback</a:t>
            </a:r>
            <a:endParaRPr lang="it-IT" sz="1600" noProof="0" dirty="0">
              <a:solidFill>
                <a:srgbClr val="94A3B8"/>
              </a:solidFill>
              <a:latin typeface="Consolas"/>
              <a:ea typeface="Consolas"/>
              <a:cs typeface="Consolas"/>
            </a:endParaRPr>
          </a:p>
          <a:p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it-IT" sz="1600" noProof="0" dirty="0">
                <a:solidFill>
                  <a:srgbClr val="C084FC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 -&gt; </a:t>
            </a: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clip.detect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(bitmap)</a:t>
            </a:r>
            <a:r>
              <a:rPr lang="it-IT" sz="1600" noProof="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 // </a:t>
            </a:r>
            <a:r>
              <a:rPr lang="it-IT" sz="1600" noProof="0" dirty="0" err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fallback</a:t>
            </a:r>
            <a:r>
              <a:rPr lang="it-IT" sz="1600" noProof="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: MobileCLIP, non un errore</a:t>
            </a:r>
          </a:p>
          <a:p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lang="it-IT" sz="1600" noProof="0" dirty="0" err="1">
                <a:solidFill>
                  <a:srgbClr val="C084FC"/>
                </a:solidFill>
                <a:latin typeface="Consolas"/>
                <a:ea typeface="Consolas"/>
                <a:cs typeface="Consolas"/>
              </a:rPr>
              <a:t>suspend</a:t>
            </a:r>
            <a:r>
              <a:rPr lang="it-IT" sz="1600" noProof="0" dirty="0">
                <a:solidFill>
                  <a:srgbClr val="C084F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it-IT" sz="1600" noProof="0" dirty="0" err="1">
                <a:solidFill>
                  <a:srgbClr val="C084FC"/>
                </a:solidFill>
                <a:latin typeface="Consolas"/>
                <a:ea typeface="Consolas"/>
                <a:cs typeface="Consolas"/>
              </a:rPr>
              <a:t>fun</a:t>
            </a:r>
            <a:r>
              <a:rPr lang="it-IT" sz="1600" noProof="0" dirty="0">
                <a:solidFill>
                  <a:srgbClr val="C084F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detectWithNano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(bitmap: Bitmap) = </a:t>
            </a: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model.generateContent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generateContentRequest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ImagePart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(bitmap), </a:t>
            </a: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TextPart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(prompt)) { temperature = </a:t>
            </a:r>
            <a:r>
              <a:rPr lang="it-IT" sz="1600" noProof="0" dirty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0.2f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 })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2225"/>
            <a:ext cx="4800480" cy="688022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87831"/>
            <a:ext cx="629686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50" noProof="0" dirty="0">
                <a:solidFill>
                  <a:srgbClr val="49DE8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CAPITOLO 2 · UN MODELLO PER DOMARLI TUTTI</a:t>
            </a:r>
            <a:endParaRPr lang="it-IT" sz="1850" noProof="0" dirty="0">
              <a:solidFill>
                <a:srgbClr val="49DE8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233360" y="900668"/>
            <a:ext cx="6296860" cy="518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3450" noProof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Il protagonista: Gemma 4 E2B</a:t>
            </a:r>
            <a:endParaRPr lang="it-IT" sz="3450" noProof="0" dirty="0"/>
          </a:p>
        </p:txBody>
      </p:sp>
      <p:sp>
        <p:nvSpPr>
          <p:cNvPr id="5" name="Shape 2"/>
          <p:cNvSpPr/>
          <p:nvPr/>
        </p:nvSpPr>
        <p:spPr>
          <a:xfrm>
            <a:off x="5233360" y="1730526"/>
            <a:ext cx="6296860" cy="1078706"/>
          </a:xfrm>
          <a:prstGeom prst="roundRect">
            <a:avLst>
              <a:gd name="adj" fmla="val 6210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 3"/>
          <p:cNvSpPr/>
          <p:nvPr/>
        </p:nvSpPr>
        <p:spPr>
          <a:xfrm>
            <a:off x="5411851" y="1909020"/>
            <a:ext cx="593988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6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La famiglia open-weights di Google</a:t>
            </a:r>
            <a:endParaRPr lang="it-IT" sz="1600" noProof="0" dirty="0"/>
          </a:p>
        </p:txBody>
      </p:sp>
      <p:sp>
        <p:nvSpPr>
          <p:cNvPr id="7" name="Text 4"/>
          <p:cNvSpPr/>
          <p:nvPr/>
        </p:nvSpPr>
        <p:spPr>
          <a:xfrm>
            <a:off x="5411851" y="2248745"/>
            <a:ext cx="5939880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4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Il fratello scaricabile di Gemini. I pesi sono tuoi da includere e distribuire nella tua app; nessuna fatturazione per chiamata, nessun server</a:t>
            </a:r>
          </a:p>
        </p:txBody>
      </p:sp>
      <p:sp>
        <p:nvSpPr>
          <p:cNvPr id="8" name="Shape 5"/>
          <p:cNvSpPr/>
          <p:nvPr/>
        </p:nvSpPr>
        <p:spPr>
          <a:xfrm>
            <a:off x="5233360" y="2943773"/>
            <a:ext cx="6296860" cy="1078706"/>
          </a:xfrm>
          <a:prstGeom prst="roundRect">
            <a:avLst>
              <a:gd name="adj" fmla="val 6210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9" name="Text 6"/>
          <p:cNvSpPr/>
          <p:nvPr/>
        </p:nvSpPr>
        <p:spPr>
          <a:xfrm>
            <a:off x="5411851" y="3122267"/>
            <a:ext cx="593988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6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'4 E2B' = 4ª generazione, 2 miliardi di parametri effettivi</a:t>
            </a:r>
            <a:endParaRPr lang="it-IT" sz="1600" noProof="0" dirty="0"/>
          </a:p>
        </p:txBody>
      </p:sp>
      <p:sp>
        <p:nvSpPr>
          <p:cNvPr id="10" name="Text 7"/>
          <p:cNvSpPr/>
          <p:nvPr/>
        </p:nvSpPr>
        <p:spPr>
          <a:xfrm>
            <a:off x="5411851" y="3461992"/>
            <a:ext cx="5939880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4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Progettato per i telefoni. Trucchi di memoria danno qualità da grande modello con un’impronta RAM da telefono; </a:t>
            </a:r>
            <a:r>
              <a:rPr lang="it-IT" sz="1400" noProof="0" dirty="0" err="1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instruction-tuned</a:t>
            </a:r>
            <a:endParaRPr lang="it-IT" sz="1400" noProof="0" dirty="0">
              <a:solidFill>
                <a:srgbClr val="94A3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233360" y="4157020"/>
            <a:ext cx="6296860" cy="1078706"/>
          </a:xfrm>
          <a:prstGeom prst="roundRect">
            <a:avLst>
              <a:gd name="adj" fmla="val 6210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2" name="Text 9"/>
          <p:cNvSpPr/>
          <p:nvPr/>
        </p:nvSpPr>
        <p:spPr>
          <a:xfrm>
            <a:off x="5411851" y="4335514"/>
            <a:ext cx="593988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6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Multimodale: un vision encoder alimenta il </a:t>
            </a:r>
            <a:r>
              <a:rPr lang="it-IT" sz="1600" noProof="0" dirty="0" err="1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language</a:t>
            </a:r>
            <a:r>
              <a:rPr lang="it-IT" sz="16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model</a:t>
            </a:r>
            <a:endParaRPr lang="it-IT" sz="1600" noProof="0" dirty="0"/>
          </a:p>
        </p:txBody>
      </p:sp>
      <p:sp>
        <p:nvSpPr>
          <p:cNvPr id="13" name="Text 10"/>
          <p:cNvSpPr/>
          <p:nvPr/>
        </p:nvSpPr>
        <p:spPr>
          <a:xfrm>
            <a:off x="5411851" y="4675239"/>
            <a:ext cx="5939880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250" noProof="0" dirty="0">
                <a:solidFill>
                  <a:srgbClr val="94A3B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 guardare E scrivere. Esattamente ciò che serve a uno scanner per il frigo, e può generare anche le </a:t>
            </a:r>
            <a:r>
              <a:rPr lang="it-IT" sz="14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ricette</a:t>
            </a:r>
          </a:p>
        </p:txBody>
      </p:sp>
      <p:sp>
        <p:nvSpPr>
          <p:cNvPr id="14" name="Shape 11"/>
          <p:cNvSpPr/>
          <p:nvPr/>
        </p:nvSpPr>
        <p:spPr>
          <a:xfrm>
            <a:off x="5233360" y="5370266"/>
            <a:ext cx="6296860" cy="887710"/>
          </a:xfrm>
          <a:prstGeom prst="roundRect">
            <a:avLst>
              <a:gd name="adj" fmla="val 7546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5" name="Text 12"/>
          <p:cNvSpPr/>
          <p:nvPr/>
        </p:nvSpPr>
        <p:spPr>
          <a:xfrm>
            <a:off x="5411851" y="5548761"/>
            <a:ext cx="5939880" cy="16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6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Via </a:t>
            </a:r>
            <a:r>
              <a:rPr lang="it-IT" sz="1600" noProof="0" dirty="0" err="1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LiteRT</a:t>
            </a:r>
            <a:r>
              <a:rPr lang="it-IT" sz="16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-LM su ogni Android</a:t>
            </a:r>
            <a:endParaRPr lang="it-IT" sz="1600" noProof="0" dirty="0"/>
          </a:p>
        </p:txBody>
      </p:sp>
      <p:sp>
        <p:nvSpPr>
          <p:cNvPr id="16" name="Text 13"/>
          <p:cNvSpPr/>
          <p:nvPr/>
        </p:nvSpPr>
        <p:spPr>
          <a:xfrm>
            <a:off x="5411851" y="5888486"/>
            <a:ext cx="5939880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4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 modello, un’integrazione, entrambi i compiti: rilevamento E ricette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1087221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5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CAPITOLO 2 · UN MODELLO PER DOMARLI TUTTI</a:t>
            </a:r>
          </a:p>
        </p:txBody>
      </p:sp>
      <p:sp>
        <p:nvSpPr>
          <p:cNvPr id="3" name="Text 1"/>
          <p:cNvSpPr/>
          <p:nvPr/>
        </p:nvSpPr>
        <p:spPr>
          <a:xfrm>
            <a:off x="658368" y="944880"/>
            <a:ext cx="10872216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37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Chiedi all’LLM di guardare, e di scrivere</a:t>
            </a:r>
          </a:p>
        </p:txBody>
      </p:sp>
      <p:sp>
        <p:nvSpPr>
          <p:cNvPr id="4" name="Shape 2"/>
          <p:cNvSpPr/>
          <p:nvPr/>
        </p:nvSpPr>
        <p:spPr>
          <a:xfrm>
            <a:off x="661475" y="1859280"/>
            <a:ext cx="10868745" cy="2971800"/>
          </a:xfrm>
          <a:prstGeom prst="roundRect">
            <a:avLst>
              <a:gd name="adj" fmla="val 2801"/>
            </a:avLst>
          </a:prstGeom>
          <a:solidFill>
            <a:srgbClr val="1D232D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5" name="Shape 3"/>
          <p:cNvSpPr/>
          <p:nvPr/>
        </p:nvSpPr>
        <p:spPr>
          <a:xfrm>
            <a:off x="652049" y="1859280"/>
            <a:ext cx="10887596" cy="2971800"/>
          </a:xfrm>
          <a:prstGeom prst="roundRect">
            <a:avLst>
              <a:gd name="adj" fmla="val 1000"/>
            </a:avLst>
          </a:prstGeom>
          <a:solidFill>
            <a:srgbClr val="1D232D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86968" y="2060448"/>
            <a:ext cx="10424160" cy="274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>
                <a:solidFill>
                  <a:srgbClr val="C084FC"/>
                </a:solidFill>
                <a:latin typeface="Consolas"/>
                <a:ea typeface="Consolas"/>
                <a:cs typeface="Consolas"/>
              </a:rPr>
              <a:t>val 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prompt = 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"""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it-IT" sz="1600" noProof="0" dirty="0" err="1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it-IT" sz="1600" noProof="0" dirty="0" err="1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is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a photo of the inside of a $place.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it-IT" sz="1600" noProof="0" dirty="0" err="1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Identify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the food </a:t>
            </a:r>
            <a:r>
              <a:rPr lang="it-IT" sz="1600" noProof="0" dirty="0" err="1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ingredients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it-IT" sz="1600" noProof="0" dirty="0" err="1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you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can </a:t>
            </a:r>
            <a:r>
              <a:rPr lang="it-IT" sz="1600" noProof="0" dirty="0" err="1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see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it-IT" sz="1600" noProof="0" dirty="0" err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at</a:t>
            </a:r>
            <a:r>
              <a:rPr lang="it-IT" sz="1600" noProof="0" dirty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it-IT" sz="1600" noProof="0" dirty="0" err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most</a:t>
            </a:r>
            <a:r>
              <a:rPr lang="it-IT" sz="1600" noProof="0" dirty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 15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.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it-IT" sz="1600" noProof="0" dirty="0" err="1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Respond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with </a:t>
            </a:r>
            <a:r>
              <a:rPr lang="it-IT" sz="1600" noProof="0" dirty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ONLY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a JSON array (no </a:t>
            </a:r>
            <a:r>
              <a:rPr lang="it-IT" sz="1600" noProof="0" dirty="0" err="1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markdown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, no extra text):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   [{"name": "...", "</a:t>
            </a:r>
            <a:r>
              <a:rPr lang="it-IT" sz="1600" noProof="0" dirty="0" err="1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quantity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": "..."}]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it-IT" sz="1600" noProof="0" dirty="0" err="1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Only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include items </a:t>
            </a:r>
            <a:r>
              <a:rPr lang="it-IT" sz="1600" noProof="0" dirty="0" err="1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you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it-IT" sz="1600" noProof="0" dirty="0" err="1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actually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it-IT" sz="1600" noProof="0" dirty="0" err="1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see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. Use common English </a:t>
            </a:r>
            <a:r>
              <a:rPr lang="it-IT" sz="1600" noProof="0" dirty="0" err="1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ingredient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names.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"""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trimIndent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()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 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conversation.sendMessage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Contents.of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Content.Text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(prompt), </a:t>
            </a: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Content.ImageBytes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(jpeg)))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→ </a:t>
            </a:r>
            <a:r>
              <a:rPr lang="it-IT" sz="1600" noProof="0" dirty="0" err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parsing</a:t>
            </a:r>
            <a:r>
              <a:rPr lang="it-IT" sz="1600" noProof="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del JSON, </a:t>
            </a:r>
            <a:r>
              <a:rPr lang="it-IT" sz="1600" noProof="0" dirty="0" err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retry</a:t>
            </a:r>
            <a:r>
              <a:rPr lang="it-IT" sz="1600" noProof="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silenziosi se malformato</a:t>
            </a:r>
            <a:endParaRPr lang="it-IT" sz="1600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58368" y="4968240"/>
            <a:ext cx="1087221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it-IT" sz="1800" noProof="0" dirty="0">
                <a:solidFill>
                  <a:srgbClr val="F2F5FA"/>
                </a:solidFill>
                <a:latin typeface="Geist"/>
                <a:ea typeface="Geist"/>
                <a:cs typeface="Geist"/>
              </a:rPr>
              <a:t>Il rilevamento come problema di </a:t>
            </a:r>
            <a:r>
              <a:rPr lang="it-IT" sz="1800" noProof="0" dirty="0" err="1">
                <a:solidFill>
                  <a:srgbClr val="F2F5FA"/>
                </a:solidFill>
                <a:latin typeface="Geist"/>
                <a:ea typeface="Geist"/>
                <a:cs typeface="Geist"/>
              </a:rPr>
              <a:t>prompting</a:t>
            </a:r>
            <a:r>
              <a:rPr lang="it-IT" sz="1800" noProof="0" dirty="0">
                <a:solidFill>
                  <a:srgbClr val="F2F5FA"/>
                </a:solidFill>
                <a:latin typeface="Geist"/>
                <a:ea typeface="Geist"/>
                <a:cs typeface="Geist"/>
              </a:rPr>
              <a:t>: nessun dataset, nessun training. Basta chiedere.</a:t>
            </a:r>
            <a:endParaRPr lang="it-IT" sz="1800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658368" y="5654040"/>
            <a:ext cx="10872216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it-IT" sz="400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Cosa potrebbe andare storto?</a:t>
            </a:r>
            <a:endParaRPr lang="it-IT" sz="40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1813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it-IT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CAPITOLO 2 · PERCHÉ ANDAVA A RILENTO</a:t>
            </a:r>
          </a:p>
        </p:txBody>
      </p:sp>
      <p:sp>
        <p:nvSpPr>
          <p:cNvPr id="3" name="Text 1"/>
          <p:cNvSpPr/>
          <p:nvPr/>
        </p:nvSpPr>
        <p:spPr>
          <a:xfrm>
            <a:off x="661475" y="1334500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3700" noProof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Il costo a due fasi degli LLM multimodali</a:t>
            </a:r>
            <a:endParaRPr lang="it-IT" sz="3700" noProof="0" dirty="0"/>
          </a:p>
        </p:txBody>
      </p:sp>
      <p:sp>
        <p:nvSpPr>
          <p:cNvPr id="4" name="Shape 2"/>
          <p:cNvSpPr/>
          <p:nvPr/>
        </p:nvSpPr>
        <p:spPr>
          <a:xfrm>
            <a:off x="661475" y="2646758"/>
            <a:ext cx="5339820" cy="1461945"/>
          </a:xfrm>
          <a:prstGeom prst="roundRect">
            <a:avLst>
              <a:gd name="adj" fmla="val 5978"/>
            </a:avLst>
          </a:prstGeom>
          <a:solidFill>
            <a:srgbClr val="0F172A"/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5" name="Text 3"/>
          <p:cNvSpPr/>
          <p:nvPr/>
        </p:nvSpPr>
        <p:spPr>
          <a:xfrm>
            <a:off x="869531" y="2891397"/>
            <a:ext cx="492370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9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Fase 1: </a:t>
            </a:r>
            <a:r>
              <a:rPr lang="it-IT" sz="1900" noProof="0" dirty="0" err="1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prefill</a:t>
            </a:r>
            <a:endParaRPr lang="it-IT" sz="1900" noProof="0" dirty="0"/>
          </a:p>
        </p:txBody>
      </p:sp>
      <p:sp>
        <p:nvSpPr>
          <p:cNvPr id="6" name="Text 4"/>
          <p:cNvSpPr/>
          <p:nvPr/>
        </p:nvSpPr>
        <p:spPr>
          <a:xfrm>
            <a:off x="869531" y="3348462"/>
            <a:ext cx="492370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700" noProof="0" dirty="0">
                <a:solidFill>
                  <a:srgbClr val="94A3B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 foto diventa centinaia di token immagine, tutti elaborati prima che compaia qualsiasi output.</a:t>
            </a:r>
            <a:endParaRPr lang="it-IT" sz="1700" noProof="0" dirty="0">
              <a:solidFill>
                <a:srgbClr val="94A3B8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301" y="2646759"/>
            <a:ext cx="5339919" cy="1461944"/>
          </a:xfrm>
          <a:prstGeom prst="roundRect">
            <a:avLst>
              <a:gd name="adj" fmla="val 5978"/>
            </a:avLst>
          </a:prstGeom>
          <a:solidFill>
            <a:srgbClr val="0F172A"/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8" name="Text 6"/>
          <p:cNvSpPr/>
          <p:nvPr/>
        </p:nvSpPr>
        <p:spPr>
          <a:xfrm>
            <a:off x="6398358" y="2891397"/>
            <a:ext cx="49238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9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Fase 2: </a:t>
            </a:r>
            <a:r>
              <a:rPr lang="it-IT" sz="1900" noProof="0" dirty="0" err="1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decode</a:t>
            </a:r>
            <a:endParaRPr lang="it-IT" sz="1900" noProof="0" dirty="0"/>
          </a:p>
        </p:txBody>
      </p:sp>
      <p:sp>
        <p:nvSpPr>
          <p:cNvPr id="9" name="Text 7"/>
          <p:cNvSpPr/>
          <p:nvPr/>
        </p:nvSpPr>
        <p:spPr>
          <a:xfrm>
            <a:off x="6398358" y="3348462"/>
            <a:ext cx="492380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7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La risposta è generata un token alla volta attraverso un modello da 2 miliardi di parametri.</a:t>
            </a:r>
          </a:p>
        </p:txBody>
      </p:sp>
      <p:sp>
        <p:nvSpPr>
          <p:cNvPr id="10" name="Shape 8"/>
          <p:cNvSpPr/>
          <p:nvPr/>
        </p:nvSpPr>
        <p:spPr>
          <a:xfrm>
            <a:off x="661475" y="4383170"/>
            <a:ext cx="5339820" cy="1461945"/>
          </a:xfrm>
          <a:prstGeom prst="roundRect">
            <a:avLst>
              <a:gd name="adj" fmla="val 5978"/>
            </a:avLst>
          </a:prstGeom>
          <a:solidFill>
            <a:srgbClr val="0F172A"/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Text 9"/>
          <p:cNvSpPr/>
          <p:nvPr/>
        </p:nvSpPr>
        <p:spPr>
          <a:xfrm>
            <a:off x="869531" y="4627809"/>
            <a:ext cx="492370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9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Scansione di 5-10 minuti su fascia media</a:t>
            </a:r>
            <a:endParaRPr lang="it-IT" sz="1900" noProof="0" dirty="0"/>
          </a:p>
        </p:txBody>
      </p:sp>
      <p:sp>
        <p:nvSpPr>
          <p:cNvPr id="12" name="Text 10"/>
          <p:cNvSpPr/>
          <p:nvPr/>
        </p:nvSpPr>
        <p:spPr>
          <a:xfrm>
            <a:off x="869531" y="5084874"/>
            <a:ext cx="492370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7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L’aritmetica, non la qualità del modello, decide tra secondi e minuti.</a:t>
            </a:r>
          </a:p>
        </p:txBody>
      </p:sp>
      <p:sp>
        <p:nvSpPr>
          <p:cNvPr id="13" name="Shape 11"/>
          <p:cNvSpPr/>
          <p:nvPr/>
        </p:nvSpPr>
        <p:spPr>
          <a:xfrm>
            <a:off x="6190301" y="4383171"/>
            <a:ext cx="5339919" cy="1461944"/>
          </a:xfrm>
          <a:prstGeom prst="roundRect">
            <a:avLst>
              <a:gd name="adj" fmla="val 5978"/>
            </a:avLst>
          </a:prstGeom>
          <a:solidFill>
            <a:srgbClr val="0F172A"/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4" name="Text 12"/>
          <p:cNvSpPr/>
          <p:nvPr/>
        </p:nvSpPr>
        <p:spPr>
          <a:xfrm>
            <a:off x="6398358" y="4627809"/>
            <a:ext cx="49238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9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Conosci questo modello di costo</a:t>
            </a:r>
            <a:endParaRPr lang="it-IT" sz="1900" noProof="0" dirty="0"/>
          </a:p>
        </p:txBody>
      </p:sp>
      <p:sp>
        <p:nvSpPr>
          <p:cNvPr id="15" name="Text 13"/>
          <p:cNvSpPr/>
          <p:nvPr/>
        </p:nvSpPr>
        <p:spPr>
          <a:xfrm>
            <a:off x="6398358" y="5084874"/>
            <a:ext cx="492380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7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Prima di promettere qualsiasi UX multimodale.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12707" y="553244"/>
            <a:ext cx="629686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noProof="0" dirty="0">
                <a:solidFill>
                  <a:srgbClr val="49DE8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CAPITOLO 3 · RILEVAMENTO ZERO-SHOT</a:t>
            </a:r>
            <a:endParaRPr lang="it-IT" noProof="0" dirty="0">
              <a:solidFill>
                <a:srgbClr val="49DE8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12707" y="866080"/>
            <a:ext cx="6296860" cy="518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3450" noProof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Il protagonista: MobileCLIP-S2</a:t>
            </a:r>
            <a:endParaRPr lang="it-IT" sz="345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4A308AD7-DF4F-958C-6DD7-9D45450F6537}"/>
              </a:ext>
            </a:extLst>
          </p:cNvPr>
          <p:cNvSpPr/>
          <p:nvPr/>
        </p:nvSpPr>
        <p:spPr>
          <a:xfrm>
            <a:off x="612706" y="1647170"/>
            <a:ext cx="6422075" cy="1078706"/>
          </a:xfrm>
          <a:custGeom>
            <a:avLst/>
            <a:gdLst>
              <a:gd name="csX0" fmla="*/ 76172 w 6296860"/>
              <a:gd name="csY0" fmla="*/ 0 h 1078706"/>
              <a:gd name="csX1" fmla="*/ 6241058 w 6296860"/>
              <a:gd name="csY1" fmla="*/ 0 h 1078706"/>
              <a:gd name="csX2" fmla="*/ 6296860 w 6296860"/>
              <a:gd name="csY2" fmla="*/ 55780 h 1078706"/>
              <a:gd name="csX3" fmla="*/ 6296860 w 6296860"/>
              <a:gd name="csY3" fmla="*/ 1022924 h 1078706"/>
              <a:gd name="csX4" fmla="*/ 6241058 w 6296860"/>
              <a:gd name="csY4" fmla="*/ 1078706 h 1078706"/>
              <a:gd name="csX5" fmla="*/ 76172 w 6296860"/>
              <a:gd name="csY5" fmla="*/ 1078706 h 1078706"/>
              <a:gd name="csX6" fmla="*/ 0 w 6296860"/>
              <a:gd name="csY6" fmla="*/ 1002562 h 1078706"/>
              <a:gd name="csX7" fmla="*/ 0 w 6296860"/>
              <a:gd name="csY7" fmla="*/ 76144 h 1078706"/>
              <a:gd name="csX8" fmla="*/ 76172 w 6296860"/>
              <a:gd name="csY8" fmla="*/ 0 h 10787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296860" h="1078706">
                <a:moveTo>
                  <a:pt x="76172" y="0"/>
                </a:moveTo>
                <a:lnTo>
                  <a:pt x="6241058" y="0"/>
                </a:lnTo>
                <a:cubicBezTo>
                  <a:pt x="6271876" y="0"/>
                  <a:pt x="6296860" y="24974"/>
                  <a:pt x="6296860" y="55780"/>
                </a:cubicBezTo>
                <a:lnTo>
                  <a:pt x="6296860" y="1022924"/>
                </a:lnTo>
                <a:cubicBezTo>
                  <a:pt x="6296860" y="1053731"/>
                  <a:pt x="6271876" y="1078706"/>
                  <a:pt x="6241058" y="1078706"/>
                </a:cubicBezTo>
                <a:lnTo>
                  <a:pt x="76172" y="1078706"/>
                </a:lnTo>
                <a:cubicBezTo>
                  <a:pt x="34103" y="1078706"/>
                  <a:pt x="0" y="1044613"/>
                  <a:pt x="0" y="1002562"/>
                </a:cubicBezTo>
                <a:lnTo>
                  <a:pt x="0" y="76144"/>
                </a:lnTo>
                <a:cubicBezTo>
                  <a:pt x="0" y="34091"/>
                  <a:pt x="34103" y="0"/>
                  <a:pt x="76172" y="0"/>
                </a:cubicBezTo>
              </a:path>
            </a:pathLst>
          </a:custGeom>
          <a:solidFill>
            <a:srgbClr val="0F172A"/>
          </a:solidFill>
          <a:ln w="6347" cap="flat">
            <a:solidFill>
              <a:srgbClr val="49DE80"/>
            </a:solidFill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CFAF86CB-4DC8-B1A0-E3F6-182B78A29C5E}"/>
              </a:ext>
            </a:extLst>
          </p:cNvPr>
          <p:cNvSpPr/>
          <p:nvPr/>
        </p:nvSpPr>
        <p:spPr>
          <a:xfrm>
            <a:off x="612707" y="1647170"/>
            <a:ext cx="6422076" cy="1078706"/>
          </a:xfrm>
          <a:custGeom>
            <a:avLst/>
            <a:gdLst>
              <a:gd name="csX0" fmla="*/ 22312 w 6296860"/>
              <a:gd name="csY0" fmla="*/ 22304 h 1078706"/>
              <a:gd name="csX1" fmla="*/ 76172 w 6296860"/>
              <a:gd name="csY1" fmla="*/ 0 h 1078706"/>
              <a:gd name="csX2" fmla="*/ 6241058 w 6296860"/>
              <a:gd name="csY2" fmla="*/ 0 h 1078706"/>
              <a:gd name="csX3" fmla="*/ 6296860 w 6296860"/>
              <a:gd name="csY3" fmla="*/ 55780 h 1078706"/>
              <a:gd name="csX4" fmla="*/ 6296860 w 6296860"/>
              <a:gd name="csY4" fmla="*/ 1022924 h 1078706"/>
              <a:gd name="csX5" fmla="*/ 6241058 w 6296860"/>
              <a:gd name="csY5" fmla="*/ 1078706 h 1078706"/>
              <a:gd name="csX6" fmla="*/ 76172 w 6296860"/>
              <a:gd name="csY6" fmla="*/ 1078706 h 1078706"/>
              <a:gd name="csX7" fmla="*/ 0 w 6296860"/>
              <a:gd name="csY7" fmla="*/ 1002562 h 1078706"/>
              <a:gd name="csX8" fmla="*/ 0 w 6296860"/>
              <a:gd name="csY8" fmla="*/ 76144 h 1078706"/>
              <a:gd name="csX9" fmla="*/ 22312 w 6296860"/>
              <a:gd name="csY9" fmla="*/ 22304 h 10787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296860" h="1078706">
                <a:moveTo>
                  <a:pt x="22312" y="22304"/>
                </a:moveTo>
                <a:cubicBezTo>
                  <a:pt x="36596" y="8024"/>
                  <a:pt x="55970" y="1"/>
                  <a:pt x="76172" y="0"/>
                </a:cubicBezTo>
                <a:lnTo>
                  <a:pt x="6241058" y="0"/>
                </a:lnTo>
                <a:cubicBezTo>
                  <a:pt x="6271876" y="0"/>
                  <a:pt x="6296860" y="24974"/>
                  <a:pt x="6296860" y="55780"/>
                </a:cubicBezTo>
                <a:lnTo>
                  <a:pt x="6296860" y="1022924"/>
                </a:lnTo>
                <a:cubicBezTo>
                  <a:pt x="6296860" y="1053731"/>
                  <a:pt x="6271876" y="1078706"/>
                  <a:pt x="6241058" y="1078706"/>
                </a:cubicBezTo>
                <a:lnTo>
                  <a:pt x="76172" y="1078706"/>
                </a:lnTo>
                <a:cubicBezTo>
                  <a:pt x="34103" y="1078706"/>
                  <a:pt x="0" y="1044613"/>
                  <a:pt x="0" y="1002562"/>
                </a:cubicBezTo>
                <a:lnTo>
                  <a:pt x="0" y="76144"/>
                </a:lnTo>
                <a:cubicBezTo>
                  <a:pt x="1" y="55950"/>
                  <a:pt x="8027" y="36583"/>
                  <a:pt x="22312" y="22304"/>
                </a:cubicBezTo>
              </a:path>
            </a:pathLst>
          </a:custGeom>
          <a:noFill/>
          <a:ln w="25400" cap="flat">
            <a:solidFill>
              <a:srgbClr val="49DE80"/>
            </a:solidFill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E2418F62-69CD-B333-328E-8DD247A7AB75}"/>
              </a:ext>
            </a:extLst>
          </p:cNvPr>
          <p:cNvSpPr/>
          <p:nvPr/>
        </p:nvSpPr>
        <p:spPr>
          <a:xfrm>
            <a:off x="612706" y="1647169"/>
            <a:ext cx="76171" cy="1078706"/>
          </a:xfrm>
          <a:custGeom>
            <a:avLst/>
            <a:gdLst>
              <a:gd name="csX0" fmla="*/ 55800 w 76171"/>
              <a:gd name="csY0" fmla="*/ 0 h 1078706"/>
              <a:gd name="csX1" fmla="*/ 76172 w 76171"/>
              <a:gd name="csY1" fmla="*/ 0 h 1078706"/>
              <a:gd name="csX2" fmla="*/ 76172 w 76171"/>
              <a:gd name="csY2" fmla="*/ 0 h 1078706"/>
              <a:gd name="csX3" fmla="*/ 76172 w 76171"/>
              <a:gd name="csY3" fmla="*/ 1078706 h 1078706"/>
              <a:gd name="csX4" fmla="*/ 76172 w 76171"/>
              <a:gd name="csY4" fmla="*/ 1078706 h 1078706"/>
              <a:gd name="csX5" fmla="*/ 55800 w 76171"/>
              <a:gd name="csY5" fmla="*/ 1078706 h 1078706"/>
              <a:gd name="csX6" fmla="*/ 0 w 76171"/>
              <a:gd name="csY6" fmla="*/ 1022924 h 1078706"/>
              <a:gd name="csX7" fmla="*/ 0 w 76171"/>
              <a:gd name="csY7" fmla="*/ 55780 h 1078706"/>
              <a:gd name="csX8" fmla="*/ 55800 w 76171"/>
              <a:gd name="csY8" fmla="*/ 0 h 10787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6171" h="1078706">
                <a:moveTo>
                  <a:pt x="55800" y="0"/>
                </a:moveTo>
                <a:lnTo>
                  <a:pt x="76172" y="0"/>
                </a:lnTo>
                <a:lnTo>
                  <a:pt x="76172" y="0"/>
                </a:lnTo>
                <a:lnTo>
                  <a:pt x="76172" y="1078706"/>
                </a:lnTo>
                <a:lnTo>
                  <a:pt x="76172" y="1078706"/>
                </a:lnTo>
                <a:lnTo>
                  <a:pt x="55800" y="1078706"/>
                </a:lnTo>
                <a:cubicBezTo>
                  <a:pt x="24983" y="1078706"/>
                  <a:pt x="0" y="1053731"/>
                  <a:pt x="0" y="1022924"/>
                </a:cubicBezTo>
                <a:lnTo>
                  <a:pt x="0" y="55780"/>
                </a:lnTo>
                <a:cubicBezTo>
                  <a:pt x="0" y="24974"/>
                  <a:pt x="24983" y="0"/>
                  <a:pt x="55800" y="0"/>
                </a:cubicBezTo>
              </a:path>
            </a:pathLst>
          </a:custGeom>
          <a:solidFill>
            <a:srgbClr val="49DE80"/>
          </a:solidFill>
          <a:ln w="6347" cap="flat">
            <a:solidFill>
              <a:srgbClr val="49DE80"/>
            </a:solidFill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 2"/>
          <p:cNvSpPr/>
          <p:nvPr/>
        </p:nvSpPr>
        <p:spPr>
          <a:xfrm>
            <a:off x="867395" y="1825665"/>
            <a:ext cx="586368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it-IT" sz="175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Non </a:t>
            </a:r>
            <a:r>
              <a:rPr lang="it-IT" sz="175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è</a:t>
            </a:r>
            <a:r>
              <a:rPr lang="it-IT" sz="175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un LLM: non genera nulla, misura</a:t>
            </a:r>
            <a:endParaRPr lang="it-IT" sz="1750" noProof="0" dirty="0"/>
          </a:p>
        </p:txBody>
      </p:sp>
      <p:sp>
        <p:nvSpPr>
          <p:cNvPr id="7" name="Text 3"/>
          <p:cNvSpPr/>
          <p:nvPr/>
        </p:nvSpPr>
        <p:spPr>
          <a:xfrm>
            <a:off x="867395" y="2165390"/>
            <a:ext cx="5863681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500" noProof="0" dirty="0">
                <a:solidFill>
                  <a:srgbClr val="94A3B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Quanto un’immagine corrisponde a una frase. Un modello della famiglia CLIP: Contrastive Language–Image Pre-training</a:t>
            </a:r>
            <a:endParaRPr lang="it-IT" sz="1500" noProof="0" dirty="0">
              <a:solidFill>
                <a:srgbClr val="94A3B8"/>
              </a:solidFill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1BB537FF-2E15-7E0A-63CC-43AF98C52326}"/>
              </a:ext>
            </a:extLst>
          </p:cNvPr>
          <p:cNvSpPr/>
          <p:nvPr/>
        </p:nvSpPr>
        <p:spPr>
          <a:xfrm>
            <a:off x="612707" y="2860417"/>
            <a:ext cx="6422074" cy="1078706"/>
          </a:xfrm>
          <a:custGeom>
            <a:avLst/>
            <a:gdLst>
              <a:gd name="csX0" fmla="*/ 76172 w 6296860"/>
              <a:gd name="csY0" fmla="*/ 0 h 1078706"/>
              <a:gd name="csX1" fmla="*/ 6241058 w 6296860"/>
              <a:gd name="csY1" fmla="*/ 0 h 1078706"/>
              <a:gd name="csX2" fmla="*/ 6296860 w 6296860"/>
              <a:gd name="csY2" fmla="*/ 55780 h 1078706"/>
              <a:gd name="csX3" fmla="*/ 6296860 w 6296860"/>
              <a:gd name="csY3" fmla="*/ 1022924 h 1078706"/>
              <a:gd name="csX4" fmla="*/ 6241058 w 6296860"/>
              <a:gd name="csY4" fmla="*/ 1078706 h 1078706"/>
              <a:gd name="csX5" fmla="*/ 76172 w 6296860"/>
              <a:gd name="csY5" fmla="*/ 1078706 h 1078706"/>
              <a:gd name="csX6" fmla="*/ 0 w 6296860"/>
              <a:gd name="csY6" fmla="*/ 1002562 h 1078706"/>
              <a:gd name="csX7" fmla="*/ 0 w 6296860"/>
              <a:gd name="csY7" fmla="*/ 76144 h 1078706"/>
              <a:gd name="csX8" fmla="*/ 76172 w 6296860"/>
              <a:gd name="csY8" fmla="*/ 0 h 10787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296860" h="1078706">
                <a:moveTo>
                  <a:pt x="76172" y="0"/>
                </a:moveTo>
                <a:lnTo>
                  <a:pt x="6241058" y="0"/>
                </a:lnTo>
                <a:cubicBezTo>
                  <a:pt x="6271876" y="0"/>
                  <a:pt x="6296860" y="24974"/>
                  <a:pt x="6296860" y="55780"/>
                </a:cubicBezTo>
                <a:lnTo>
                  <a:pt x="6296860" y="1022924"/>
                </a:lnTo>
                <a:cubicBezTo>
                  <a:pt x="6296860" y="1053731"/>
                  <a:pt x="6271876" y="1078706"/>
                  <a:pt x="6241058" y="1078706"/>
                </a:cubicBezTo>
                <a:lnTo>
                  <a:pt x="76172" y="1078706"/>
                </a:lnTo>
                <a:cubicBezTo>
                  <a:pt x="34103" y="1078706"/>
                  <a:pt x="0" y="1044613"/>
                  <a:pt x="0" y="1002562"/>
                </a:cubicBezTo>
                <a:lnTo>
                  <a:pt x="0" y="76144"/>
                </a:lnTo>
                <a:cubicBezTo>
                  <a:pt x="0" y="34091"/>
                  <a:pt x="34103" y="0"/>
                  <a:pt x="76172" y="0"/>
                </a:cubicBezTo>
              </a:path>
            </a:pathLst>
          </a:custGeom>
          <a:solidFill>
            <a:srgbClr val="0F172A"/>
          </a:solidFill>
          <a:ln w="6347" cap="flat">
            <a:solidFill>
              <a:srgbClr val="49DE80"/>
            </a:solidFill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27C96B67-D110-0B96-A35B-DA35C702EDC7}"/>
              </a:ext>
            </a:extLst>
          </p:cNvPr>
          <p:cNvSpPr/>
          <p:nvPr/>
        </p:nvSpPr>
        <p:spPr>
          <a:xfrm>
            <a:off x="612707" y="2860417"/>
            <a:ext cx="6422074" cy="1078706"/>
          </a:xfrm>
          <a:custGeom>
            <a:avLst/>
            <a:gdLst>
              <a:gd name="csX0" fmla="*/ 22312 w 6296860"/>
              <a:gd name="csY0" fmla="*/ 22304 h 1078706"/>
              <a:gd name="csX1" fmla="*/ 76172 w 6296860"/>
              <a:gd name="csY1" fmla="*/ 0 h 1078706"/>
              <a:gd name="csX2" fmla="*/ 6241058 w 6296860"/>
              <a:gd name="csY2" fmla="*/ 0 h 1078706"/>
              <a:gd name="csX3" fmla="*/ 6296860 w 6296860"/>
              <a:gd name="csY3" fmla="*/ 55780 h 1078706"/>
              <a:gd name="csX4" fmla="*/ 6296860 w 6296860"/>
              <a:gd name="csY4" fmla="*/ 1022924 h 1078706"/>
              <a:gd name="csX5" fmla="*/ 6241058 w 6296860"/>
              <a:gd name="csY5" fmla="*/ 1078706 h 1078706"/>
              <a:gd name="csX6" fmla="*/ 76172 w 6296860"/>
              <a:gd name="csY6" fmla="*/ 1078706 h 1078706"/>
              <a:gd name="csX7" fmla="*/ 0 w 6296860"/>
              <a:gd name="csY7" fmla="*/ 1002562 h 1078706"/>
              <a:gd name="csX8" fmla="*/ 0 w 6296860"/>
              <a:gd name="csY8" fmla="*/ 76144 h 1078706"/>
              <a:gd name="csX9" fmla="*/ 22312 w 6296860"/>
              <a:gd name="csY9" fmla="*/ 22304 h 10787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296860" h="1078706">
                <a:moveTo>
                  <a:pt x="22312" y="22304"/>
                </a:moveTo>
                <a:cubicBezTo>
                  <a:pt x="36596" y="8024"/>
                  <a:pt x="55970" y="1"/>
                  <a:pt x="76172" y="0"/>
                </a:cubicBezTo>
                <a:lnTo>
                  <a:pt x="6241058" y="0"/>
                </a:lnTo>
                <a:cubicBezTo>
                  <a:pt x="6271876" y="0"/>
                  <a:pt x="6296860" y="24974"/>
                  <a:pt x="6296860" y="55780"/>
                </a:cubicBezTo>
                <a:lnTo>
                  <a:pt x="6296860" y="1022924"/>
                </a:lnTo>
                <a:cubicBezTo>
                  <a:pt x="6296860" y="1053731"/>
                  <a:pt x="6271876" y="1078706"/>
                  <a:pt x="6241058" y="1078706"/>
                </a:cubicBezTo>
                <a:lnTo>
                  <a:pt x="76172" y="1078706"/>
                </a:lnTo>
                <a:cubicBezTo>
                  <a:pt x="34103" y="1078706"/>
                  <a:pt x="0" y="1044613"/>
                  <a:pt x="0" y="1002562"/>
                </a:cubicBezTo>
                <a:lnTo>
                  <a:pt x="0" y="76144"/>
                </a:lnTo>
                <a:cubicBezTo>
                  <a:pt x="1" y="55950"/>
                  <a:pt x="8027" y="36583"/>
                  <a:pt x="22312" y="22304"/>
                </a:cubicBezTo>
              </a:path>
            </a:pathLst>
          </a:custGeom>
          <a:noFill/>
          <a:ln w="25400" cap="flat">
            <a:solidFill>
              <a:srgbClr val="49DE80"/>
            </a:solidFill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B1FF906B-C75A-43B0-E98E-D904F33B90F3}"/>
              </a:ext>
            </a:extLst>
          </p:cNvPr>
          <p:cNvSpPr/>
          <p:nvPr/>
        </p:nvSpPr>
        <p:spPr>
          <a:xfrm>
            <a:off x="612706" y="2860416"/>
            <a:ext cx="76171" cy="1078706"/>
          </a:xfrm>
          <a:custGeom>
            <a:avLst/>
            <a:gdLst>
              <a:gd name="csX0" fmla="*/ 55800 w 76171"/>
              <a:gd name="csY0" fmla="*/ 0 h 1078706"/>
              <a:gd name="csX1" fmla="*/ 76172 w 76171"/>
              <a:gd name="csY1" fmla="*/ 0 h 1078706"/>
              <a:gd name="csX2" fmla="*/ 76172 w 76171"/>
              <a:gd name="csY2" fmla="*/ 0 h 1078706"/>
              <a:gd name="csX3" fmla="*/ 76172 w 76171"/>
              <a:gd name="csY3" fmla="*/ 1078706 h 1078706"/>
              <a:gd name="csX4" fmla="*/ 76172 w 76171"/>
              <a:gd name="csY4" fmla="*/ 1078706 h 1078706"/>
              <a:gd name="csX5" fmla="*/ 55800 w 76171"/>
              <a:gd name="csY5" fmla="*/ 1078706 h 1078706"/>
              <a:gd name="csX6" fmla="*/ 0 w 76171"/>
              <a:gd name="csY6" fmla="*/ 1022924 h 1078706"/>
              <a:gd name="csX7" fmla="*/ 0 w 76171"/>
              <a:gd name="csY7" fmla="*/ 55780 h 1078706"/>
              <a:gd name="csX8" fmla="*/ 55800 w 76171"/>
              <a:gd name="csY8" fmla="*/ 0 h 10787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6171" h="1078706">
                <a:moveTo>
                  <a:pt x="55800" y="0"/>
                </a:moveTo>
                <a:lnTo>
                  <a:pt x="76172" y="0"/>
                </a:lnTo>
                <a:lnTo>
                  <a:pt x="76172" y="0"/>
                </a:lnTo>
                <a:lnTo>
                  <a:pt x="76172" y="1078706"/>
                </a:lnTo>
                <a:lnTo>
                  <a:pt x="76172" y="1078706"/>
                </a:lnTo>
                <a:lnTo>
                  <a:pt x="55800" y="1078706"/>
                </a:lnTo>
                <a:cubicBezTo>
                  <a:pt x="24983" y="1078706"/>
                  <a:pt x="0" y="1053731"/>
                  <a:pt x="0" y="1022924"/>
                </a:cubicBezTo>
                <a:lnTo>
                  <a:pt x="0" y="55780"/>
                </a:lnTo>
                <a:cubicBezTo>
                  <a:pt x="0" y="24974"/>
                  <a:pt x="24983" y="0"/>
                  <a:pt x="55800" y="0"/>
                </a:cubicBezTo>
              </a:path>
            </a:pathLst>
          </a:custGeom>
          <a:solidFill>
            <a:srgbClr val="49DE80"/>
          </a:solidFill>
          <a:ln w="6347" cap="flat">
            <a:solidFill>
              <a:srgbClr val="49DE80"/>
            </a:solidFill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9" name="Text 4"/>
          <p:cNvSpPr/>
          <p:nvPr/>
        </p:nvSpPr>
        <p:spPr>
          <a:xfrm>
            <a:off x="867395" y="3038912"/>
            <a:ext cx="586368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7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La versione mobile di CLIP di Apple</a:t>
            </a:r>
            <a:endParaRPr lang="it-IT" sz="1700" noProof="0" dirty="0"/>
          </a:p>
        </p:txBody>
      </p:sp>
      <p:sp>
        <p:nvSpPr>
          <p:cNvPr id="10" name="Text 5"/>
          <p:cNvSpPr/>
          <p:nvPr/>
        </p:nvSpPr>
        <p:spPr>
          <a:xfrm>
            <a:off x="867394" y="3378637"/>
            <a:ext cx="6167389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450" noProof="0" dirty="0">
                <a:solidFill>
                  <a:srgbClr val="94A3B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Distillato da modelli più grandi. S2 è il giusto mix accuratezza/velocità: zero-shot accurato come modelli più grandi, a latenza da telefono</a:t>
            </a:r>
            <a:endParaRPr lang="it-IT" sz="1450" noProof="0" dirty="0">
              <a:solidFill>
                <a:srgbClr val="94A3B8"/>
              </a:solidFill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2A2ACE08-D46B-DD8E-64BA-88D74DD7DD1D}"/>
              </a:ext>
            </a:extLst>
          </p:cNvPr>
          <p:cNvSpPr/>
          <p:nvPr/>
        </p:nvSpPr>
        <p:spPr>
          <a:xfrm>
            <a:off x="612707" y="4073664"/>
            <a:ext cx="6422074" cy="1078706"/>
          </a:xfrm>
          <a:custGeom>
            <a:avLst/>
            <a:gdLst>
              <a:gd name="csX0" fmla="*/ 76172 w 6296860"/>
              <a:gd name="csY0" fmla="*/ 0 h 1078706"/>
              <a:gd name="csX1" fmla="*/ 6241058 w 6296860"/>
              <a:gd name="csY1" fmla="*/ 0 h 1078706"/>
              <a:gd name="csX2" fmla="*/ 6296860 w 6296860"/>
              <a:gd name="csY2" fmla="*/ 55780 h 1078706"/>
              <a:gd name="csX3" fmla="*/ 6296860 w 6296860"/>
              <a:gd name="csY3" fmla="*/ 1022924 h 1078706"/>
              <a:gd name="csX4" fmla="*/ 6241058 w 6296860"/>
              <a:gd name="csY4" fmla="*/ 1078706 h 1078706"/>
              <a:gd name="csX5" fmla="*/ 76172 w 6296860"/>
              <a:gd name="csY5" fmla="*/ 1078706 h 1078706"/>
              <a:gd name="csX6" fmla="*/ 0 w 6296860"/>
              <a:gd name="csY6" fmla="*/ 1002562 h 1078706"/>
              <a:gd name="csX7" fmla="*/ 0 w 6296860"/>
              <a:gd name="csY7" fmla="*/ 76144 h 1078706"/>
              <a:gd name="csX8" fmla="*/ 76172 w 6296860"/>
              <a:gd name="csY8" fmla="*/ 0 h 10787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296860" h="1078706">
                <a:moveTo>
                  <a:pt x="76172" y="0"/>
                </a:moveTo>
                <a:lnTo>
                  <a:pt x="6241058" y="0"/>
                </a:lnTo>
                <a:cubicBezTo>
                  <a:pt x="6271876" y="0"/>
                  <a:pt x="6296860" y="24974"/>
                  <a:pt x="6296860" y="55780"/>
                </a:cubicBezTo>
                <a:lnTo>
                  <a:pt x="6296860" y="1022924"/>
                </a:lnTo>
                <a:cubicBezTo>
                  <a:pt x="6296860" y="1053731"/>
                  <a:pt x="6271876" y="1078706"/>
                  <a:pt x="6241058" y="1078706"/>
                </a:cubicBezTo>
                <a:lnTo>
                  <a:pt x="76172" y="1078706"/>
                </a:lnTo>
                <a:cubicBezTo>
                  <a:pt x="34103" y="1078706"/>
                  <a:pt x="0" y="1044613"/>
                  <a:pt x="0" y="1002562"/>
                </a:cubicBezTo>
                <a:lnTo>
                  <a:pt x="0" y="76144"/>
                </a:lnTo>
                <a:cubicBezTo>
                  <a:pt x="0" y="34091"/>
                  <a:pt x="34103" y="0"/>
                  <a:pt x="76172" y="0"/>
                </a:cubicBezTo>
              </a:path>
            </a:pathLst>
          </a:custGeom>
          <a:solidFill>
            <a:srgbClr val="0F172A"/>
          </a:solidFill>
          <a:ln w="6347" cap="flat">
            <a:solidFill>
              <a:srgbClr val="49DE80"/>
            </a:solidFill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E23A065A-A4EC-AD1E-902F-A464AEEEC8AD}"/>
              </a:ext>
            </a:extLst>
          </p:cNvPr>
          <p:cNvSpPr/>
          <p:nvPr/>
        </p:nvSpPr>
        <p:spPr>
          <a:xfrm>
            <a:off x="612707" y="4073664"/>
            <a:ext cx="6422074" cy="1078706"/>
          </a:xfrm>
          <a:custGeom>
            <a:avLst/>
            <a:gdLst>
              <a:gd name="csX0" fmla="*/ 22312 w 6296860"/>
              <a:gd name="csY0" fmla="*/ 22304 h 1078706"/>
              <a:gd name="csX1" fmla="*/ 76172 w 6296860"/>
              <a:gd name="csY1" fmla="*/ 0 h 1078706"/>
              <a:gd name="csX2" fmla="*/ 6241058 w 6296860"/>
              <a:gd name="csY2" fmla="*/ 0 h 1078706"/>
              <a:gd name="csX3" fmla="*/ 6296860 w 6296860"/>
              <a:gd name="csY3" fmla="*/ 55780 h 1078706"/>
              <a:gd name="csX4" fmla="*/ 6296860 w 6296860"/>
              <a:gd name="csY4" fmla="*/ 1022924 h 1078706"/>
              <a:gd name="csX5" fmla="*/ 6241058 w 6296860"/>
              <a:gd name="csY5" fmla="*/ 1078706 h 1078706"/>
              <a:gd name="csX6" fmla="*/ 76172 w 6296860"/>
              <a:gd name="csY6" fmla="*/ 1078706 h 1078706"/>
              <a:gd name="csX7" fmla="*/ 0 w 6296860"/>
              <a:gd name="csY7" fmla="*/ 1002562 h 1078706"/>
              <a:gd name="csX8" fmla="*/ 0 w 6296860"/>
              <a:gd name="csY8" fmla="*/ 76144 h 1078706"/>
              <a:gd name="csX9" fmla="*/ 22312 w 6296860"/>
              <a:gd name="csY9" fmla="*/ 22304 h 10787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296860" h="1078706">
                <a:moveTo>
                  <a:pt x="22312" y="22304"/>
                </a:moveTo>
                <a:cubicBezTo>
                  <a:pt x="36596" y="8024"/>
                  <a:pt x="55970" y="1"/>
                  <a:pt x="76172" y="0"/>
                </a:cubicBezTo>
                <a:lnTo>
                  <a:pt x="6241058" y="0"/>
                </a:lnTo>
                <a:cubicBezTo>
                  <a:pt x="6271876" y="0"/>
                  <a:pt x="6296860" y="24974"/>
                  <a:pt x="6296860" y="55780"/>
                </a:cubicBezTo>
                <a:lnTo>
                  <a:pt x="6296860" y="1022924"/>
                </a:lnTo>
                <a:cubicBezTo>
                  <a:pt x="6296860" y="1053731"/>
                  <a:pt x="6271876" y="1078706"/>
                  <a:pt x="6241058" y="1078706"/>
                </a:cubicBezTo>
                <a:lnTo>
                  <a:pt x="76172" y="1078706"/>
                </a:lnTo>
                <a:cubicBezTo>
                  <a:pt x="34103" y="1078706"/>
                  <a:pt x="0" y="1044613"/>
                  <a:pt x="0" y="1002562"/>
                </a:cubicBezTo>
                <a:lnTo>
                  <a:pt x="0" y="76144"/>
                </a:lnTo>
                <a:cubicBezTo>
                  <a:pt x="1" y="55950"/>
                  <a:pt x="8027" y="36583"/>
                  <a:pt x="22312" y="22304"/>
                </a:cubicBezTo>
              </a:path>
            </a:pathLst>
          </a:custGeom>
          <a:noFill/>
          <a:ln w="25400" cap="flat">
            <a:solidFill>
              <a:srgbClr val="49DE80"/>
            </a:solidFill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28644500-05F3-4E3D-C1FF-F86FCBE810FF}"/>
              </a:ext>
            </a:extLst>
          </p:cNvPr>
          <p:cNvSpPr/>
          <p:nvPr/>
        </p:nvSpPr>
        <p:spPr>
          <a:xfrm>
            <a:off x="612706" y="4073663"/>
            <a:ext cx="76171" cy="1078706"/>
          </a:xfrm>
          <a:custGeom>
            <a:avLst/>
            <a:gdLst>
              <a:gd name="csX0" fmla="*/ 55800 w 76171"/>
              <a:gd name="csY0" fmla="*/ 0 h 1078706"/>
              <a:gd name="csX1" fmla="*/ 76172 w 76171"/>
              <a:gd name="csY1" fmla="*/ 0 h 1078706"/>
              <a:gd name="csX2" fmla="*/ 76172 w 76171"/>
              <a:gd name="csY2" fmla="*/ 0 h 1078706"/>
              <a:gd name="csX3" fmla="*/ 76172 w 76171"/>
              <a:gd name="csY3" fmla="*/ 1078706 h 1078706"/>
              <a:gd name="csX4" fmla="*/ 76172 w 76171"/>
              <a:gd name="csY4" fmla="*/ 1078706 h 1078706"/>
              <a:gd name="csX5" fmla="*/ 55800 w 76171"/>
              <a:gd name="csY5" fmla="*/ 1078706 h 1078706"/>
              <a:gd name="csX6" fmla="*/ 0 w 76171"/>
              <a:gd name="csY6" fmla="*/ 1022924 h 1078706"/>
              <a:gd name="csX7" fmla="*/ 0 w 76171"/>
              <a:gd name="csY7" fmla="*/ 55780 h 1078706"/>
              <a:gd name="csX8" fmla="*/ 55800 w 76171"/>
              <a:gd name="csY8" fmla="*/ 0 h 10787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6171" h="1078706">
                <a:moveTo>
                  <a:pt x="55800" y="0"/>
                </a:moveTo>
                <a:lnTo>
                  <a:pt x="76172" y="0"/>
                </a:lnTo>
                <a:lnTo>
                  <a:pt x="76172" y="0"/>
                </a:lnTo>
                <a:lnTo>
                  <a:pt x="76172" y="1078706"/>
                </a:lnTo>
                <a:lnTo>
                  <a:pt x="76172" y="1078706"/>
                </a:lnTo>
                <a:lnTo>
                  <a:pt x="55800" y="1078706"/>
                </a:lnTo>
                <a:cubicBezTo>
                  <a:pt x="24983" y="1078706"/>
                  <a:pt x="0" y="1053731"/>
                  <a:pt x="0" y="1022924"/>
                </a:cubicBezTo>
                <a:lnTo>
                  <a:pt x="0" y="55780"/>
                </a:lnTo>
                <a:cubicBezTo>
                  <a:pt x="0" y="24974"/>
                  <a:pt x="24983" y="0"/>
                  <a:pt x="55800" y="0"/>
                </a:cubicBezTo>
              </a:path>
            </a:pathLst>
          </a:custGeom>
          <a:solidFill>
            <a:srgbClr val="49DE80"/>
          </a:solidFill>
          <a:ln w="6347" cap="flat">
            <a:solidFill>
              <a:srgbClr val="49DE80"/>
            </a:solidFill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2" name="Text 6"/>
          <p:cNvSpPr/>
          <p:nvPr/>
        </p:nvSpPr>
        <p:spPr>
          <a:xfrm>
            <a:off x="867395" y="4252158"/>
            <a:ext cx="586368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7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~140 MB, input 256×256, </a:t>
            </a:r>
            <a:r>
              <a:rPr lang="it-IT" sz="1700" noProof="0" dirty="0" err="1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embedding</a:t>
            </a:r>
            <a:r>
              <a:rPr lang="it-IT" sz="17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a 512 dimensioni</a:t>
            </a:r>
            <a:endParaRPr lang="it-IT" sz="1700" noProof="0" dirty="0"/>
          </a:p>
        </p:txBody>
      </p:sp>
      <p:sp>
        <p:nvSpPr>
          <p:cNvPr id="13" name="Text 7"/>
          <p:cNvSpPr/>
          <p:nvPr/>
        </p:nvSpPr>
        <p:spPr>
          <a:xfrm>
            <a:off x="867395" y="4591883"/>
            <a:ext cx="5863681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400" noProof="0" dirty="0">
                <a:solidFill>
                  <a:srgbClr val="94A3B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Minuscolo accanto a un LLM da 2 miliardi di parametri, e con un profilo di costo completamente diverso</a:t>
            </a:r>
            <a:endParaRPr lang="it-IT" sz="1400" noProof="0" dirty="0">
              <a:solidFill>
                <a:srgbClr val="94A3B8"/>
              </a:solidFill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E92B8EA7-1589-122E-2826-DF120881C004}"/>
              </a:ext>
            </a:extLst>
          </p:cNvPr>
          <p:cNvSpPr/>
          <p:nvPr/>
        </p:nvSpPr>
        <p:spPr>
          <a:xfrm>
            <a:off x="612707" y="5286911"/>
            <a:ext cx="6422074" cy="1078706"/>
          </a:xfrm>
          <a:custGeom>
            <a:avLst/>
            <a:gdLst>
              <a:gd name="csX0" fmla="*/ 76172 w 6296860"/>
              <a:gd name="csY0" fmla="*/ 0 h 1078706"/>
              <a:gd name="csX1" fmla="*/ 6241058 w 6296860"/>
              <a:gd name="csY1" fmla="*/ 0 h 1078706"/>
              <a:gd name="csX2" fmla="*/ 6296860 w 6296860"/>
              <a:gd name="csY2" fmla="*/ 55780 h 1078706"/>
              <a:gd name="csX3" fmla="*/ 6296860 w 6296860"/>
              <a:gd name="csY3" fmla="*/ 1022924 h 1078706"/>
              <a:gd name="csX4" fmla="*/ 6241058 w 6296860"/>
              <a:gd name="csY4" fmla="*/ 1078706 h 1078706"/>
              <a:gd name="csX5" fmla="*/ 76172 w 6296860"/>
              <a:gd name="csY5" fmla="*/ 1078706 h 1078706"/>
              <a:gd name="csX6" fmla="*/ 0 w 6296860"/>
              <a:gd name="csY6" fmla="*/ 1002562 h 1078706"/>
              <a:gd name="csX7" fmla="*/ 0 w 6296860"/>
              <a:gd name="csY7" fmla="*/ 76144 h 1078706"/>
              <a:gd name="csX8" fmla="*/ 76172 w 6296860"/>
              <a:gd name="csY8" fmla="*/ 0 h 10787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296860" h="1078706">
                <a:moveTo>
                  <a:pt x="76172" y="0"/>
                </a:moveTo>
                <a:lnTo>
                  <a:pt x="6241058" y="0"/>
                </a:lnTo>
                <a:cubicBezTo>
                  <a:pt x="6271876" y="0"/>
                  <a:pt x="6296860" y="24974"/>
                  <a:pt x="6296860" y="55780"/>
                </a:cubicBezTo>
                <a:lnTo>
                  <a:pt x="6296860" y="1022924"/>
                </a:lnTo>
                <a:cubicBezTo>
                  <a:pt x="6296860" y="1053731"/>
                  <a:pt x="6271876" y="1078706"/>
                  <a:pt x="6241058" y="1078706"/>
                </a:cubicBezTo>
                <a:lnTo>
                  <a:pt x="76172" y="1078706"/>
                </a:lnTo>
                <a:cubicBezTo>
                  <a:pt x="34103" y="1078706"/>
                  <a:pt x="0" y="1044613"/>
                  <a:pt x="0" y="1002562"/>
                </a:cubicBezTo>
                <a:lnTo>
                  <a:pt x="0" y="76144"/>
                </a:lnTo>
                <a:cubicBezTo>
                  <a:pt x="0" y="34091"/>
                  <a:pt x="34103" y="0"/>
                  <a:pt x="76172" y="0"/>
                </a:cubicBezTo>
              </a:path>
            </a:pathLst>
          </a:custGeom>
          <a:solidFill>
            <a:srgbClr val="0F172A"/>
          </a:solidFill>
          <a:ln w="6347" cap="flat">
            <a:solidFill>
              <a:srgbClr val="49DE80"/>
            </a:solidFill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93395D28-DB23-18BF-81E9-91A60F5D63AA}"/>
              </a:ext>
            </a:extLst>
          </p:cNvPr>
          <p:cNvSpPr/>
          <p:nvPr/>
        </p:nvSpPr>
        <p:spPr>
          <a:xfrm>
            <a:off x="612706" y="5286911"/>
            <a:ext cx="6422073" cy="1078706"/>
          </a:xfrm>
          <a:custGeom>
            <a:avLst/>
            <a:gdLst>
              <a:gd name="csX0" fmla="*/ 22312 w 6296860"/>
              <a:gd name="csY0" fmla="*/ 22304 h 1078706"/>
              <a:gd name="csX1" fmla="*/ 76172 w 6296860"/>
              <a:gd name="csY1" fmla="*/ 0 h 1078706"/>
              <a:gd name="csX2" fmla="*/ 6241058 w 6296860"/>
              <a:gd name="csY2" fmla="*/ 0 h 1078706"/>
              <a:gd name="csX3" fmla="*/ 6296860 w 6296860"/>
              <a:gd name="csY3" fmla="*/ 55780 h 1078706"/>
              <a:gd name="csX4" fmla="*/ 6296860 w 6296860"/>
              <a:gd name="csY4" fmla="*/ 1022924 h 1078706"/>
              <a:gd name="csX5" fmla="*/ 6241058 w 6296860"/>
              <a:gd name="csY5" fmla="*/ 1078706 h 1078706"/>
              <a:gd name="csX6" fmla="*/ 76172 w 6296860"/>
              <a:gd name="csY6" fmla="*/ 1078706 h 1078706"/>
              <a:gd name="csX7" fmla="*/ 0 w 6296860"/>
              <a:gd name="csY7" fmla="*/ 1002562 h 1078706"/>
              <a:gd name="csX8" fmla="*/ 0 w 6296860"/>
              <a:gd name="csY8" fmla="*/ 76144 h 1078706"/>
              <a:gd name="csX9" fmla="*/ 22312 w 6296860"/>
              <a:gd name="csY9" fmla="*/ 22304 h 10787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296860" h="1078706">
                <a:moveTo>
                  <a:pt x="22312" y="22304"/>
                </a:moveTo>
                <a:cubicBezTo>
                  <a:pt x="36596" y="8024"/>
                  <a:pt x="55970" y="1"/>
                  <a:pt x="76172" y="0"/>
                </a:cubicBezTo>
                <a:lnTo>
                  <a:pt x="6241058" y="0"/>
                </a:lnTo>
                <a:cubicBezTo>
                  <a:pt x="6271876" y="0"/>
                  <a:pt x="6296860" y="24974"/>
                  <a:pt x="6296860" y="55780"/>
                </a:cubicBezTo>
                <a:lnTo>
                  <a:pt x="6296860" y="1022924"/>
                </a:lnTo>
                <a:cubicBezTo>
                  <a:pt x="6296860" y="1053731"/>
                  <a:pt x="6271876" y="1078706"/>
                  <a:pt x="6241058" y="1078706"/>
                </a:cubicBezTo>
                <a:lnTo>
                  <a:pt x="76172" y="1078706"/>
                </a:lnTo>
                <a:cubicBezTo>
                  <a:pt x="34103" y="1078706"/>
                  <a:pt x="0" y="1044613"/>
                  <a:pt x="0" y="1002562"/>
                </a:cubicBezTo>
                <a:lnTo>
                  <a:pt x="0" y="76144"/>
                </a:lnTo>
                <a:cubicBezTo>
                  <a:pt x="1" y="55950"/>
                  <a:pt x="8027" y="36583"/>
                  <a:pt x="22312" y="22304"/>
                </a:cubicBezTo>
              </a:path>
            </a:pathLst>
          </a:custGeom>
          <a:noFill/>
          <a:ln w="25400" cap="flat">
            <a:solidFill>
              <a:srgbClr val="49DE80"/>
            </a:solidFill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424E8A60-A9EF-C8A1-A1EC-5338B642ACCA}"/>
              </a:ext>
            </a:extLst>
          </p:cNvPr>
          <p:cNvSpPr/>
          <p:nvPr/>
        </p:nvSpPr>
        <p:spPr>
          <a:xfrm>
            <a:off x="612706" y="5286910"/>
            <a:ext cx="76171" cy="1078706"/>
          </a:xfrm>
          <a:custGeom>
            <a:avLst/>
            <a:gdLst>
              <a:gd name="csX0" fmla="*/ 55800 w 76171"/>
              <a:gd name="csY0" fmla="*/ 0 h 1078706"/>
              <a:gd name="csX1" fmla="*/ 76172 w 76171"/>
              <a:gd name="csY1" fmla="*/ 0 h 1078706"/>
              <a:gd name="csX2" fmla="*/ 76172 w 76171"/>
              <a:gd name="csY2" fmla="*/ 0 h 1078706"/>
              <a:gd name="csX3" fmla="*/ 76172 w 76171"/>
              <a:gd name="csY3" fmla="*/ 1078706 h 1078706"/>
              <a:gd name="csX4" fmla="*/ 76172 w 76171"/>
              <a:gd name="csY4" fmla="*/ 1078706 h 1078706"/>
              <a:gd name="csX5" fmla="*/ 55800 w 76171"/>
              <a:gd name="csY5" fmla="*/ 1078706 h 1078706"/>
              <a:gd name="csX6" fmla="*/ 0 w 76171"/>
              <a:gd name="csY6" fmla="*/ 1022924 h 1078706"/>
              <a:gd name="csX7" fmla="*/ 0 w 76171"/>
              <a:gd name="csY7" fmla="*/ 55780 h 1078706"/>
              <a:gd name="csX8" fmla="*/ 55800 w 76171"/>
              <a:gd name="csY8" fmla="*/ 0 h 10787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6171" h="1078706">
                <a:moveTo>
                  <a:pt x="55800" y="0"/>
                </a:moveTo>
                <a:lnTo>
                  <a:pt x="76172" y="0"/>
                </a:lnTo>
                <a:lnTo>
                  <a:pt x="76172" y="0"/>
                </a:lnTo>
                <a:lnTo>
                  <a:pt x="76172" y="1078706"/>
                </a:lnTo>
                <a:lnTo>
                  <a:pt x="76172" y="1078706"/>
                </a:lnTo>
                <a:lnTo>
                  <a:pt x="55800" y="1078706"/>
                </a:lnTo>
                <a:cubicBezTo>
                  <a:pt x="24983" y="1078706"/>
                  <a:pt x="0" y="1053731"/>
                  <a:pt x="0" y="1022924"/>
                </a:cubicBezTo>
                <a:lnTo>
                  <a:pt x="0" y="55780"/>
                </a:lnTo>
                <a:cubicBezTo>
                  <a:pt x="0" y="24974"/>
                  <a:pt x="24983" y="0"/>
                  <a:pt x="55800" y="0"/>
                </a:cubicBezTo>
              </a:path>
            </a:pathLst>
          </a:custGeom>
          <a:solidFill>
            <a:srgbClr val="49DE80"/>
          </a:solidFill>
          <a:ln w="6347" cap="flat">
            <a:solidFill>
              <a:srgbClr val="49DE80"/>
            </a:solidFill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5" name="Text 8"/>
          <p:cNvSpPr/>
          <p:nvPr/>
        </p:nvSpPr>
        <p:spPr>
          <a:xfrm>
            <a:off x="867395" y="5465405"/>
            <a:ext cx="586368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7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Pesi aperti, si esporta senza problemi in </a:t>
            </a:r>
            <a:r>
              <a:rPr lang="it-IT" sz="1700" noProof="0" dirty="0" err="1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LiteRT</a:t>
            </a:r>
            <a:endParaRPr lang="it-IT" sz="1700" noProof="0" dirty="0"/>
          </a:p>
        </p:txBody>
      </p:sp>
      <p:sp>
        <p:nvSpPr>
          <p:cNvPr id="16" name="Text 9"/>
          <p:cNvSpPr/>
          <p:nvPr/>
        </p:nvSpPr>
        <p:spPr>
          <a:xfrm>
            <a:off x="867395" y="5805130"/>
            <a:ext cx="5863681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400" noProof="0" dirty="0">
                <a:solidFill>
                  <a:srgbClr val="94A3B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Gira su qualsiasi telefono Android. Nessun AICore richiesto, nessuna lotteria del silicio: questa può essere la base</a:t>
            </a:r>
            <a:endParaRPr lang="it-IT" sz="1400" noProof="0" dirty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00686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50" noProof="0" dirty="0">
                <a:solidFill>
                  <a:srgbClr val="49DE8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CAPITOLO 3 · RILEVAMENTO ZERO-SHOT</a:t>
            </a:r>
            <a:endParaRPr lang="it-IT" sz="1850" noProof="0" dirty="0">
              <a:solidFill>
                <a:srgbClr val="49DE8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583373"/>
            <a:ext cx="10868745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3700" noProof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Il riconoscimento non richiede un modello che scrive, ma uno che confronta</a:t>
            </a:r>
            <a:endParaRPr lang="it-IT" sz="3700" noProof="0" dirty="0"/>
          </a:p>
        </p:txBody>
      </p:sp>
      <p:sp>
        <p:nvSpPr>
          <p:cNvPr id="14" name="Image 0" descr="preencoded.png"/>
          <p:cNvSpPr/>
          <p:nvPr/>
        </p:nvSpPr>
        <p:spPr>
          <a:xfrm>
            <a:off x="636075" y="3374766"/>
            <a:ext cx="45719" cy="2123825"/>
          </a:xfrm>
          <a:prstGeom prst="rect">
            <a:avLst/>
          </a:prstGeom>
          <a:solidFill>
            <a:srgbClr val="49DE80"/>
          </a:solidFill>
          <a:ln w="6338" cap="flat">
            <a:noFill/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5" name="Text 2"/>
          <p:cNvSpPr/>
          <p:nvPr/>
        </p:nvSpPr>
        <p:spPr>
          <a:xfrm>
            <a:off x="901281" y="3400167"/>
            <a:ext cx="3225620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Modelli della famiglia CLIP: due piccoli encoder</a:t>
            </a:r>
            <a:endParaRPr lang="it-IT" sz="2000" noProof="0" dirty="0"/>
          </a:p>
        </p:txBody>
      </p:sp>
      <p:sp>
        <p:nvSpPr>
          <p:cNvPr id="6" name="Text 3"/>
          <p:cNvSpPr/>
          <p:nvPr/>
        </p:nvSpPr>
        <p:spPr>
          <a:xfrm>
            <a:off x="901281" y="4237466"/>
            <a:ext cx="3225620" cy="1370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Addestrati su milioni di coppie immagine–didascalia, così le coppie corrispondenti finiscono vicine nello spazio vettoriale.</a:t>
            </a:r>
          </a:p>
        </p:txBody>
      </p:sp>
      <p:sp>
        <p:nvSpPr>
          <p:cNvPr id="15" name="Image 1" descr="preencoded.png"/>
          <p:cNvSpPr/>
          <p:nvPr/>
        </p:nvSpPr>
        <p:spPr>
          <a:xfrm>
            <a:off x="4337735" y="3374767"/>
            <a:ext cx="54370" cy="2123824"/>
          </a:xfrm>
          <a:prstGeom prst="rect">
            <a:avLst/>
          </a:prstGeom>
          <a:solidFill>
            <a:srgbClr val="49DE80"/>
          </a:solidFill>
          <a:ln w="6338" cap="flat">
            <a:noFill/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8" name="Text 4"/>
          <p:cNvSpPr/>
          <p:nvPr/>
        </p:nvSpPr>
        <p:spPr>
          <a:xfrm>
            <a:off x="4602940" y="3400167"/>
            <a:ext cx="3225620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"È un’arancia?" diventa una similarità del coseno</a:t>
            </a:r>
            <a:endParaRPr lang="it-IT" sz="2000" noProof="0" dirty="0"/>
          </a:p>
        </p:txBody>
      </p:sp>
      <p:sp>
        <p:nvSpPr>
          <p:cNvPr id="9" name="Text 5"/>
          <p:cNvSpPr/>
          <p:nvPr/>
        </p:nvSpPr>
        <p:spPr>
          <a:xfrm>
            <a:off x="4602940" y="4237466"/>
            <a:ext cx="3225620" cy="114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Il riconoscimento diventa geometria: un prodotto scalare, non un paragrafo generato.</a:t>
            </a:r>
          </a:p>
        </p:txBody>
      </p:sp>
      <p:sp>
        <p:nvSpPr>
          <p:cNvPr id="16" name="Image 2" descr="preencoded.png"/>
          <p:cNvSpPr/>
          <p:nvPr/>
        </p:nvSpPr>
        <p:spPr>
          <a:xfrm>
            <a:off x="8039395" y="3374767"/>
            <a:ext cx="54370" cy="2123824"/>
          </a:xfrm>
          <a:prstGeom prst="rect">
            <a:avLst/>
          </a:prstGeom>
          <a:solidFill>
            <a:srgbClr val="49DE80"/>
          </a:solidFill>
          <a:ln w="6338" cap="flat">
            <a:noFill/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Text 6"/>
          <p:cNvSpPr/>
          <p:nvPr/>
        </p:nvSpPr>
        <p:spPr>
          <a:xfrm>
            <a:off x="8304600" y="3400167"/>
            <a:ext cx="3225620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Basta un encoder da ~140 MB</a:t>
            </a:r>
            <a:endParaRPr lang="it-IT" sz="2000" noProof="0" dirty="0"/>
          </a:p>
        </p:txBody>
      </p:sp>
      <p:sp>
        <p:nvSpPr>
          <p:cNvPr id="12" name="Text 7"/>
          <p:cNvSpPr/>
          <p:nvPr/>
        </p:nvSpPr>
        <p:spPr>
          <a:xfrm>
            <a:off x="8304600" y="4237466"/>
            <a:ext cx="3225620" cy="1256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MobileCLIP-S2 gira su </a:t>
            </a:r>
            <a:r>
              <a:rPr lang="it-IT" noProof="0" dirty="0" err="1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LiteRT</a:t>
            </a: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su qualsiasi telefono Android, nessun ciclo di </a:t>
            </a:r>
            <a:r>
              <a:rPr lang="it-IT" noProof="0" dirty="0" err="1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decode</a:t>
            </a: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richiesto.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87221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0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CAPITOLO 3 · IL TRUCCO</a:t>
            </a:r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872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36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Il vocabolario l’abbiamo costruito noi, ed è un file di testo</a:t>
            </a:r>
          </a:p>
        </p:txBody>
      </p:sp>
      <p:sp>
        <p:nvSpPr>
          <p:cNvPr id="4" name="Shape 2"/>
          <p:cNvSpPr/>
          <p:nvPr/>
        </p:nvSpPr>
        <p:spPr>
          <a:xfrm>
            <a:off x="661475" y="2307336"/>
            <a:ext cx="10868745" cy="3291840"/>
          </a:xfrm>
          <a:prstGeom prst="roundRect">
            <a:avLst>
              <a:gd name="adj" fmla="val 1925"/>
            </a:avLst>
          </a:prstGeom>
          <a:solidFill>
            <a:srgbClr val="1D232D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5" name="Shape 3"/>
          <p:cNvSpPr/>
          <p:nvPr/>
        </p:nvSpPr>
        <p:spPr>
          <a:xfrm>
            <a:off x="652942" y="2307336"/>
            <a:ext cx="10885810" cy="3544824"/>
          </a:xfrm>
          <a:prstGeom prst="roundRect">
            <a:avLst>
              <a:gd name="adj" fmla="val 687"/>
            </a:avLst>
          </a:prstGeom>
          <a:solidFill>
            <a:srgbClr val="1D232D"/>
          </a:solidFill>
          <a:ln/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66536" y="6129528"/>
            <a:ext cx="1087221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it-IT" sz="1700" noProof="0" dirty="0">
                <a:solidFill>
                  <a:srgbClr val="F2F5FA"/>
                </a:solidFill>
                <a:latin typeface="Geist"/>
                <a:ea typeface="Geist"/>
                <a:cs typeface="Geist"/>
              </a:rPr>
              <a:t>Il “classificatore” è un file di testo: vuoi un ingrediente in più? Aggiungi una riga.</a:t>
            </a:r>
            <a:endParaRPr lang="it-IT" sz="1700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86968" y="2444496"/>
            <a:ext cx="8595360" cy="3291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scripts/</a:t>
            </a:r>
            <a:r>
              <a:rPr lang="it-IT" sz="1600" noProof="0" dirty="0" err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ingredient_labels.txt</a:t>
            </a:r>
            <a:r>
              <a:rPr lang="it-IT" sz="1600" noProof="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· 870 etichette di ingredienti curate a mano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oranges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strawberries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 err="1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bananas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…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 err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lactose</a:t>
            </a:r>
            <a:r>
              <a:rPr lang="it-IT" sz="1600" noProof="0" dirty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-free </a:t>
            </a:r>
            <a:r>
              <a:rPr lang="it-IT" sz="1600" noProof="0" dirty="0" err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milk|milk</a:t>
            </a:r>
            <a:endParaRPr lang="it-IT" sz="1600" noProof="0" dirty="0">
              <a:solidFill>
                <a:srgbClr val="F59E0B"/>
              </a:solidFill>
              <a:latin typeface="Consolas"/>
              <a:ea typeface="Consolas"/>
              <a:cs typeface="Consolas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 err="1">
                <a:solidFill>
                  <a:srgbClr val="F59E0B"/>
                </a:solidFill>
                <a:latin typeface="Consolas"/>
                <a:cs typeface="Consolas"/>
              </a:rPr>
              <a:t>bottle</a:t>
            </a:r>
            <a:r>
              <a:rPr lang="it-IT" sz="1600" noProof="0" dirty="0">
                <a:solidFill>
                  <a:srgbClr val="F59E0B"/>
                </a:solidFill>
                <a:latin typeface="Consolas"/>
                <a:cs typeface="Consolas"/>
              </a:rPr>
              <a:t> of </a:t>
            </a:r>
            <a:r>
              <a:rPr lang="it-IT" sz="1600" noProof="0" dirty="0" err="1">
                <a:solidFill>
                  <a:srgbClr val="F59E0B"/>
                </a:solidFill>
                <a:latin typeface="Consolas"/>
                <a:cs typeface="Consolas"/>
              </a:rPr>
              <a:t>whole</a:t>
            </a:r>
            <a:r>
              <a:rPr lang="it-IT" sz="1600" noProof="0" dirty="0">
                <a:solidFill>
                  <a:srgbClr val="F59E0B"/>
                </a:solidFill>
                <a:latin typeface="Consolas"/>
                <a:cs typeface="Consolas"/>
              </a:rPr>
              <a:t> </a:t>
            </a:r>
            <a:r>
              <a:rPr lang="it-IT" sz="1600" noProof="0" dirty="0" err="1">
                <a:solidFill>
                  <a:srgbClr val="F59E0B"/>
                </a:solidFill>
                <a:latin typeface="Consolas"/>
                <a:cs typeface="Consolas"/>
              </a:rPr>
              <a:t>milk|milk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…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>
                <a:solidFill>
                  <a:srgbClr val="49DE80"/>
                </a:solidFill>
                <a:latin typeface="Consolas"/>
                <a:ea typeface="Consolas"/>
                <a:cs typeface="Consolas"/>
              </a:rPr>
              <a:t>~an </a:t>
            </a:r>
            <a:r>
              <a:rPr lang="it-IT" sz="1600" noProof="0" dirty="0" err="1">
                <a:solidFill>
                  <a:srgbClr val="49DE80"/>
                </a:solidFill>
                <a:latin typeface="Consolas"/>
                <a:ea typeface="Consolas"/>
                <a:cs typeface="Consolas"/>
              </a:rPr>
              <a:t>empty</a:t>
            </a:r>
            <a:r>
              <a:rPr lang="it-IT" sz="1600" noProof="0" dirty="0">
                <a:solidFill>
                  <a:srgbClr val="49DE80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it-IT" sz="1600" noProof="0" dirty="0" err="1">
                <a:solidFill>
                  <a:srgbClr val="49DE80"/>
                </a:solidFill>
                <a:latin typeface="Consolas"/>
                <a:ea typeface="Consolas"/>
                <a:cs typeface="Consolas"/>
              </a:rPr>
              <a:t>shelf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 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</a:t>
            </a:r>
            <a:r>
              <a:rPr lang="it-IT" sz="1600" noProof="0" dirty="0" err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prepare_clip_assets.py</a:t>
            </a:r>
            <a:r>
              <a:rPr lang="it-IT" sz="1600" noProof="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· offline, sul laptop, una volta sola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TEMPLATES = [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"a photo of {}"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"a photo of {} in a </a:t>
            </a:r>
            <a:r>
              <a:rPr lang="it-IT" sz="1600" noProof="0" dirty="0" err="1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refrigerator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"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,</a:t>
            </a:r>
            <a:endParaRPr lang="it-IT" sz="1600" noProof="0" dirty="0"/>
          </a:p>
          <a:p>
            <a:pPr marL="0" indent="0" algn="l">
              <a:lnSpc>
                <a:spcPct val="100000"/>
              </a:lnSpc>
              <a:buNone/>
            </a:pP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             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"a photo of {} on a </a:t>
            </a:r>
            <a:r>
              <a:rPr lang="it-IT" sz="1600" noProof="0" dirty="0" err="1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pantry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it-IT" sz="1600" noProof="0" dirty="0" err="1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shelf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"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it-IT" sz="1600" noProof="0" dirty="0">
                <a:solidFill>
                  <a:srgbClr val="7DD3FC"/>
                </a:solidFill>
                <a:latin typeface="Consolas"/>
                <a:ea typeface="Consolas"/>
                <a:cs typeface="Consolas"/>
              </a:rPr>
              <a:t>"a close-up photo of {}"</a:t>
            </a:r>
            <a:r>
              <a:rPr lang="it-IT" sz="1600" noProof="0" dirty="0">
                <a:solidFill>
                  <a:srgbClr val="F2F5FA"/>
                </a:solidFill>
                <a:latin typeface="Consolas"/>
                <a:ea typeface="Consolas"/>
                <a:cs typeface="Consolas"/>
              </a:rPr>
              <a:t>]</a:t>
            </a:r>
            <a:endParaRPr lang="it-IT" sz="1600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4011168" y="3672840"/>
            <a:ext cx="53157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it-IT" sz="1500" noProof="0" dirty="0">
                <a:solidFill>
                  <a:srgbClr val="F59E0B"/>
                </a:solidFill>
                <a:latin typeface="Geist Bold"/>
                <a:ea typeface="Geist Bold"/>
                <a:cs typeface="Geist Bold"/>
              </a:rPr>
              <a:t>← match specifico | nome mostrato all’utente</a:t>
            </a:r>
            <a:endParaRPr lang="it-IT" sz="1500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2926080" y="44104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it-IT" sz="150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← distrattore: assorbe i ritagli vuoti</a:t>
            </a:r>
            <a:endParaRPr lang="it-IT" sz="15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007170"/>
            <a:ext cx="6296860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50" noProof="0" dirty="0">
                <a:solidFill>
                  <a:srgbClr val="49DE8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CAPITOLO 3 · IL RISULTATO</a:t>
            </a:r>
            <a:endParaRPr lang="it-IT" sz="1850" noProof="0" dirty="0">
              <a:solidFill>
                <a:srgbClr val="49DE8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61475" y="1333798"/>
            <a:ext cx="6296860" cy="1074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3400" noProof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Stesso telefono. Stessa foto del frigo.</a:t>
            </a:r>
            <a:endParaRPr lang="it-IT" sz="3400" noProof="0" dirty="0"/>
          </a:p>
        </p:txBody>
      </p:sp>
      <p:sp>
        <p:nvSpPr>
          <p:cNvPr id="5" name="Text 2"/>
          <p:cNvSpPr/>
          <p:nvPr/>
        </p:nvSpPr>
        <p:spPr>
          <a:xfrm>
            <a:off x="661475" y="2676525"/>
            <a:ext cx="6296860" cy="3225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9100" noProof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Minuti → secondi.</a:t>
            </a:r>
            <a:endParaRPr lang="it-IT" sz="9100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C3D155-B453-1C44-9484-9696E58C47DF}"/>
              </a:ext>
            </a:extLst>
          </p:cNvPr>
          <p:cNvSpPr/>
          <p:nvPr/>
        </p:nvSpPr>
        <p:spPr>
          <a:xfrm>
            <a:off x="661475" y="6118522"/>
            <a:ext cx="2011680" cy="508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24899" y="525463"/>
            <a:ext cx="629686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it-IT" sz="185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CAPITOLO 4 · DOVE L’LLM SI GUADAGNA IL POSTO</a:t>
            </a:r>
          </a:p>
        </p:txBody>
      </p:sp>
      <p:sp>
        <p:nvSpPr>
          <p:cNvPr id="4" name="Text 1"/>
          <p:cNvSpPr/>
          <p:nvPr/>
        </p:nvSpPr>
        <p:spPr>
          <a:xfrm>
            <a:off x="624899" y="838299"/>
            <a:ext cx="6296860" cy="1036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3600" noProof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Il protagonista: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it-IT" sz="3600" noProof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Gemma, il ritorno</a:t>
            </a:r>
            <a:endParaRPr lang="it-IT" sz="3600" noProof="0" dirty="0"/>
          </a:p>
        </p:txBody>
      </p:sp>
      <p:sp>
        <p:nvSpPr>
          <p:cNvPr id="5" name="Shape 2"/>
          <p:cNvSpPr/>
          <p:nvPr/>
        </p:nvSpPr>
        <p:spPr>
          <a:xfrm>
            <a:off x="624899" y="2137708"/>
            <a:ext cx="6434268" cy="1142206"/>
          </a:xfrm>
          <a:prstGeom prst="roundRect">
            <a:avLst>
              <a:gd name="adj" fmla="val 6210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6" name="Text 3"/>
          <p:cNvSpPr/>
          <p:nvPr/>
        </p:nvSpPr>
        <p:spPr>
          <a:xfrm>
            <a:off x="803389" y="2316202"/>
            <a:ext cx="593988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it-IT" sz="16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Gli stessi 2,6 GB, già sul telefono</a:t>
            </a:r>
            <a:endParaRPr lang="it-IT" sz="1600" noProof="0" dirty="0"/>
          </a:p>
        </p:txBody>
      </p:sp>
      <p:sp>
        <p:nvSpPr>
          <p:cNvPr id="7" name="Text 4"/>
          <p:cNvSpPr/>
          <p:nvPr/>
        </p:nvSpPr>
        <p:spPr>
          <a:xfrm>
            <a:off x="803389" y="2655927"/>
            <a:ext cx="6118370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5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Ora fa il lavoro per cui è stato costruito. L’abbiamo messo in panchina per la percezione; non l’abbiamo mai disinstallato</a:t>
            </a:r>
          </a:p>
        </p:txBody>
      </p:sp>
      <p:sp>
        <p:nvSpPr>
          <p:cNvPr id="8" name="Shape 5"/>
          <p:cNvSpPr/>
          <p:nvPr/>
        </p:nvSpPr>
        <p:spPr>
          <a:xfrm>
            <a:off x="624898" y="3414454"/>
            <a:ext cx="6434269" cy="1142205"/>
          </a:xfrm>
          <a:prstGeom prst="roundRect">
            <a:avLst>
              <a:gd name="adj" fmla="val 6210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9" name="Text 6"/>
          <p:cNvSpPr/>
          <p:nvPr/>
        </p:nvSpPr>
        <p:spPr>
          <a:xfrm>
            <a:off x="803389" y="3592949"/>
            <a:ext cx="593988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65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Stavolta solo testo</a:t>
            </a:r>
            <a:endParaRPr lang="it-IT" sz="1650" noProof="0" dirty="0"/>
          </a:p>
        </p:txBody>
      </p:sp>
      <p:sp>
        <p:nvSpPr>
          <p:cNvPr id="10" name="Text 7"/>
          <p:cNvSpPr/>
          <p:nvPr/>
        </p:nvSpPr>
        <p:spPr>
          <a:xfrm>
            <a:off x="803389" y="3932674"/>
            <a:ext cx="6118370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5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Niente foto, niente token immagine, niente </a:t>
            </a:r>
            <a:r>
              <a:rPr lang="it-IT" sz="1500" noProof="0" dirty="0" err="1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prefill</a:t>
            </a:r>
            <a:r>
              <a:rPr lang="it-IT" sz="15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enorme.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it-IT" sz="15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Input: una breve lista di ingredienti</a:t>
            </a:r>
          </a:p>
        </p:txBody>
      </p:sp>
      <p:sp>
        <p:nvSpPr>
          <p:cNvPr id="11" name="Shape 8"/>
          <p:cNvSpPr/>
          <p:nvPr/>
        </p:nvSpPr>
        <p:spPr>
          <a:xfrm>
            <a:off x="624899" y="4691200"/>
            <a:ext cx="6434268" cy="1142205"/>
          </a:xfrm>
          <a:prstGeom prst="roundRect">
            <a:avLst>
              <a:gd name="adj" fmla="val 6210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2" name="Text 9"/>
          <p:cNvSpPr/>
          <p:nvPr/>
        </p:nvSpPr>
        <p:spPr>
          <a:xfrm>
            <a:off x="803389" y="4869696"/>
            <a:ext cx="593988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6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Generazione </a:t>
            </a:r>
            <a:r>
              <a:rPr lang="it-IT" sz="1600" noProof="0" dirty="0" err="1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instruction-tuned</a:t>
            </a:r>
            <a:r>
              <a:rPr lang="it-IT" sz="16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: le ricette sono testo nuovo</a:t>
            </a:r>
            <a:endParaRPr lang="it-IT" sz="1600" noProof="0" dirty="0"/>
          </a:p>
        </p:txBody>
      </p:sp>
      <p:sp>
        <p:nvSpPr>
          <p:cNvPr id="13" name="Text 10"/>
          <p:cNvSpPr/>
          <p:nvPr/>
        </p:nvSpPr>
        <p:spPr>
          <a:xfrm>
            <a:off x="803389" y="5209421"/>
            <a:ext cx="6118370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15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Inventate sul momento. L’unico compito nell’app che nessun confronto, nessun vocabolario, nessun </a:t>
            </a:r>
            <a:r>
              <a:rPr lang="it-IT" sz="1500" noProof="0" dirty="0" err="1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lookup</a:t>
            </a:r>
            <a:r>
              <a:rPr lang="it-IT" sz="1500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potrebbe mai svolgere</a:t>
            </a:r>
          </a:p>
        </p:txBody>
      </p:sp>
      <p:sp>
        <p:nvSpPr>
          <p:cNvPr id="14" name="Shape 11"/>
          <p:cNvSpPr/>
          <p:nvPr/>
        </p:nvSpPr>
        <p:spPr>
          <a:xfrm>
            <a:off x="624899" y="5967948"/>
            <a:ext cx="6434268" cy="616049"/>
          </a:xfrm>
          <a:prstGeom prst="roundRect">
            <a:avLst>
              <a:gd name="adj" fmla="val 10873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5" name="Text 12"/>
          <p:cNvSpPr/>
          <p:nvPr/>
        </p:nvSpPr>
        <p:spPr>
          <a:xfrm>
            <a:off x="803389" y="6146443"/>
            <a:ext cx="593988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6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Gira tramite </a:t>
            </a:r>
            <a:r>
              <a:rPr lang="it-IT" sz="1600" noProof="0" dirty="0" err="1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LiteRT</a:t>
            </a:r>
            <a:r>
              <a:rPr lang="it-IT" sz="16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-LM sulla GPU</a:t>
            </a:r>
            <a:endParaRPr lang="it-IT" sz="160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83314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50" noProof="0" dirty="0">
                <a:solidFill>
                  <a:srgbClr val="49DE8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CAPITOLO 4 · DOVE L’LLM SI GUADAGNA IL POSTO</a:t>
            </a:r>
            <a:endParaRPr lang="it-IT" sz="1850" noProof="0" dirty="0">
              <a:solidFill>
                <a:srgbClr val="49DE8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466001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3700" noProof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Le ricette sono creazione, non riconoscimento</a:t>
            </a:r>
            <a:endParaRPr lang="it-IT" sz="3700" noProof="0" dirty="0"/>
          </a:p>
        </p:txBody>
      </p:sp>
      <p:sp>
        <p:nvSpPr>
          <p:cNvPr id="17" name="Image 0" descr="preencoded.png"/>
          <p:cNvSpPr/>
          <p:nvPr/>
        </p:nvSpPr>
        <p:spPr>
          <a:xfrm>
            <a:off x="636075" y="2618748"/>
            <a:ext cx="50751" cy="1355844"/>
          </a:xfrm>
          <a:prstGeom prst="rect">
            <a:avLst/>
          </a:prstGeom>
          <a:solidFill>
            <a:srgbClr val="49DE80"/>
          </a:solidFill>
          <a:ln w="6335" cap="flat">
            <a:noFill/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5" name="Text 2"/>
          <p:cNvSpPr/>
          <p:nvPr/>
        </p:nvSpPr>
        <p:spPr>
          <a:xfrm>
            <a:off x="901281" y="2644148"/>
            <a:ext cx="507640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 un inventario a idee per la cena</a:t>
            </a:r>
            <a:endParaRPr lang="it-IT" sz="2000" noProof="0" dirty="0"/>
          </a:p>
        </p:txBody>
      </p:sp>
      <p:sp>
        <p:nvSpPr>
          <p:cNvPr id="6" name="Text 3"/>
          <p:cNvSpPr/>
          <p:nvPr/>
        </p:nvSpPr>
        <p:spPr>
          <a:xfrm>
            <a:off x="901281" y="3125597"/>
            <a:ext cx="507640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È per questo che esistono i modelli generativi, nessun vocabolario chiuso può farlo.</a:t>
            </a:r>
          </a:p>
        </p:txBody>
      </p:sp>
      <p:sp>
        <p:nvSpPr>
          <p:cNvPr id="18" name="Image 1" descr="preencoded.png"/>
          <p:cNvSpPr/>
          <p:nvPr/>
        </p:nvSpPr>
        <p:spPr>
          <a:xfrm>
            <a:off x="6188515" y="2618748"/>
            <a:ext cx="50751" cy="1355844"/>
          </a:xfrm>
          <a:prstGeom prst="rect">
            <a:avLst/>
          </a:prstGeom>
          <a:solidFill>
            <a:srgbClr val="49DE80"/>
          </a:solidFill>
          <a:ln w="6335" cap="flat">
            <a:noFill/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8" name="Text 4"/>
          <p:cNvSpPr/>
          <p:nvPr/>
        </p:nvSpPr>
        <p:spPr>
          <a:xfrm>
            <a:off x="6453721" y="2644148"/>
            <a:ext cx="507650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2000" noProof="0" dirty="0" err="1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Prompting</a:t>
            </a: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a due stadi</a:t>
            </a:r>
            <a:endParaRPr lang="it-IT" sz="2000" noProof="0" dirty="0"/>
          </a:p>
        </p:txBody>
      </p:sp>
      <p:sp>
        <p:nvSpPr>
          <p:cNvPr id="9" name="Text 5"/>
          <p:cNvSpPr/>
          <p:nvPr/>
        </p:nvSpPr>
        <p:spPr>
          <a:xfrm>
            <a:off x="6453721" y="3064637"/>
            <a:ext cx="507650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Prima una lista economica, poi la ricetta completa su richiesta, prompt più corti, meno attesa.</a:t>
            </a:r>
          </a:p>
        </p:txBody>
      </p:sp>
      <p:sp>
        <p:nvSpPr>
          <p:cNvPr id="20" name="Image 2" descr="preencoded.png"/>
          <p:cNvSpPr/>
          <p:nvPr/>
        </p:nvSpPr>
        <p:spPr>
          <a:xfrm>
            <a:off x="636075" y="4542576"/>
            <a:ext cx="54372" cy="1455888"/>
          </a:xfrm>
          <a:prstGeom prst="rect">
            <a:avLst/>
          </a:prstGeom>
          <a:solidFill>
            <a:srgbClr val="49DE80"/>
          </a:solidFill>
          <a:ln w="6335" cap="flat">
            <a:noFill/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Text 6"/>
          <p:cNvSpPr/>
          <p:nvPr/>
        </p:nvSpPr>
        <p:spPr>
          <a:xfrm>
            <a:off x="901281" y="4567976"/>
            <a:ext cx="507640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2000" noProof="0" dirty="0" err="1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Parsing</a:t>
            </a: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JSON difensivo con </a:t>
            </a:r>
            <a:r>
              <a:rPr lang="it-IT" sz="2000" noProof="0" dirty="0" err="1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retry</a:t>
            </a:r>
            <a:endParaRPr lang="it-IT" sz="2000" noProof="0" dirty="0">
              <a:solidFill>
                <a:srgbClr val="EBEDF0"/>
              </a:solidFill>
              <a:latin typeface="Geist Bold" pitchFamily="34" charset="0"/>
              <a:ea typeface="Geist Bold" pitchFamily="34" charset="-122"/>
              <a:cs typeface="Geist Bold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silenziosi</a:t>
            </a:r>
            <a:endParaRPr lang="it-IT" sz="2000" noProof="0" dirty="0"/>
          </a:p>
        </p:txBody>
      </p:sp>
      <p:sp>
        <p:nvSpPr>
          <p:cNvPr id="12" name="Text 7"/>
          <p:cNvSpPr/>
          <p:nvPr/>
        </p:nvSpPr>
        <p:spPr>
          <a:xfrm>
            <a:off x="897661" y="5283355"/>
            <a:ext cx="507640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 modelli piccoli rompono i contratti di formato, prevedilo, non scusarti.</a:t>
            </a:r>
          </a:p>
        </p:txBody>
      </p:sp>
      <p:sp>
        <p:nvSpPr>
          <p:cNvPr id="19" name="Image 3" descr="preencoded.png"/>
          <p:cNvSpPr/>
          <p:nvPr/>
        </p:nvSpPr>
        <p:spPr>
          <a:xfrm>
            <a:off x="6188515" y="4542576"/>
            <a:ext cx="50751" cy="1455888"/>
          </a:xfrm>
          <a:prstGeom prst="rect">
            <a:avLst/>
          </a:prstGeom>
          <a:solidFill>
            <a:srgbClr val="49DE80"/>
          </a:solidFill>
          <a:ln w="6335" cap="flat">
            <a:noFill/>
            <a:prstDash val="solid"/>
            <a:miter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4" name="Text 8"/>
          <p:cNvSpPr/>
          <p:nvPr/>
        </p:nvSpPr>
        <p:spPr>
          <a:xfrm>
            <a:off x="6453721" y="4567976"/>
            <a:ext cx="5076500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La generazione solo testo va a 15–25 </a:t>
            </a:r>
            <a:r>
              <a:rPr lang="it-IT" sz="2000" noProof="0" dirty="0" err="1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tok</a:t>
            </a: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/</a:t>
            </a:r>
            <a:r>
              <a:rPr lang="it-IT" sz="2000" noProof="0" dirty="0" err="1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</a:t>
            </a:r>
            <a:endParaRPr lang="it-IT" sz="2000" noProof="0" dirty="0"/>
          </a:p>
        </p:txBody>
      </p:sp>
      <p:sp>
        <p:nvSpPr>
          <p:cNvPr id="15" name="Text 9"/>
          <p:cNvSpPr/>
          <p:nvPr/>
        </p:nvSpPr>
        <p:spPr>
          <a:xfrm>
            <a:off x="6453721" y="5295547"/>
            <a:ext cx="507650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Senza foto, niente </a:t>
            </a:r>
            <a:r>
              <a:rPr lang="it-IT" noProof="0" dirty="0" err="1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prefill</a:t>
            </a: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dell’immagine: si aspetta solo il testo.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3733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50" noProof="0" dirty="0">
                <a:solidFill>
                  <a:srgbClr val="49DE8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CAPITOLO 5 · LA DISTRIBUZIONE</a:t>
            </a:r>
            <a:endParaRPr lang="it-IT" sz="1850" noProof="0" dirty="0">
              <a:solidFill>
                <a:srgbClr val="49DE8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456420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3700" noProof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Ogni modello viaggia in modo diverso</a:t>
            </a:r>
            <a:endParaRPr lang="it-IT" sz="3700" noProof="0" dirty="0"/>
          </a:p>
        </p:txBody>
      </p:sp>
      <p:sp>
        <p:nvSpPr>
          <p:cNvPr id="4" name="Shape 2"/>
          <p:cNvSpPr/>
          <p:nvPr/>
        </p:nvSpPr>
        <p:spPr>
          <a:xfrm>
            <a:off x="661475" y="2524839"/>
            <a:ext cx="5339820" cy="1476700"/>
          </a:xfrm>
          <a:prstGeom prst="roundRect">
            <a:avLst>
              <a:gd name="adj" fmla="val 5978"/>
            </a:avLst>
          </a:prstGeom>
          <a:solidFill>
            <a:srgbClr val="0F172A"/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5" name="Text 3"/>
          <p:cNvSpPr/>
          <p:nvPr/>
        </p:nvSpPr>
        <p:spPr>
          <a:xfrm>
            <a:off x="869531" y="2732901"/>
            <a:ext cx="492370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Gemini Nano: zero megabyte</a:t>
            </a:r>
            <a:endParaRPr lang="it-IT" sz="2000" noProof="0" dirty="0"/>
          </a:p>
        </p:txBody>
      </p:sp>
      <p:sp>
        <p:nvSpPr>
          <p:cNvPr id="6" name="Text 4"/>
          <p:cNvSpPr/>
          <p:nvPr/>
        </p:nvSpPr>
        <p:spPr>
          <a:xfrm>
            <a:off x="869531" y="3177773"/>
            <a:ext cx="4923707" cy="699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 gestisce AICore, l’APK contiene solo un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prompt.</a:t>
            </a:r>
          </a:p>
        </p:txBody>
      </p:sp>
      <p:sp>
        <p:nvSpPr>
          <p:cNvPr id="7" name="Shape 5"/>
          <p:cNvSpPr/>
          <p:nvPr/>
        </p:nvSpPr>
        <p:spPr>
          <a:xfrm>
            <a:off x="6190301" y="2524839"/>
            <a:ext cx="5339919" cy="1476700"/>
          </a:xfrm>
          <a:prstGeom prst="roundRect">
            <a:avLst>
              <a:gd name="adj" fmla="val 5978"/>
            </a:avLst>
          </a:prstGeom>
          <a:solidFill>
            <a:srgbClr val="0F172A"/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8" name="Text 6"/>
          <p:cNvSpPr/>
          <p:nvPr/>
        </p:nvSpPr>
        <p:spPr>
          <a:xfrm>
            <a:off x="6398358" y="2732901"/>
            <a:ext cx="49238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MobileCLIP-S2: ~140 MB</a:t>
            </a:r>
            <a:endParaRPr lang="it-IT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6398358" y="3177774"/>
            <a:ext cx="492380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Incluso nell’APK come qualsiasi asset, il rilevamento funziona subito dopo l’installazione.</a:t>
            </a:r>
          </a:p>
        </p:txBody>
      </p:sp>
      <p:sp>
        <p:nvSpPr>
          <p:cNvPr id="10" name="Shape 8"/>
          <p:cNvSpPr/>
          <p:nvPr/>
        </p:nvSpPr>
        <p:spPr>
          <a:xfrm>
            <a:off x="661475" y="4188098"/>
            <a:ext cx="5339820" cy="1785982"/>
          </a:xfrm>
          <a:prstGeom prst="roundRect">
            <a:avLst>
              <a:gd name="adj" fmla="val 5978"/>
            </a:avLst>
          </a:prstGeom>
          <a:solidFill>
            <a:srgbClr val="0F172A"/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Text 9"/>
          <p:cNvSpPr/>
          <p:nvPr/>
        </p:nvSpPr>
        <p:spPr>
          <a:xfrm>
            <a:off x="869531" y="4396161"/>
            <a:ext cx="492370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Gemma: 2,6 GB di pesi</a:t>
            </a:r>
            <a:endParaRPr lang="it-IT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869531" y="4877610"/>
            <a:ext cx="492370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Troppo grande per qualsiasi APK, e scrivere a mano un </a:t>
            </a:r>
            <a:r>
              <a:rPr lang="it-IT" noProof="0" dirty="0" err="1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downloader</a:t>
            </a: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riprendibile è un progetto a sé.</a:t>
            </a:r>
          </a:p>
        </p:txBody>
      </p:sp>
      <p:sp>
        <p:nvSpPr>
          <p:cNvPr id="13" name="Shape 11"/>
          <p:cNvSpPr/>
          <p:nvPr/>
        </p:nvSpPr>
        <p:spPr>
          <a:xfrm>
            <a:off x="6190301" y="4188098"/>
            <a:ext cx="5339919" cy="1785982"/>
          </a:xfrm>
          <a:prstGeom prst="roundRect">
            <a:avLst>
              <a:gd name="adj" fmla="val 5978"/>
            </a:avLst>
          </a:prstGeom>
          <a:solidFill>
            <a:srgbClr val="0F172A"/>
          </a:solidFill>
          <a:ln w="1905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4" name="Text 12"/>
          <p:cNvSpPr/>
          <p:nvPr/>
        </p:nvSpPr>
        <p:spPr>
          <a:xfrm>
            <a:off x="6398358" y="4396161"/>
            <a:ext cx="49238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pack tramite Play for On-device AI</a:t>
            </a:r>
            <a:endParaRPr lang="it-IT" sz="2000" noProof="0" dirty="0"/>
          </a:p>
        </p:txBody>
      </p:sp>
      <p:sp>
        <p:nvSpPr>
          <p:cNvPr id="15" name="Text 13"/>
          <p:cNvSpPr/>
          <p:nvPr/>
        </p:nvSpPr>
        <p:spPr>
          <a:xfrm>
            <a:off x="6398358" y="4889802"/>
            <a:ext cx="492380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Google Play gestisce la consegna, la distribuzione smette di essere un tuo problema.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453029"/>
            <a:ext cx="6296860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50" noProof="0" dirty="0">
                <a:solidFill>
                  <a:srgbClr val="49DE8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IL QUADRO COMPLETO</a:t>
            </a:r>
            <a:endParaRPr lang="it-IT" sz="1850" noProof="0" dirty="0">
              <a:solidFill>
                <a:srgbClr val="49DE8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61475" y="736461"/>
            <a:ext cx="6296860" cy="4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it-IT" sz="34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Tre modelli, tre compiti, un’app</a:t>
            </a:r>
          </a:p>
        </p:txBody>
      </p:sp>
      <p:sp>
        <p:nvSpPr>
          <p:cNvPr id="5" name="Shape 2"/>
          <p:cNvSpPr/>
          <p:nvPr/>
        </p:nvSpPr>
        <p:spPr>
          <a:xfrm>
            <a:off x="661475" y="1438984"/>
            <a:ext cx="6296860" cy="1258793"/>
          </a:xfrm>
          <a:prstGeom prst="roundRect">
            <a:avLst>
              <a:gd name="adj" fmla="val 4659"/>
            </a:avLst>
          </a:prstGeom>
          <a:solidFill>
            <a:srgbClr val="0F172A"/>
          </a:solidFill>
          <a:ln w="1270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6" name="Shape 3"/>
          <p:cNvSpPr/>
          <p:nvPr/>
        </p:nvSpPr>
        <p:spPr>
          <a:xfrm>
            <a:off x="804049" y="1581563"/>
            <a:ext cx="389821" cy="389830"/>
          </a:xfrm>
          <a:prstGeom prst="ellipse">
            <a:avLst/>
          </a:prstGeom>
          <a:solidFill>
            <a:srgbClr val="49DE80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202" y="1688719"/>
            <a:ext cx="175414" cy="1754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01023" y="1640808"/>
            <a:ext cx="6011712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Gemini Nano: l’acceleratore</a:t>
            </a:r>
            <a:endParaRPr lang="it-IT" sz="2000" noProof="0" dirty="0"/>
          </a:p>
        </p:txBody>
      </p:sp>
      <p:sp>
        <p:nvSpPr>
          <p:cNvPr id="9" name="Text 5"/>
          <p:cNvSpPr/>
          <p:nvPr/>
        </p:nvSpPr>
        <p:spPr>
          <a:xfrm>
            <a:off x="804049" y="2084780"/>
            <a:ext cx="6011712" cy="142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Rilevamento multimodale gratuito sui flagship, protetto</a:t>
            </a:r>
          </a:p>
          <a:p>
            <a:pPr marL="0" indent="0" algn="l">
              <a:lnSpc>
                <a:spcPct val="91000"/>
              </a:lnSpc>
              <a:buNone/>
            </a:pP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 checkStatus().</a:t>
            </a:r>
          </a:p>
        </p:txBody>
      </p:sp>
      <p:sp>
        <p:nvSpPr>
          <p:cNvPr id="10" name="Shape 6"/>
          <p:cNvSpPr/>
          <p:nvPr/>
        </p:nvSpPr>
        <p:spPr>
          <a:xfrm>
            <a:off x="661475" y="2858254"/>
            <a:ext cx="6296860" cy="1048446"/>
          </a:xfrm>
          <a:prstGeom prst="roundRect">
            <a:avLst>
              <a:gd name="adj" fmla="val 4659"/>
            </a:avLst>
          </a:prstGeom>
          <a:solidFill>
            <a:srgbClr val="0F172A"/>
          </a:solidFill>
          <a:ln w="1270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1" name="Shape 7"/>
          <p:cNvSpPr/>
          <p:nvPr/>
        </p:nvSpPr>
        <p:spPr>
          <a:xfrm>
            <a:off x="804049" y="3000831"/>
            <a:ext cx="389821" cy="389830"/>
          </a:xfrm>
          <a:prstGeom prst="ellipse">
            <a:avLst/>
          </a:prstGeom>
          <a:solidFill>
            <a:srgbClr val="49DE80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1202" y="3107988"/>
            <a:ext cx="175414" cy="1754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01023" y="3036946"/>
            <a:ext cx="6011712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MobileCLIP-S2: la base</a:t>
            </a:r>
            <a:endParaRPr lang="it-IT" sz="2000" noProof="0" dirty="0"/>
          </a:p>
        </p:txBody>
      </p:sp>
      <p:sp>
        <p:nvSpPr>
          <p:cNvPr id="14" name="Text 9"/>
          <p:cNvSpPr/>
          <p:nvPr/>
        </p:nvSpPr>
        <p:spPr>
          <a:xfrm>
            <a:off x="804049" y="3523119"/>
            <a:ext cx="6011712" cy="142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Rilevamento zero-shot in secondi, su ogni telefono.</a:t>
            </a:r>
          </a:p>
        </p:txBody>
      </p:sp>
      <p:sp>
        <p:nvSpPr>
          <p:cNvPr id="15" name="Shape 10"/>
          <p:cNvSpPr/>
          <p:nvPr/>
        </p:nvSpPr>
        <p:spPr>
          <a:xfrm>
            <a:off x="661475" y="4070258"/>
            <a:ext cx="6296860" cy="1241653"/>
          </a:xfrm>
          <a:prstGeom prst="roundRect">
            <a:avLst>
              <a:gd name="adj" fmla="val 4659"/>
            </a:avLst>
          </a:prstGeom>
          <a:solidFill>
            <a:srgbClr val="0F172A"/>
          </a:solidFill>
          <a:ln w="1270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16" name="Shape 11"/>
          <p:cNvSpPr/>
          <p:nvPr/>
        </p:nvSpPr>
        <p:spPr>
          <a:xfrm>
            <a:off x="804049" y="4212836"/>
            <a:ext cx="389821" cy="389830"/>
          </a:xfrm>
          <a:prstGeom prst="ellipse">
            <a:avLst/>
          </a:prstGeom>
          <a:solidFill>
            <a:srgbClr val="49DE80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1202" y="4319992"/>
            <a:ext cx="175414" cy="1754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72350" y="4266216"/>
            <a:ext cx="6011712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Gemma: il creatore</a:t>
            </a:r>
            <a:endParaRPr lang="it-IT" sz="2000" noProof="0" dirty="0"/>
          </a:p>
        </p:txBody>
      </p:sp>
      <p:sp>
        <p:nvSpPr>
          <p:cNvPr id="19" name="Text 13"/>
          <p:cNvSpPr/>
          <p:nvPr/>
        </p:nvSpPr>
        <p:spPr>
          <a:xfrm>
            <a:off x="804049" y="4672515"/>
            <a:ext cx="6011712" cy="142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Ricette generate on-device: il compito che solo un</a:t>
            </a:r>
          </a:p>
          <a:p>
            <a:pPr marL="0" indent="0" algn="l">
              <a:lnSpc>
                <a:spcPct val="91000"/>
              </a:lnSpc>
              <a:buNone/>
            </a:pP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LLM sa fare.</a:t>
            </a:r>
          </a:p>
        </p:txBody>
      </p:sp>
      <p:sp>
        <p:nvSpPr>
          <p:cNvPr id="20" name="Shape 14"/>
          <p:cNvSpPr/>
          <p:nvPr/>
        </p:nvSpPr>
        <p:spPr>
          <a:xfrm>
            <a:off x="661475" y="5477335"/>
            <a:ext cx="6296860" cy="1110516"/>
          </a:xfrm>
          <a:prstGeom prst="roundRect">
            <a:avLst>
              <a:gd name="adj" fmla="val 4659"/>
            </a:avLst>
          </a:prstGeom>
          <a:solidFill>
            <a:srgbClr val="0F172A"/>
          </a:solidFill>
          <a:ln w="12700">
            <a:solidFill>
              <a:srgbClr val="49DE80"/>
            </a:solidFill>
            <a:prstDash val="solid"/>
          </a:ln>
        </p:spPr>
        <p:txBody>
          <a:bodyPr/>
          <a:lstStyle/>
          <a:p>
            <a:endParaRPr lang="it-IT" noProof="0" dirty="0"/>
          </a:p>
        </p:txBody>
      </p:sp>
      <p:sp>
        <p:nvSpPr>
          <p:cNvPr id="21" name="Shape 15"/>
          <p:cNvSpPr/>
          <p:nvPr/>
        </p:nvSpPr>
        <p:spPr>
          <a:xfrm>
            <a:off x="804049" y="5619913"/>
            <a:ext cx="389821" cy="389830"/>
          </a:xfrm>
          <a:prstGeom prst="ellipse">
            <a:avLst/>
          </a:prstGeom>
          <a:solidFill>
            <a:srgbClr val="49DE80"/>
          </a:solidFill>
          <a:ln/>
        </p:spPr>
        <p:txBody>
          <a:bodyPr/>
          <a:lstStyle/>
          <a:p>
            <a:endParaRPr lang="it-IT" noProof="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1202" y="5727069"/>
            <a:ext cx="175414" cy="17541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72350" y="5690558"/>
            <a:ext cx="6011712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2000" noProof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Una sola interfaccia nel codice</a:t>
            </a:r>
            <a:endParaRPr lang="it-IT" sz="2000" noProof="0" dirty="0"/>
          </a:p>
        </p:txBody>
      </p:sp>
      <p:sp>
        <p:nvSpPr>
          <p:cNvPr id="24" name="Text 17"/>
          <p:cNvSpPr/>
          <p:nvPr/>
        </p:nvSpPr>
        <p:spPr>
          <a:xfrm>
            <a:off x="804049" y="6115560"/>
            <a:ext cx="6011712" cy="142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it-IT" noProof="0" dirty="0">
                <a:solidFill>
                  <a:srgbClr val="94A3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La UI non sa mai quale motore ha risposto.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87221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185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CONCLUSIONE</a:t>
            </a:r>
          </a:p>
        </p:txBody>
      </p:sp>
      <p:sp>
        <p:nvSpPr>
          <p:cNvPr id="3" name="Text 1"/>
          <p:cNvSpPr/>
          <p:nvPr/>
        </p:nvSpPr>
        <p:spPr>
          <a:xfrm>
            <a:off x="658368" y="920496"/>
            <a:ext cx="10872216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it-IT" sz="37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Punti chiave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83080"/>
            <a:ext cx="3502152" cy="2697480"/>
          </a:xfrm>
          <a:prstGeom prst="roundRect">
            <a:avLst>
              <a:gd name="adj" fmla="val 2711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</a:ln>
        </p:spPr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886968" y="19202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it-IT" sz="300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1</a:t>
            </a:r>
            <a:endParaRPr lang="it-IT" sz="3000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886968" y="2423160"/>
            <a:ext cx="30449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20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Il modello giusto prima del modello veloce</a:t>
            </a:r>
            <a:endParaRPr lang="it-IT" sz="2000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86968" y="3154680"/>
            <a:ext cx="3044952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it-IT" sz="1700" noProof="0" dirty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Riconoscere è confrontare, scrivere è generare. A volte il classificatore è un file di testo.</a:t>
            </a:r>
            <a:endParaRPr lang="it-IT" sz="1700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4343400" y="1783080"/>
            <a:ext cx="3502152" cy="2697480"/>
          </a:xfrm>
          <a:prstGeom prst="roundRect">
            <a:avLst>
              <a:gd name="adj" fmla="val 2711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</a:ln>
        </p:spPr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it-IT" sz="300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2</a:t>
            </a:r>
            <a:endParaRPr lang="it-IT" sz="3000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0" y="2423160"/>
            <a:ext cx="30449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20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L’AI di piattaforma è un upgrade, non la base</a:t>
            </a:r>
            <a:endParaRPr lang="it-IT" sz="2000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0" y="3154680"/>
            <a:ext cx="3044952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it-IT" sz="1700" noProof="0" dirty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checkStatus() a ogni chiamata, e sotto un </a:t>
            </a:r>
            <a:r>
              <a:rPr lang="it-IT" sz="1700" noProof="0" dirty="0" err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fallback</a:t>
            </a:r>
            <a:r>
              <a:rPr lang="it-IT" sz="1700" noProof="0" dirty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 vero.</a:t>
            </a:r>
            <a:endParaRPr lang="it-IT" sz="1700" noProof="0" dirty="0"/>
          </a:p>
        </p:txBody>
      </p:sp>
      <p:sp>
        <p:nvSpPr>
          <p:cNvPr id="12" name="Rounded Rectangle 11"/>
          <p:cNvSpPr/>
          <p:nvPr/>
        </p:nvSpPr>
        <p:spPr>
          <a:xfrm>
            <a:off x="8028432" y="1783080"/>
            <a:ext cx="3502152" cy="2697480"/>
          </a:xfrm>
          <a:prstGeom prst="roundRect">
            <a:avLst>
              <a:gd name="adj" fmla="val 2711"/>
            </a:avLst>
          </a:prstGeom>
          <a:solidFill>
            <a:srgbClr val="0F172A">
              <a:alpha val="95000"/>
            </a:srgbClr>
          </a:solidFill>
          <a:ln w="19050">
            <a:solidFill>
              <a:srgbClr val="49DE80"/>
            </a:solidFill>
          </a:ln>
        </p:spPr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8257032" y="19202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it-IT" sz="300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3</a:t>
            </a:r>
            <a:endParaRPr lang="it-IT" sz="3000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8257032" y="2423160"/>
            <a:ext cx="30449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it-IT" sz="20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Fate i conti prima di promettere</a:t>
            </a:r>
            <a:endParaRPr lang="it-IT" sz="2000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8257032" y="3154680"/>
            <a:ext cx="3044952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it-IT" sz="1700" noProof="0" dirty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Token in uscita, giga di RAM, giga da distribuire: l’aritmetica decide.</a:t>
            </a:r>
            <a:endParaRPr lang="it-IT" sz="1700" noProof="0" dirty="0"/>
          </a:p>
        </p:txBody>
      </p:sp>
      <p:sp>
        <p:nvSpPr>
          <p:cNvPr id="16" name="Rounded Rectangle 15"/>
          <p:cNvSpPr/>
          <p:nvPr/>
        </p:nvSpPr>
        <p:spPr>
          <a:xfrm>
            <a:off x="658368" y="4709160"/>
            <a:ext cx="10872216" cy="1371600"/>
          </a:xfrm>
          <a:prstGeom prst="roundRect">
            <a:avLst>
              <a:gd name="adj" fmla="val 6666"/>
            </a:avLst>
          </a:prstGeom>
          <a:solidFill>
            <a:srgbClr val="0B1220"/>
          </a:solidFill>
          <a:ln w="28575">
            <a:solidFill>
              <a:srgbClr val="49DE80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marL="0" indent="0" algn="ctr">
              <a:buNone/>
            </a:pPr>
            <a:r>
              <a:rPr lang="it-IT" sz="2800" noProof="0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Prima di chiedervi come renderlo più veloce, chiedetevi se è il modello giusto.</a:t>
            </a:r>
            <a:endParaRPr lang="it-IT" sz="2800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09297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it-IT" sz="4200" b="1" noProof="0" dirty="0">
                <a:solidFill>
                  <a:srgbClr val="F1F5F9"/>
                </a:solidFill>
                <a:latin typeface="Helvetica Neue"/>
              </a:rPr>
              <a:t>Grazie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690" y="1488297"/>
            <a:ext cx="2800816" cy="2800886"/>
          </a:xfrm>
          <a:prstGeom prst="rect">
            <a:avLst/>
          </a:prstGeom>
        </p:spPr>
      </p:pic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283E7036-6760-391B-87BE-9F7E71E60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96" y="1431642"/>
            <a:ext cx="2800816" cy="28008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1DD59E-DF22-FBAC-C586-9E08192F43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41" b="4541"/>
          <a:stretch>
            <a:fillRect/>
          </a:stretch>
        </p:blipFill>
        <p:spPr>
          <a:xfrm>
            <a:off x="1511077" y="1431078"/>
            <a:ext cx="2696037" cy="2696037"/>
          </a:xfrm>
          <a:prstGeom prst="ellipse">
            <a:avLst/>
          </a:prstGeom>
          <a:ln w="31750">
            <a:solidFill>
              <a:srgbClr val="4ADE8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F53A0F-D62F-523E-6D16-830DF46619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735" y="1488297"/>
            <a:ext cx="2687575" cy="2687575"/>
          </a:xfrm>
          <a:prstGeom prst="ellipse">
            <a:avLst/>
          </a:prstGeom>
          <a:ln w="31750">
            <a:solidFill>
              <a:srgbClr val="4ADE80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E1C4DB-FBEF-BC3C-3B1A-89725B030B3B}"/>
              </a:ext>
            </a:extLst>
          </p:cNvPr>
          <p:cNvSpPr txBox="1"/>
          <p:nvPr/>
        </p:nvSpPr>
        <p:spPr>
          <a:xfrm>
            <a:off x="106648" y="4293288"/>
            <a:ext cx="5486400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it-IT" sz="2200" b="1" noProof="0" dirty="0">
                <a:solidFill>
                  <a:srgbClr val="F1F5F9"/>
                </a:solidFill>
                <a:latin typeface="Helvetica Neue"/>
              </a:rPr>
              <a:t>Salvatore Matrisciano</a:t>
            </a:r>
          </a:p>
          <a:p>
            <a:pPr algn="ctr">
              <a:spcAft>
                <a:spcPts val="400"/>
              </a:spcAft>
            </a:pPr>
            <a:r>
              <a:rPr lang="it-IT" sz="1500" b="0" noProof="0" dirty="0">
                <a:solidFill>
                  <a:srgbClr val="CBD5E1"/>
                </a:solidFill>
                <a:latin typeface="Helvetica Neue"/>
              </a:rPr>
              <a:t>Mobile </a:t>
            </a:r>
            <a:r>
              <a:rPr lang="it-IT" sz="1500" dirty="0">
                <a:solidFill>
                  <a:srgbClr val="CBD5E1"/>
                </a:solidFill>
                <a:latin typeface="Helvetica Neue"/>
              </a:rPr>
              <a:t>Developer</a:t>
            </a:r>
            <a:endParaRPr lang="it-IT" sz="1500" b="0" noProof="0" dirty="0">
              <a:solidFill>
                <a:srgbClr val="CBD5E1"/>
              </a:solidFill>
              <a:latin typeface="Helvetica Neue"/>
            </a:endParaRPr>
          </a:p>
          <a:p>
            <a:pPr algn="ctr">
              <a:spcAft>
                <a:spcPts val="400"/>
              </a:spcAft>
            </a:pPr>
            <a:r>
              <a:rPr lang="it-IT" sz="1600" b="0" noProof="0" dirty="0">
                <a:solidFill>
                  <a:srgbClr val="4ADE80"/>
                </a:solidFill>
                <a:latin typeface="Helvetica Neue"/>
              </a:rPr>
              <a:t>salvatorematrisciano.com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EBF36C-5F18-17AA-FA23-91A11E84074B}"/>
              </a:ext>
            </a:extLst>
          </p:cNvPr>
          <p:cNvSpPr txBox="1"/>
          <p:nvPr/>
        </p:nvSpPr>
        <p:spPr>
          <a:xfrm>
            <a:off x="6589706" y="4291022"/>
            <a:ext cx="548640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it-IT" sz="2200" b="1" noProof="0" dirty="0">
                <a:solidFill>
                  <a:srgbClr val="F1F5F9"/>
                </a:solidFill>
                <a:latin typeface="Helvetica Neue"/>
              </a:rPr>
              <a:t>Stefano Soriano</a:t>
            </a:r>
          </a:p>
          <a:p>
            <a:pPr algn="ctr">
              <a:spcAft>
                <a:spcPts val="400"/>
              </a:spcAft>
            </a:pPr>
            <a:r>
              <a:rPr lang="it-IT" sz="1500" dirty="0">
                <a:solidFill>
                  <a:srgbClr val="CBD5E1"/>
                </a:solidFill>
                <a:latin typeface="Helvetica Neue"/>
              </a:rPr>
              <a:t>Mobile Developer</a:t>
            </a:r>
          </a:p>
          <a:p>
            <a:pPr algn="ctr">
              <a:spcAft>
                <a:spcPts val="400"/>
              </a:spcAft>
            </a:pPr>
            <a:r>
              <a:rPr lang="it-IT" sz="1500" noProof="0" dirty="0">
                <a:solidFill>
                  <a:srgbClr val="4ADE80"/>
                </a:solidFill>
                <a:latin typeface="Helvetica Neue"/>
              </a:rPr>
              <a:t>linkedin.com/in/stefanosoriano51</a:t>
            </a:r>
            <a:endParaRPr lang="it-IT" sz="1500" b="0" noProof="0" dirty="0">
              <a:solidFill>
                <a:srgbClr val="4ADE80"/>
              </a:solidFill>
              <a:latin typeface="Helvetica Neue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41005" y="4115119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it-IT" sz="160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Codice e slide</a:t>
            </a:r>
            <a:endParaRPr lang="it-IT" sz="1600" noProof="0" dirty="0"/>
          </a:p>
        </p:txBody>
      </p:sp>
      <p:pic>
        <p:nvPicPr>
          <p:cNvPr id="18" name="Picture 17" descr="q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4409" y="4500063"/>
            <a:ext cx="1683181" cy="16831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78716" y="6332009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it-IT" sz="1500" b="1" noProof="0" dirty="0">
                <a:solidFill>
                  <a:srgbClr val="F2F5FA"/>
                </a:solidFill>
                <a:latin typeface="Helvetica Neue"/>
                <a:ea typeface="Helvetica Neue"/>
                <a:cs typeface="Helvetica Neue"/>
              </a:rPr>
              <a:t>github.com/MatriscianoSalvatore/ai-</a:t>
            </a:r>
            <a:r>
              <a:rPr lang="it-IT" sz="1500" b="1" noProof="0" dirty="0" err="1">
                <a:solidFill>
                  <a:srgbClr val="F2F5FA"/>
                </a:solidFill>
                <a:latin typeface="Helvetica Neue"/>
                <a:ea typeface="Helvetica Neue"/>
                <a:cs typeface="Helvetica Neue"/>
              </a:rPr>
              <a:t>pantry</a:t>
            </a:r>
            <a:endParaRPr lang="it-IT" sz="1500" b="1" noProof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A46B49-6E9A-DD58-8E19-4A416E4409DB}"/>
              </a:ext>
            </a:extLst>
          </p:cNvPr>
          <p:cNvSpPr txBox="1"/>
          <p:nvPr/>
        </p:nvSpPr>
        <p:spPr>
          <a:xfrm>
            <a:off x="1651000" y="893768"/>
            <a:ext cx="889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it-IT" sz="3600" noProof="0" dirty="0">
                <a:solidFill>
                  <a:schemeClr val="bg1"/>
                </a:solidFill>
                <a:latin typeface="Geist Bold"/>
              </a:rPr>
              <a:t>Com’è andata?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4556E-AA2F-6A88-259D-6AA46EB240E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394532" y="1905371"/>
            <a:ext cx="3402935" cy="35041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9B2B5F-4EF5-0619-E282-EF92DB131818}"/>
              </a:ext>
            </a:extLst>
          </p:cNvPr>
          <p:cNvSpPr txBox="1"/>
          <p:nvPr/>
        </p:nvSpPr>
        <p:spPr>
          <a:xfrm>
            <a:off x="1651000" y="5860475"/>
            <a:ext cx="889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it-IT" sz="2000" noProof="0" dirty="0">
                <a:solidFill>
                  <a:schemeClr val="bg1"/>
                </a:solidFill>
                <a:latin typeface="Helvetica Neue" panose="02000503000000020004" pitchFamily="2" charset="0"/>
              </a:rPr>
              <a:t>Inquadrate il QR per lasciare un feedback sul talk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C51151-8943-4D24-3F43-8330DC3653F7}"/>
              </a:ext>
            </a:extLst>
          </p:cNvPr>
          <p:cNvSpPr/>
          <p:nvPr/>
        </p:nvSpPr>
        <p:spPr>
          <a:xfrm>
            <a:off x="4770104" y="5070215"/>
            <a:ext cx="30226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noProof="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9873ACEB-218E-4619-BC2A-CA00F33097D9}"/>
              </a:ext>
            </a:extLst>
          </p:cNvPr>
          <p:cNvSpPr/>
          <p:nvPr/>
        </p:nvSpPr>
        <p:spPr>
          <a:xfrm>
            <a:off x="4934666" y="540078"/>
            <a:ext cx="2322668" cy="35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1">
              <a:lnSpc>
                <a:spcPct val="108000"/>
              </a:lnSpc>
            </a:pPr>
            <a:r>
              <a:rPr lang="it-IT" sz="1850" noProof="0" dirty="0">
                <a:solidFill>
                  <a:srgbClr val="49DE80"/>
                </a:solidFill>
                <a:latin typeface="Geist Bold"/>
                <a:ea typeface="Geist Bold"/>
                <a:cs typeface="Geist Bold"/>
              </a:rPr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1984221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6362</TotalTime>
  <Words>8352</Words>
  <Application>Microsoft Macintosh PowerPoint</Application>
  <PresentationFormat>Widescreen</PresentationFormat>
  <Paragraphs>969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Geist</vt:lpstr>
      <vt:lpstr>Arial</vt:lpstr>
      <vt:lpstr>Geist Light</vt:lpstr>
      <vt:lpstr>Helvetica Neue</vt:lpstr>
      <vt:lpstr>Consolas</vt:lpstr>
      <vt:lpstr>Geist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Matrisciano, Salvatore</cp:lastModifiedBy>
  <cp:revision>38</cp:revision>
  <dcterms:created xsi:type="dcterms:W3CDTF">2026-07-26T22:35:18Z</dcterms:created>
  <dcterms:modified xsi:type="dcterms:W3CDTF">2026-10-06T15:03:43Z</dcterms:modified>
</cp:coreProperties>
</file>