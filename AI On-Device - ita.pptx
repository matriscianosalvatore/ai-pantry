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81" r:id="rId4"/>
    <p:sldId id="282" r:id="rId5"/>
    <p:sldId id="283" r:id="rId6"/>
    <p:sldId id="284" r:id="rId7"/>
    <p:sldId id="262" r:id="rId8"/>
    <p:sldId id="285" r:id="rId9"/>
    <p:sldId id="286" r:id="rId10"/>
    <p:sldId id="265" r:id="rId11"/>
    <p:sldId id="266" r:id="rId12"/>
    <p:sldId id="287" r:id="rId13"/>
    <p:sldId id="268" r:id="rId14"/>
    <p:sldId id="288" r:id="rId15"/>
    <p:sldId id="270" r:id="rId16"/>
    <p:sldId id="271" r:id="rId17"/>
    <p:sldId id="272" r:id="rId18"/>
    <p:sldId id="289" r:id="rId19"/>
    <p:sldId id="274" r:id="rId20"/>
    <p:sldId id="275" r:id="rId21"/>
    <p:sldId id="276" r:id="rId22"/>
    <p:sldId id="277" r:id="rId23"/>
    <p:sldId id="278" r:id="rId24"/>
    <p:sldId id="292" r:id="rId25"/>
    <p:sldId id="291" r:id="rId26"/>
    <p:sldId id="293" r:id="rId27"/>
  </p:sldIdLst>
  <p:sldSz cx="12192000" cy="6858000"/>
  <p:notesSz cx="6858000" cy="12192000"/>
  <p:embeddedFontLst>
    <p:embeddedFont>
      <p:font typeface="Consolas" panose="020B0609020204030204" pitchFamily="49" charset="0"/>
      <p:regular r:id="rId29"/>
      <p:bold r:id="rId30"/>
      <p:italic r:id="rId31"/>
      <p:boldItalic r:id="rId32"/>
    </p:embeddedFont>
    <p:embeddedFont>
      <p:font typeface="Geist" pitchFamily="2" charset="77"/>
      <p:regular r:id="rId33"/>
    </p:embeddedFont>
    <p:embeddedFont>
      <p:font typeface="Geist Bold" pitchFamily="2" charset="77"/>
      <p:regular r:id="rId34"/>
      <p:bold r:id="rId35"/>
    </p:embeddedFont>
    <p:embeddedFont>
      <p:font typeface="Geist Light" pitchFamily="2" charset="77"/>
      <p:regular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C00"/>
    <a:srgbClr val="94A3B8"/>
    <a:srgbClr val="0E1629"/>
    <a:srgbClr val="49DE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390395-09D2-FC4F-806F-6255CE539EDC}" v="1" dt="2026-09-29T19:17:20.3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09"/>
    <p:restoredTop sz="49632"/>
  </p:normalViewPr>
  <p:slideViewPr>
    <p:cSldViewPr snapToGrid="0" snapToObjects="1">
      <p:cViewPr varScale="1">
        <p:scale>
          <a:sx n="80" d="100"/>
          <a:sy n="80" d="100"/>
        </p:scale>
        <p:origin x="360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risciano, Salvatore" userId="faaac180-6cce-4db1-bdfa-60d62fdd4adb" providerId="ADAL" clId="{29623C48-0A88-510E-8DC5-E09F167645C6}"/>
    <pc:docChg chg="undo redo custSel addSld delSld modSld sldOrd">
      <pc:chgData name="Matrisciano, Salvatore" userId="faaac180-6cce-4db1-bdfa-60d62fdd4adb" providerId="ADAL" clId="{29623C48-0A88-510E-8DC5-E09F167645C6}" dt="2026-09-29T19:09:01.441" v="5723" actId="2696"/>
      <pc:docMkLst>
        <pc:docMk/>
      </pc:docMkLst>
      <pc:sldChg chg="modSp mod modNotesTx">
        <pc:chgData name="Matrisciano, Salvatore" userId="faaac180-6cce-4db1-bdfa-60d62fdd4adb" providerId="ADAL" clId="{29623C48-0A88-510E-8DC5-E09F167645C6}" dt="2026-09-27T19:00:14.100" v="4044" actId="113"/>
        <pc:sldMkLst>
          <pc:docMk/>
          <pc:sldMk cId="0" sldId="256"/>
        </pc:sldMkLst>
        <pc:spChg chg="mod">
          <ac:chgData name="Matrisciano, Salvatore" userId="faaac180-6cce-4db1-bdfa-60d62fdd4adb" providerId="ADAL" clId="{29623C48-0A88-510E-8DC5-E09F167645C6}" dt="2026-09-24T19:32:10.561" v="18"/>
          <ac:spMkLst>
            <pc:docMk/>
            <pc:sldMk cId="0" sldId="256"/>
            <ac:spMk id="9" creationId="{E803EEA6-6ABF-11D4-88FA-ACF13666F0DE}"/>
          </ac:spMkLst>
        </pc:spChg>
        <pc:spChg chg="mod">
          <ac:chgData name="Matrisciano, Salvatore" userId="faaac180-6cce-4db1-bdfa-60d62fdd4adb" providerId="ADAL" clId="{29623C48-0A88-510E-8DC5-E09F167645C6}" dt="2026-09-22T07:17:34.035" v="17" actId="20577"/>
          <ac:spMkLst>
            <pc:docMk/>
            <pc:sldMk cId="0" sldId="256"/>
            <ac:spMk id="11" creationId="{BD8713B6-4549-8639-0BC7-1F9D99F7A18A}"/>
          </ac:spMkLst>
        </pc:spChg>
      </pc:sldChg>
      <pc:sldChg chg="modSp modNotesTx">
        <pc:chgData name="Matrisciano, Salvatore" userId="faaac180-6cce-4db1-bdfa-60d62fdd4adb" providerId="ADAL" clId="{29623C48-0A88-510E-8DC5-E09F167645C6}" dt="2026-09-27T22:18:57.404" v="4092" actId="20577"/>
        <pc:sldMkLst>
          <pc:docMk/>
          <pc:sldMk cId="0" sldId="257"/>
        </pc:sldMkLst>
        <pc:spChg chg="mod">
          <ac:chgData name="Matrisciano, Salvatore" userId="faaac180-6cce-4db1-bdfa-60d62fdd4adb" providerId="ADAL" clId="{29623C48-0A88-510E-8DC5-E09F167645C6}" dt="2026-09-27T22:18:06.301" v="4082"/>
          <ac:spMkLst>
            <pc:docMk/>
            <pc:sldMk cId="0" sldId="257"/>
            <ac:spMk id="7" creationId="{8F701386-B9F4-B853-287B-224B1F83D549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40:28.969" v="4396" actId="2696"/>
        <pc:sldMkLst>
          <pc:docMk/>
          <pc:sldMk cId="0" sldId="260"/>
        </pc:sldMkLst>
      </pc:sldChg>
      <pc:sldChg chg="modSp del mod modNotesTx">
        <pc:chgData name="Matrisciano, Salvatore" userId="faaac180-6cce-4db1-bdfa-60d62fdd4adb" providerId="ADAL" clId="{29623C48-0A88-510E-8DC5-E09F167645C6}" dt="2026-09-28T07:44:23.620" v="4481" actId="2696"/>
        <pc:sldMkLst>
          <pc:docMk/>
          <pc:sldMk cId="0" sldId="261"/>
        </pc:sldMkLst>
        <pc:spChg chg="mod">
          <ac:chgData name="Matrisciano, Salvatore" userId="faaac180-6cce-4db1-bdfa-60d62fdd4adb" providerId="ADAL" clId="{29623C48-0A88-510E-8DC5-E09F167645C6}" dt="2026-09-28T07:40:56.035" v="4398" actId="255"/>
          <ac:spMkLst>
            <pc:docMk/>
            <pc:sldMk cId="0" sldId="26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0:59.033" v="4399" actId="255"/>
          <ac:spMkLst>
            <pc:docMk/>
            <pc:sldMk cId="0" sldId="261"/>
            <ac:spMk id="4" creationId="{00000000-0000-0000-0000-000000000000}"/>
          </ac:spMkLst>
        </pc:spChg>
      </pc:sldChg>
      <pc:sldChg chg="addSp delSp modSp mod modNotesTx">
        <pc:chgData name="Matrisciano, Salvatore" userId="faaac180-6cce-4db1-bdfa-60d62fdd4adb" providerId="ADAL" clId="{29623C48-0A88-510E-8DC5-E09F167645C6}" dt="2026-09-28T07:45:48.414" v="4521" actId="1036"/>
        <pc:sldMkLst>
          <pc:docMk/>
          <pc:sldMk cId="0" sldId="262"/>
        </pc:sldMkLst>
        <pc:spChg chg="mod">
          <ac:chgData name="Matrisciano, Salvatore" userId="faaac180-6cce-4db1-bdfa-60d62fdd4adb" providerId="ADAL" clId="{29623C48-0A88-510E-8DC5-E09F167645C6}" dt="2026-09-28T07:44:41.755" v="4483"/>
          <ac:spMkLst>
            <pc:docMk/>
            <pc:sldMk cId="0" sldId="262"/>
            <ac:spMk id="4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7:45:10.227" v="4487" actId="478"/>
          <ac:spMkLst>
            <pc:docMk/>
            <pc:sldMk cId="0" sldId="262"/>
            <ac:spMk id="5" creationId="{00000000-0000-0000-0000-000000000000}"/>
          </ac:spMkLst>
        </pc:spChg>
        <pc:spChg chg="add mod">
          <ac:chgData name="Matrisciano, Salvatore" userId="faaac180-6cce-4db1-bdfa-60d62fdd4adb" providerId="ADAL" clId="{29623C48-0A88-510E-8DC5-E09F167645C6}" dt="2026-09-28T07:45:02.330" v="4484"/>
          <ac:spMkLst>
            <pc:docMk/>
            <pc:sldMk cId="0" sldId="262"/>
            <ac:spMk id="7" creationId="{F5CE8F92-B49C-1024-A2D7-0D867D570D2E}"/>
          </ac:spMkLst>
        </pc:spChg>
        <pc:spChg chg="add mod">
          <ac:chgData name="Matrisciano, Salvatore" userId="faaac180-6cce-4db1-bdfa-60d62fdd4adb" providerId="ADAL" clId="{29623C48-0A88-510E-8DC5-E09F167645C6}" dt="2026-09-28T07:45:06.682" v="4486"/>
          <ac:spMkLst>
            <pc:docMk/>
            <pc:sldMk cId="0" sldId="262"/>
            <ac:spMk id="8" creationId="{7C6680DC-E0BA-58B1-E04E-FA7E3808598F}"/>
          </ac:spMkLst>
        </pc:spChg>
        <pc:spChg chg="add mod">
          <ac:chgData name="Matrisciano, Salvatore" userId="faaac180-6cce-4db1-bdfa-60d62fdd4adb" providerId="ADAL" clId="{29623C48-0A88-510E-8DC5-E09F167645C6}" dt="2026-09-28T07:45:48.414" v="4521" actId="1036"/>
          <ac:spMkLst>
            <pc:docMk/>
            <pc:sldMk cId="0" sldId="262"/>
            <ac:spMk id="9" creationId="{03CD9A80-91C3-0A43-A6B0-8C4E3FA7940B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50:47.337" v="4582" actId="2696"/>
        <pc:sldMkLst>
          <pc:docMk/>
          <pc:sldMk cId="0" sldId="263"/>
        </pc:sldMkLst>
      </pc:sldChg>
      <pc:sldChg chg="modSp del mod modNotesTx">
        <pc:chgData name="Matrisciano, Salvatore" userId="faaac180-6cce-4db1-bdfa-60d62fdd4adb" providerId="ADAL" clId="{29623C48-0A88-510E-8DC5-E09F167645C6}" dt="2026-09-28T07:52:18.960" v="4586" actId="2696"/>
        <pc:sldMkLst>
          <pc:docMk/>
          <pc:sldMk cId="0" sldId="264"/>
        </pc:sldMkLst>
      </pc:sldChg>
      <pc:sldChg chg="modSp mod modNotesTx">
        <pc:chgData name="Matrisciano, Salvatore" userId="faaac180-6cce-4db1-bdfa-60d62fdd4adb" providerId="ADAL" clId="{29623C48-0A88-510E-8DC5-E09F167645C6}" dt="2026-09-28T12:28:26.378" v="5721" actId="20577"/>
        <pc:sldMkLst>
          <pc:docMk/>
          <pc:sldMk cId="0" sldId="265"/>
        </pc:sldMkLst>
        <pc:spChg chg="mod">
          <ac:chgData name="Matrisciano, Salvatore" userId="faaac180-6cce-4db1-bdfa-60d62fdd4adb" providerId="ADAL" clId="{29623C48-0A88-510E-8DC5-E09F167645C6}" dt="2026-09-28T07:52:33.099" v="4587" actId="255"/>
          <ac:spMkLst>
            <pc:docMk/>
            <pc:sldMk cId="0" sldId="26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36.402" v="4588" actId="255"/>
          <ac:spMkLst>
            <pc:docMk/>
            <pc:sldMk cId="0" sldId="26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47.971" v="4592" actId="20577"/>
          <ac:spMkLst>
            <pc:docMk/>
            <pc:sldMk cId="0" sldId="26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8:56.008" v="223" actId="20577"/>
          <ac:spMkLst>
            <pc:docMk/>
            <pc:sldMk cId="0" sldId="26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35.537" v="262" actId="2057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42.417" v="265" actId="20577"/>
          <ac:spMkLst>
            <pc:docMk/>
            <pc:sldMk cId="0" sldId="265"/>
            <ac:spMk id="1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6:06.248" v="5073" actId="1035"/>
        <pc:sldMkLst>
          <pc:docMk/>
          <pc:sldMk cId="0" sldId="266"/>
        </pc:sldMkLst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8.137" v="5040" actId="255"/>
          <ac:spMkLst>
            <pc:docMk/>
            <pc:sldMk cId="0" sldId="26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39.036" v="5053" actId="1036"/>
          <ac:spMkLst>
            <pc:docMk/>
            <pc:sldMk cId="0" sldId="26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9.685" v="5043" actId="20577"/>
          <ac:spMkLst>
            <pc:docMk/>
            <pc:sldMk cId="0" sldId="26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2.821" v="5064" actId="10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03.648" v="5044" actId="255"/>
          <ac:spMkLst>
            <pc:docMk/>
            <pc:sldMk cId="0" sldId="26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4.912" v="5057" actId="14100"/>
          <ac:spMkLst>
            <pc:docMk/>
            <pc:sldMk cId="0" sldId="26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1.562" v="5056" actId="14100"/>
          <ac:spMkLst>
            <pc:docMk/>
            <pc:sldMk cId="0" sldId="266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7.854" v="5058" actId="14100"/>
          <ac:spMkLst>
            <pc:docMk/>
            <pc:sldMk cId="0" sldId="266"/>
            <ac:spMk id="14" creationId="{00000000-0000-0000-0000-000000000000}"/>
          </ac:spMkLst>
        </pc:spChg>
      </pc:sldChg>
      <pc:sldChg chg="del mod modShow modNotesTx">
        <pc:chgData name="Matrisciano, Salvatore" userId="faaac180-6cce-4db1-bdfa-60d62fdd4adb" providerId="ADAL" clId="{29623C48-0A88-510E-8DC5-E09F167645C6}" dt="2026-09-28T12:27:05.337" v="5712" actId="2696"/>
        <pc:sldMkLst>
          <pc:docMk/>
          <pc:sldMk cId="0" sldId="267"/>
        </pc:sldMkLst>
      </pc:sldChg>
      <pc:sldChg chg="modSp mod modNotesTx">
        <pc:chgData name="Matrisciano, Salvatore" userId="faaac180-6cce-4db1-bdfa-60d62fdd4adb" providerId="ADAL" clId="{29623C48-0A88-510E-8DC5-E09F167645C6}" dt="2026-09-28T08:24:12.920" v="4747" actId="20577"/>
        <pc:sldMkLst>
          <pc:docMk/>
          <pc:sldMk cId="0" sldId="268"/>
        </pc:sldMkLst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4:12.920" v="4747" actId="2057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2:17.476" v="4715" actId="255"/>
          <ac:spMkLst>
            <pc:docMk/>
            <pc:sldMk cId="0" sldId="268"/>
            <ac:spMk id="15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30:29.185" v="4814" actId="2696"/>
        <pc:sldMkLst>
          <pc:docMk/>
          <pc:sldMk cId="0" sldId="269"/>
        </pc:sldMkLst>
      </pc:sldChg>
      <pc:sldChg chg="modSp mod modNotesTx">
        <pc:chgData name="Matrisciano, Salvatore" userId="faaac180-6cce-4db1-bdfa-60d62fdd4adb" providerId="ADAL" clId="{29623C48-0A88-510E-8DC5-E09F167645C6}" dt="2026-09-28T08:33:37.185" v="4884" actId="1035"/>
        <pc:sldMkLst>
          <pc:docMk/>
          <pc:sldMk cId="0" sldId="270"/>
        </pc:sldMkLst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2.514" v="4867" actId="14100"/>
          <ac:spMkLst>
            <pc:docMk/>
            <pc:sldMk cId="0" sldId="270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5.489" v="4868" actId="14100"/>
          <ac:spMkLst>
            <pc:docMk/>
            <pc:sldMk cId="0" sldId="270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2:27:59.921" v="5717" actId="20577"/>
        <pc:sldMkLst>
          <pc:docMk/>
          <pc:sldMk cId="0" sldId="271"/>
        </pc:sldMkLst>
        <pc:spChg chg="mod">
          <ac:chgData name="Matrisciano, Salvatore" userId="faaac180-6cce-4db1-bdfa-60d62fdd4adb" providerId="ADAL" clId="{29623C48-0A88-510E-8DC5-E09F167645C6}" dt="2026-09-28T08:34:51.028" v="4887" actId="255"/>
          <ac:spMkLst>
            <pc:docMk/>
            <pc:sldMk cId="0" sldId="27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5:19.782" v="4894" actId="1037"/>
          <ac:spMkLst>
            <pc:docMk/>
            <pc:sldMk cId="0" sldId="271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1:19.448" v="4945" actId="255"/>
          <ac:spMkLst>
            <pc:docMk/>
            <pc:sldMk cId="0" sldId="271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6:57.942" v="4906" actId="255"/>
          <ac:spMkLst>
            <pc:docMk/>
            <pc:sldMk cId="0" sldId="271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7:59.921" v="5717" actId="20577"/>
          <ac:spMkLst>
            <pc:docMk/>
            <pc:sldMk cId="0" sldId="271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22.516" v="4931" actId="14100"/>
          <ac:spMkLst>
            <pc:docMk/>
            <pc:sldMk cId="0" sldId="271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8" creationId="{4A308AD7-DF4F-958C-6DD7-9D45450F653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9" creationId="{CFAF86CB-4DC8-B1A0-E3F6-182B78A29C5E}"/>
          </ac:spMkLst>
        </pc:spChg>
        <pc:spChg chg="mod">
          <ac:chgData name="Matrisciano, Salvatore" userId="faaac180-6cce-4db1-bdfa-60d62fdd4adb" providerId="ADAL" clId="{29623C48-0A88-510E-8DC5-E09F167645C6}" dt="2026-09-28T08:40:29.697" v="4934" actId="14100"/>
          <ac:spMkLst>
            <pc:docMk/>
            <pc:sldMk cId="0" sldId="271"/>
            <ac:spMk id="22" creationId="{1BB537FF-2E15-7E0A-63CC-43AF98C52326}"/>
          </ac:spMkLst>
        </pc:spChg>
        <pc:spChg chg="mod">
          <ac:chgData name="Matrisciano, Salvatore" userId="faaac180-6cce-4db1-bdfa-60d62fdd4adb" providerId="ADAL" clId="{29623C48-0A88-510E-8DC5-E09F167645C6}" dt="2026-09-28T08:40:32.270" v="4935" actId="14100"/>
          <ac:spMkLst>
            <pc:docMk/>
            <pc:sldMk cId="0" sldId="271"/>
            <ac:spMk id="23" creationId="{27C96B67-D110-0B96-A35B-DA35C702EDC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6" creationId="{2A2ACE08-D46B-DD8E-64BA-88D74DD7DD1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7" creationId="{E23A065A-A4EC-AD1E-902F-A464AEEEC8A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0" creationId="{E92B8EA7-1589-122E-2826-DF120881C004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1" creationId="{93395D28-DB23-18BF-81E9-91A60F5D63AA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2" creationId="{424E8A60-A9EF-C8A1-A1EC-5338B642ACCA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4:57.900" v="5039" actId="1076"/>
        <pc:sldMkLst>
          <pc:docMk/>
          <pc:sldMk cId="0" sldId="272"/>
        </pc:sldMkLst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3.607" v="5005" actId="255"/>
          <ac:spMkLst>
            <pc:docMk/>
            <pc:sldMk cId="0" sldId="272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1.616" v="5023" actId="1036"/>
          <ac:spMkLst>
            <pc:docMk/>
            <pc:sldMk cId="0" sldId="272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49.769" v="5004" actId="255"/>
          <ac:spMkLst>
            <pc:docMk/>
            <pc:sldMk cId="0" sldId="272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2.412" v="5026" actId="1076"/>
          <ac:spMkLst>
            <pc:docMk/>
            <pc:sldMk cId="0" sldId="27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6.614" v="5006" actId="255"/>
          <ac:spMkLst>
            <pc:docMk/>
            <pc:sldMk cId="0" sldId="272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7.900" v="5039" actId="1076"/>
          <ac:spMkLst>
            <pc:docMk/>
            <pc:sldMk cId="0" sldId="27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22.837" v="5013" actId="14100"/>
          <ac:spMkLst>
            <pc:docMk/>
            <pc:sldMk cId="0" sldId="272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5.653" v="5024" actId="14100"/>
          <ac:spMkLst>
            <pc:docMk/>
            <pc:sldMk cId="0" sldId="272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6.461" v="5027" actId="14100"/>
          <ac:spMkLst>
            <pc:docMk/>
            <pc:sldMk cId="0" sldId="272"/>
            <ac:spMk id="16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55:43.611" v="5211" actId="2696"/>
        <pc:sldMkLst>
          <pc:docMk/>
          <pc:sldMk cId="0" sldId="273"/>
        </pc:sldMkLst>
        <pc:spChg chg="mod">
          <ac:chgData name="Matrisciano, Salvatore" userId="faaac180-6cce-4db1-bdfa-60d62fdd4adb" providerId="ADAL" clId="{29623C48-0A88-510E-8DC5-E09F167645C6}" dt="2026-09-28T08:49:37.016" v="5075" actId="255"/>
          <ac:spMkLst>
            <pc:docMk/>
            <pc:sldMk cId="0" sldId="27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9:50.851" v="5078" actId="255"/>
          <ac:spMkLst>
            <pc:docMk/>
            <pc:sldMk cId="0" sldId="273"/>
            <ac:spMk id="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56:33.901" v="5216" actId="255"/>
        <pc:sldMkLst>
          <pc:docMk/>
          <pc:sldMk cId="0" sldId="274"/>
        </pc:sldMkLst>
        <pc:spChg chg="mod">
          <ac:chgData name="Matrisciano, Salvatore" userId="faaac180-6cce-4db1-bdfa-60d62fdd4adb" providerId="ADAL" clId="{29623C48-0A88-510E-8DC5-E09F167645C6}" dt="2026-09-28T08:56:09.097" v="5212" actId="255"/>
          <ac:spMkLst>
            <pc:docMk/>
            <pc:sldMk cId="0" sldId="274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22.412" v="5214" actId="255"/>
          <ac:spMkLst>
            <pc:docMk/>
            <pc:sldMk cId="0" sldId="27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33.901" v="5216" actId="255"/>
          <ac:spMkLst>
            <pc:docMk/>
            <pc:sldMk cId="0" sldId="274"/>
            <ac:spMk id="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2:40.630" v="5257" actId="1036"/>
        <pc:sldMkLst>
          <pc:docMk/>
          <pc:sldMk cId="0" sldId="275"/>
        </pc:sldMkLst>
        <pc:spChg chg="mod">
          <ac:chgData name="Matrisciano, Salvatore" userId="faaac180-6cce-4db1-bdfa-60d62fdd4adb" providerId="ADAL" clId="{29623C48-0A88-510E-8DC5-E09F167645C6}" dt="2026-09-28T08:59:19.328" v="5225" actId="255"/>
          <ac:spMkLst>
            <pc:docMk/>
            <pc:sldMk cId="0" sldId="27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59.245" v="5247" actId="1038"/>
          <ac:spMkLst>
            <pc:docMk/>
            <pc:sldMk cId="0" sldId="27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34.146" v="5236" actId="14100"/>
          <ac:spMkLst>
            <pc:docMk/>
            <pc:sldMk cId="0" sldId="27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5:36.823" v="5355" actId="14100"/>
        <pc:sldMkLst>
          <pc:docMk/>
          <pc:sldMk cId="0" sldId="276"/>
        </pc:sldMkLst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9.756" v="5331" actId="1036"/>
          <ac:spMkLst>
            <pc:docMk/>
            <pc:sldMk cId="0" sldId="27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1.713" v="5351" actId="1076"/>
          <ac:spMkLst>
            <pc:docMk/>
            <pc:sldMk cId="0" sldId="27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0.146" v="5353" actId="14100"/>
          <ac:spMkLst>
            <pc:docMk/>
            <pc:sldMk cId="0" sldId="276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5.447" v="5352" actId="14100"/>
          <ac:spMkLst>
            <pc:docMk/>
            <pc:sldMk cId="0" sldId="276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9.914" v="5354" actId="14100"/>
          <ac:spMkLst>
            <pc:docMk/>
            <pc:sldMk cId="0" sldId="27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36.823" v="5355" actId="14100"/>
          <ac:spMkLst>
            <pc:docMk/>
            <pc:sldMk cId="0" sldId="276"/>
            <ac:spMk id="20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13:13.658" v="5447" actId="1035"/>
        <pc:sldMkLst>
          <pc:docMk/>
          <pc:sldMk cId="0" sldId="277"/>
        </pc:sldMkLst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0:36.530" v="5373" actId="255"/>
          <ac:spMkLst>
            <pc:docMk/>
            <pc:sldMk cId="0" sldId="277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2:49.583" v="5435" actId="1036"/>
          <ac:spMkLst>
            <pc:docMk/>
            <pc:sldMk cId="0" sldId="277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0:11:09.633" v="5696" actId="1036"/>
        <pc:sldMkLst>
          <pc:docMk/>
          <pc:sldMk cId="0" sldId="278"/>
        </pc:sldMkLst>
        <pc:spChg chg="mod">
          <ac:chgData name="Matrisciano, Salvatore" userId="faaac180-6cce-4db1-bdfa-60d62fdd4adb" providerId="ADAL" clId="{29623C48-0A88-510E-8DC5-E09F167645C6}" dt="2026-09-28T09:31:48.005" v="5622" actId="1035"/>
          <ac:spMkLst>
            <pc:docMk/>
            <pc:sldMk cId="0" sldId="27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31:50.588" v="5623" actId="1036"/>
          <ac:spMkLst>
            <pc:docMk/>
            <pc:sldMk cId="0" sldId="27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0:16.098" v="5666" actId="14100"/>
          <ac:spMkLst>
            <pc:docMk/>
            <pc:sldMk cId="0" sldId="27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8:33.806" v="5638" actId="1035"/>
          <ac:spMkLst>
            <pc:docMk/>
            <pc:sldMk cId="0" sldId="27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9:14.143" v="5646" actId="20577"/>
          <ac:spMkLst>
            <pc:docMk/>
            <pc:sldMk cId="0" sldId="27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3.002" v="5693" actId="1036"/>
          <ac:spMkLst>
            <pc:docMk/>
            <pc:sldMk cId="0" sldId="27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6.166" v="5694" actId="1036"/>
          <ac:spMkLst>
            <pc:docMk/>
            <pc:sldMk cId="0" sldId="278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4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10:11:03.002" v="5693" actId="1036"/>
          <ac:picMkLst>
            <pc:docMk/>
            <pc:sldMk cId="0" sldId="278"/>
            <ac:picMk id="12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17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22" creationId="{00000000-0000-0000-0000-000000000000}"/>
          </ac:picMkLst>
        </pc:picChg>
      </pc:sldChg>
      <pc:sldChg chg="modSp del mod modNotesTx">
        <pc:chgData name="Matrisciano, Salvatore" userId="faaac180-6cce-4db1-bdfa-60d62fdd4adb" providerId="ADAL" clId="{29623C48-0A88-510E-8DC5-E09F167645C6}" dt="2026-09-29T19:09:01.441" v="5723" actId="2696"/>
        <pc:sldMkLst>
          <pc:docMk/>
          <pc:sldMk cId="0" sldId="279"/>
        </pc:sldMkLst>
      </pc:sldChg>
      <pc:sldChg chg="del modNotesTx">
        <pc:chgData name="Matrisciano, Salvatore" userId="faaac180-6cce-4db1-bdfa-60d62fdd4adb" providerId="ADAL" clId="{29623C48-0A88-510E-8DC5-E09F167645C6}" dt="2026-09-28T09:30:44.434" v="5607" actId="2696"/>
        <pc:sldMkLst>
          <pc:docMk/>
          <pc:sldMk cId="0" sldId="280"/>
        </pc:sldMkLst>
      </pc:sldChg>
      <pc:sldChg chg="modSp add mod">
        <pc:chgData name="Matrisciano, Salvatore" userId="faaac180-6cce-4db1-bdfa-60d62fdd4adb" providerId="ADAL" clId="{29623C48-0A88-510E-8DC5-E09F167645C6}" dt="2026-09-27T22:21:36.399" v="4095" actId="255"/>
        <pc:sldMkLst>
          <pc:docMk/>
          <pc:sldMk cId="0" sldId="281"/>
        </pc:sldMkLst>
        <pc:spChg chg="mod">
          <ac:chgData name="Matrisciano, Salvatore" userId="faaac180-6cce-4db1-bdfa-60d62fdd4adb" providerId="ADAL" clId="{29623C48-0A88-510E-8DC5-E09F167645C6}" dt="2026-09-27T22:21:26.991" v="4094" actId="255"/>
          <ac:spMkLst>
            <pc:docMk/>
            <pc:sldMk cId="0" sldId="28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1:36.399" v="4095" actId="255"/>
          <ac:spMkLst>
            <pc:docMk/>
            <pc:sldMk cId="0" sldId="281"/>
            <ac:spMk id="4" creationId="{00000000-0000-0000-0000-000000000000}"/>
          </ac:spMkLst>
        </pc:spChg>
      </pc:sldChg>
      <pc:sldChg chg="modSp add mod ord modNotesTx">
        <pc:chgData name="Matrisciano, Salvatore" userId="faaac180-6cce-4db1-bdfa-60d62fdd4adb" providerId="ADAL" clId="{29623C48-0A88-510E-8DC5-E09F167645C6}" dt="2026-09-28T12:27:54.870" v="5714" actId="20577"/>
        <pc:sldMkLst>
          <pc:docMk/>
          <pc:sldMk cId="0" sldId="282"/>
        </pc:sldMkLst>
        <pc:spChg chg="mod">
          <ac:chgData name="Matrisciano, Salvatore" userId="faaac180-6cce-4db1-bdfa-60d62fdd4adb" providerId="ADAL" clId="{29623C48-0A88-510E-8DC5-E09F167645C6}" dt="2026-09-27T22:22:50.065" v="4098" actId="255"/>
          <ac:spMkLst>
            <pc:docMk/>
            <pc:sldMk cId="0" sldId="28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2:57.577" v="4099" actId="255"/>
          <ac:spMkLst>
            <pc:docMk/>
            <pc:sldMk cId="0" sldId="282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27.927" v="5356" actId="207"/>
          <ac:spMkLst>
            <pc:docMk/>
            <pc:sldMk cId="0" sldId="282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00.110" v="4141"/>
          <ac:spMkLst>
            <pc:docMk/>
            <pc:sldMk cId="0" sldId="28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0.570" v="5357" actId="207"/>
          <ac:spMkLst>
            <pc:docMk/>
            <pc:sldMk cId="0" sldId="282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42.834" v="4156"/>
          <ac:spMkLst>
            <pc:docMk/>
            <pc:sldMk cId="0" sldId="28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3.560" v="5358" actId="207"/>
          <ac:spMkLst>
            <pc:docMk/>
            <pc:sldMk cId="0" sldId="282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5.948" v="5359" actId="207"/>
          <ac:spMkLst>
            <pc:docMk/>
            <pc:sldMk cId="0" sldId="282"/>
            <ac:spMk id="16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8:47.606" v="5363" actId="207"/>
        <pc:sldMkLst>
          <pc:docMk/>
          <pc:sldMk cId="0" sldId="283"/>
        </pc:sldMkLst>
        <pc:spChg chg="mod">
          <ac:chgData name="Matrisciano, Salvatore" userId="faaac180-6cce-4db1-bdfa-60d62fdd4adb" providerId="ADAL" clId="{29623C48-0A88-510E-8DC5-E09F167645C6}" dt="2026-09-28T07:34:19.109" v="4168" actId="255"/>
          <ac:spMkLst>
            <pc:docMk/>
            <pc:sldMk cId="0" sldId="28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7:04.496" v="4308" actId="1036"/>
          <ac:spMkLst>
            <pc:docMk/>
            <pc:sldMk cId="0" sldId="283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8:54.606" v="4364" actId="14100"/>
          <ac:spMkLst>
            <pc:docMk/>
            <pc:sldMk cId="0" sldId="283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3.663" v="4389" actId="255"/>
          <ac:spMkLst>
            <pc:docMk/>
            <pc:sldMk cId="0" sldId="283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0.951" v="5360" actId="207"/>
          <ac:spMkLst>
            <pc:docMk/>
            <pc:sldMk cId="0" sldId="283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00.572" v="4368" actId="14100"/>
          <ac:spMkLst>
            <pc:docMk/>
            <pc:sldMk cId="0" sldId="283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7.660" v="4390" actId="255"/>
          <ac:spMkLst>
            <pc:docMk/>
            <pc:sldMk cId="0" sldId="283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2.949" v="5361" actId="207"/>
          <ac:spMkLst>
            <pc:docMk/>
            <pc:sldMk cId="0" sldId="283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1.338" v="4378" actId="14100"/>
          <ac:spMkLst>
            <pc:docMk/>
            <pc:sldMk cId="0" sldId="283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38.156" v="4388" actId="14100"/>
          <ac:spMkLst>
            <pc:docMk/>
            <pc:sldMk cId="0" sldId="283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5.401" v="5362" actId="20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4.150" v="4379" actId="14100"/>
          <ac:spMkLst>
            <pc:docMk/>
            <pc:sldMk cId="0" sldId="283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51.217" v="4391" actId="255"/>
          <ac:spMkLst>
            <pc:docMk/>
            <pc:sldMk cId="0" sldId="283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7.606" v="5363" actId="207"/>
          <ac:spMkLst>
            <pc:docMk/>
            <pc:sldMk cId="0" sldId="283"/>
            <ac:spMk id="15" creationId="{00000000-0000-0000-0000-000000000000}"/>
          </ac:spMkLst>
        </pc:spChg>
      </pc:sldChg>
      <pc:sldChg chg="modSp add mod ord">
        <pc:chgData name="Matrisciano, Salvatore" userId="faaac180-6cce-4db1-bdfa-60d62fdd4adb" providerId="ADAL" clId="{29623C48-0A88-510E-8DC5-E09F167645C6}" dt="2026-09-28T07:43:34.681" v="4480" actId="1035"/>
        <pc:sldMkLst>
          <pc:docMk/>
          <pc:sldMk cId="0" sldId="284"/>
        </pc:sldMkLst>
        <pc:spChg chg="mod">
          <ac:chgData name="Matrisciano, Salvatore" userId="faaac180-6cce-4db1-bdfa-60d62fdd4adb" providerId="ADAL" clId="{29623C48-0A88-510E-8DC5-E09F167645C6}" dt="2026-09-28T07:41:12.232" v="4400" actId="255"/>
          <ac:spMkLst>
            <pc:docMk/>
            <pc:sldMk cId="0" sldId="28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15.745" v="4473" actId="1035"/>
          <ac:spMkLst>
            <pc:docMk/>
            <pc:sldMk cId="0" sldId="284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07.612" v="4468" actId="1036"/>
          <ac:spMkLst>
            <pc:docMk/>
            <pc:sldMk cId="0" sldId="284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2:58.324" v="4465" actId="1036"/>
          <ac:spMkLst>
            <pc:docMk/>
            <pc:sldMk cId="0" sldId="284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2.622" v="4478" actId="1035"/>
          <ac:spMkLst>
            <pc:docMk/>
            <pc:sldMk cId="0" sldId="284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4.681" v="4480" actId="1035"/>
          <ac:spMkLst>
            <pc:docMk/>
            <pc:sldMk cId="0" sldId="284"/>
            <ac:spMk id="12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9:00.849" v="5366" actId="207"/>
        <pc:sldMkLst>
          <pc:docMk/>
          <pc:sldMk cId="0" sldId="285"/>
        </pc:sldMkLst>
        <pc:spChg chg="mod">
          <ac:chgData name="Matrisciano, Salvatore" userId="faaac180-6cce-4db1-bdfa-60d62fdd4adb" providerId="ADAL" clId="{29623C48-0A88-510E-8DC5-E09F167645C6}" dt="2026-09-28T07:46:34.872" v="4524" actId="255"/>
          <ac:spMkLst>
            <pc:docMk/>
            <pc:sldMk cId="0" sldId="28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6:38.873" v="4525" actId="255"/>
          <ac:spMkLst>
            <pc:docMk/>
            <pc:sldMk cId="0" sldId="28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4.101" v="5364" actId="207"/>
          <ac:spMkLst>
            <pc:docMk/>
            <pc:sldMk cId="0" sldId="28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6.073" v="5365" actId="207"/>
          <ac:spMkLst>
            <pc:docMk/>
            <pc:sldMk cId="0" sldId="28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00.849" v="5366" actId="207"/>
          <ac:spMkLst>
            <pc:docMk/>
            <pc:sldMk cId="0" sldId="285"/>
            <ac:spMk id="13" creationId="{00000000-0000-0000-0000-000000000000}"/>
          </ac:spMkLst>
        </pc:spChg>
      </pc:sldChg>
      <pc:sldChg chg="modSp add mod">
        <pc:chgData name="Matrisciano, Salvatore" userId="faaac180-6cce-4db1-bdfa-60d62fdd4adb" providerId="ADAL" clId="{29623C48-0A88-510E-8DC5-E09F167645C6}" dt="2026-09-28T09:09:56.398" v="5371" actId="207"/>
        <pc:sldMkLst>
          <pc:docMk/>
          <pc:sldMk cId="0" sldId="286"/>
        </pc:sldMkLst>
        <pc:spChg chg="mod">
          <ac:chgData name="Matrisciano, Salvatore" userId="faaac180-6cce-4db1-bdfa-60d62fdd4adb" providerId="ADAL" clId="{29623C48-0A88-510E-8DC5-E09F167645C6}" dt="2026-09-28T07:51:48.066" v="4584" actId="255"/>
          <ac:spMkLst>
            <pc:docMk/>
            <pc:sldMk cId="0" sldId="28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1:51.751" v="4585" actId="255"/>
          <ac:spMkLst>
            <pc:docMk/>
            <pc:sldMk cId="0" sldId="28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2.390" v="5367" actId="207"/>
          <ac:spMkLst>
            <pc:docMk/>
            <pc:sldMk cId="0" sldId="286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5.982" v="5368" actId="207"/>
          <ac:spMkLst>
            <pc:docMk/>
            <pc:sldMk cId="0" sldId="28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47.976" v="5369" actId="207"/>
          <ac:spMkLst>
            <pc:docMk/>
            <pc:sldMk cId="0" sldId="28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0.811" v="5370" actId="207"/>
          <ac:spMkLst>
            <pc:docMk/>
            <pc:sldMk cId="0" sldId="28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6.398" v="5371" actId="207"/>
          <ac:spMkLst>
            <pc:docMk/>
            <pc:sldMk cId="0" sldId="286"/>
            <ac:spMk id="23" creationId="{00000000-0000-0000-0000-000000000000}"/>
          </ac:spMkLst>
        </pc:spChg>
      </pc:sldChg>
      <pc:sldChg chg="delSp modSp add mod modNotesTx">
        <pc:chgData name="Matrisciano, Salvatore" userId="faaac180-6cce-4db1-bdfa-60d62fdd4adb" providerId="ADAL" clId="{29623C48-0A88-510E-8DC5-E09F167645C6}" dt="2026-09-28T12:28:12.822" v="5718" actId="20577"/>
        <pc:sldMkLst>
          <pc:docMk/>
          <pc:sldMk cId="0" sldId="287"/>
        </pc:sldMkLst>
        <pc:spChg chg="mod">
          <ac:chgData name="Matrisciano, Salvatore" userId="faaac180-6cce-4db1-bdfa-60d62fdd4adb" providerId="ADAL" clId="{29623C48-0A88-510E-8DC5-E09F167645C6}" dt="2026-09-28T08:15:23.899" v="4610" actId="255"/>
          <ac:spMkLst>
            <pc:docMk/>
            <pc:sldMk cId="0" sldId="28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5:27.991" v="4611" actId="255"/>
          <ac:spMkLst>
            <pc:docMk/>
            <pc:sldMk cId="0" sldId="28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7:44.553" v="4621" actId="1076"/>
          <ac:spMkLst>
            <pc:docMk/>
            <pc:sldMk cId="0" sldId="28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8:09.685" v="4639" actId="14100"/>
          <ac:spMkLst>
            <pc:docMk/>
            <pc:sldMk cId="0" sldId="28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0:35.621" v="5100" actId="1035"/>
          <ac:spMkLst>
            <pc:docMk/>
            <pc:sldMk cId="0" sldId="287"/>
            <ac:spMk id="6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8:13:46.347" v="4609" actId="478"/>
          <ac:spMkLst>
            <pc:docMk/>
            <pc:sldMk cId="0" sldId="28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0:36.737" v="5711" actId="20577"/>
          <ac:spMkLst>
            <pc:docMk/>
            <pc:sldMk cId="0" sldId="287"/>
            <ac:spMk id="8" creationId="{00000000-0000-0000-0000-000000000000}"/>
          </ac:spMkLst>
        </pc:spChg>
      </pc:sldChg>
      <pc:sldChg chg="delSp modSp add del mod">
        <pc:chgData name="Matrisciano, Salvatore" userId="faaac180-6cce-4db1-bdfa-60d62fdd4adb" providerId="ADAL" clId="{29623C48-0A88-510E-8DC5-E09F167645C6}" dt="2026-09-28T08:29:40.398" v="4813" actId="1036"/>
        <pc:sldMkLst>
          <pc:docMk/>
          <pc:sldMk cId="0" sldId="288"/>
        </pc:sldMkLst>
        <pc:spChg chg="mod">
          <ac:chgData name="Matrisciano, Salvatore" userId="faaac180-6cce-4db1-bdfa-60d62fdd4adb" providerId="ADAL" clId="{29623C48-0A88-510E-8DC5-E09F167645C6}" dt="2026-09-28T08:29:07.568" v="4807" actId="1036"/>
          <ac:spMkLst>
            <pc:docMk/>
            <pc:sldMk cId="0" sldId="288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40.398" v="4813" actId="1036"/>
          <ac:spMkLst>
            <pc:docMk/>
            <pc:sldMk cId="0" sldId="28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5" creationId="{00000000-0000-0000-0000-000000000000}"/>
          </ac:spMkLst>
        </pc:spChg>
        <pc:spChg chg="del">
          <ac:chgData name="Matrisciano, Salvatore" userId="faaac180-6cce-4db1-bdfa-60d62fdd4adb" providerId="ADAL" clId="{29623C48-0A88-510E-8DC5-E09F167645C6}" dt="2026-09-28T08:27:13.673" v="4750" actId="478"/>
          <ac:spMkLst>
            <pc:docMk/>
            <pc:sldMk cId="0" sldId="28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9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8:54:24.058" v="5210" actId="14100"/>
        <pc:sldMkLst>
          <pc:docMk/>
          <pc:sldMk cId="0" sldId="289"/>
        </pc:sldMkLst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24.058" v="5210" actId="14100"/>
          <ac:spMkLst>
            <pc:docMk/>
            <pc:sldMk cId="0" sldId="289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3.791" v="5206" actId="1036"/>
          <ac:spMkLst>
            <pc:docMk/>
            <pc:sldMk cId="0" sldId="289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9" creationId="{00000000-0000-0000-0000-000000000000}"/>
          </ac:spMkLst>
        </pc:spChg>
      </pc:sldChg>
      <pc:sldChg chg="add del">
        <pc:chgData name="Matrisciano, Salvatore" userId="faaac180-6cce-4db1-bdfa-60d62fdd4adb" providerId="ADAL" clId="{29623C48-0A88-510E-8DC5-E09F167645C6}" dt="2026-09-28T09:30:42.923" v="5606" actId="2696"/>
        <pc:sldMkLst>
          <pc:docMk/>
          <pc:sldMk cId="0" sldId="290"/>
        </pc:sldMkLst>
      </pc:sldChg>
      <pc:sldChg chg="modSp add del mod ord">
        <pc:chgData name="Matrisciano, Salvatore" userId="faaac180-6cce-4db1-bdfa-60d62fdd4adb" providerId="ADAL" clId="{29623C48-0A88-510E-8DC5-E09F167645C6}" dt="2026-09-28T09:29:55.446" v="5605" actId="20578"/>
        <pc:sldMkLst>
          <pc:docMk/>
          <pc:sldMk cId="0" sldId="291"/>
        </pc:sldMkLst>
        <pc:spChg chg="mod">
          <ac:chgData name="Matrisciano, Salvatore" userId="faaac180-6cce-4db1-bdfa-60d62fdd4adb" providerId="ADAL" clId="{29623C48-0A88-510E-8DC5-E09F167645C6}" dt="2026-09-28T09:27:25.252" v="5561" actId="1035"/>
          <ac:spMkLst>
            <pc:docMk/>
            <pc:sldMk cId="0" sldId="291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9:43.249" v="5604" actId="1076"/>
          <ac:spMkLst>
            <pc:docMk/>
            <pc:sldMk cId="0" sldId="291"/>
            <ac:spMk id="13" creationId="{C9E1C4DB-FBEF-BC3C-3B1A-89725B030B3B}"/>
          </ac:spMkLst>
        </pc:spChg>
        <pc:spChg chg="mod">
          <ac:chgData name="Matrisciano, Salvatore" userId="faaac180-6cce-4db1-bdfa-60d62fdd4adb" providerId="ADAL" clId="{29623C48-0A88-510E-8DC5-E09F167645C6}" dt="2026-09-28T09:29:35.241" v="5603" actId="1076"/>
          <ac:spMkLst>
            <pc:docMk/>
            <pc:sldMk cId="0" sldId="291"/>
            <ac:spMk id="16" creationId="{7BEBF36C-5F18-17AA-FA23-91A11E84074B}"/>
          </ac:spMkLst>
        </pc:spChg>
        <pc:spChg chg="mod">
          <ac:chgData name="Matrisciano, Salvatore" userId="faaac180-6cce-4db1-bdfa-60d62fdd4adb" providerId="ADAL" clId="{29623C48-0A88-510E-8DC5-E09F167645C6}" dt="2026-09-28T09:28:40.020" v="5596" actId="1076"/>
          <ac:spMkLst>
            <pc:docMk/>
            <pc:sldMk cId="0" sldId="291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8:45.598" v="5600" actId="1036"/>
          <ac:spMkLst>
            <pc:docMk/>
            <pc:sldMk cId="0" sldId="291"/>
            <ac:spMk id="19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3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0" creationId="{283E7036-6760-391B-87BE-9F7E71E6059B}"/>
          </ac:picMkLst>
        </pc:pic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11" creationId="{791DD59E-DF22-FBAC-C586-9E08192F43A7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4" creationId="{13F53A0F-D62F-523E-6D16-830DF466193A}"/>
          </ac:picMkLst>
        </pc:picChg>
        <pc:picChg chg="mod">
          <ac:chgData name="Matrisciano, Salvatore" userId="faaac180-6cce-4db1-bdfa-60d62fdd4adb" providerId="ADAL" clId="{29623C48-0A88-510E-8DC5-E09F167645C6}" dt="2026-09-28T09:28:35.929" v="5595" actId="1076"/>
          <ac:picMkLst>
            <pc:docMk/>
            <pc:sldMk cId="0" sldId="291"/>
            <ac:picMk id="18" creationId="{00000000-0000-0000-0000-000000000000}"/>
          </ac:picMkLst>
        </pc:picChg>
      </pc:sldChg>
      <pc:sldChg chg="modSp add mod ord modNotes">
        <pc:chgData name="Matrisciano, Salvatore" userId="faaac180-6cce-4db1-bdfa-60d62fdd4adb" providerId="ADAL" clId="{29623C48-0A88-510E-8DC5-E09F167645C6}" dt="2026-09-28T12:31:41.664" v="5722" actId="20577"/>
        <pc:sldMkLst>
          <pc:docMk/>
          <pc:sldMk cId="0" sldId="292"/>
        </pc:sldMkLst>
        <pc:spChg chg="mod">
          <ac:chgData name="Matrisciano, Salvatore" userId="faaac180-6cce-4db1-bdfa-60d62fdd4adb" providerId="ADAL" clId="{29623C48-0A88-510E-8DC5-E09F167645C6}" dt="2026-09-28T11:37:09.594" v="5706" actId="255"/>
          <ac:spMkLst>
            <pc:docMk/>
            <pc:sldMk cId="0" sldId="29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1:37:16.788" v="5709" actId="1036"/>
          <ac:spMkLst>
            <pc:docMk/>
            <pc:sldMk cId="0" sldId="292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7326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SALVATORE:</a:t>
            </a:r>
          </a:p>
          <a:p>
            <a:r>
              <a:rPr lang="it-IT" dirty="0"/>
              <a:t>Ciao, c</a:t>
            </a:r>
            <a:r>
              <a:rPr dirty="0" err="1"/>
              <a:t>iao</a:t>
            </a:r>
            <a:r>
              <a:rPr dirty="0"/>
              <a:t> a tutti</a:t>
            </a:r>
            <a:r>
              <a:rPr lang="it-IT" dirty="0"/>
              <a:t>!</a:t>
            </a:r>
            <a:r>
              <a:rPr dirty="0"/>
              <a:t> Io </a:t>
            </a:r>
            <a:r>
              <a:rPr dirty="0" err="1"/>
              <a:t>sono</a:t>
            </a:r>
            <a:r>
              <a:rPr dirty="0"/>
              <a:t> Salvatore Matrisciano, mobile </a:t>
            </a:r>
            <a:r>
              <a:rPr lang="it-IT" dirty="0"/>
              <a:t>developer</a:t>
            </a:r>
            <a:r>
              <a:rPr dirty="0"/>
              <a:t> in Deloitte Digital…</a:t>
            </a:r>
          </a:p>
          <a:p>
            <a:endParaRPr dirty="0"/>
          </a:p>
          <a:p>
            <a:r>
              <a:rPr b="1" dirty="0"/>
              <a:t>STEFANO:</a:t>
            </a:r>
          </a:p>
          <a:p>
            <a:r>
              <a:rPr dirty="0"/>
              <a:t>…e io </a:t>
            </a:r>
            <a:r>
              <a:rPr dirty="0" err="1"/>
              <a:t>sono</a:t>
            </a:r>
            <a:r>
              <a:rPr dirty="0"/>
              <a:t> Stefano Soriano, </a:t>
            </a:r>
            <a:r>
              <a:rPr dirty="0" err="1"/>
              <a:t>anche</a:t>
            </a:r>
            <a:r>
              <a:rPr dirty="0"/>
              <a:t> io mobile </a:t>
            </a:r>
            <a:r>
              <a:rPr lang="it-IT" dirty="0"/>
              <a:t>developer</a:t>
            </a:r>
            <a:r>
              <a:rPr dirty="0"/>
              <a:t> in Deloitte Digital. Ciao a tutti!</a:t>
            </a:r>
            <a:endParaRPr lang="it-IT" dirty="0"/>
          </a:p>
          <a:p>
            <a:endParaRPr lang="it-IT" dirty="0"/>
          </a:p>
          <a:p>
            <a:endParaRPr dirty="0"/>
          </a:p>
          <a:p>
            <a:endParaRPr dirty="0"/>
          </a:p>
          <a:p>
            <a:r>
              <a:rPr b="1" dirty="0"/>
              <a:t>SALVATORE:</a:t>
            </a:r>
          </a:p>
          <a:p>
            <a:r>
              <a:rPr lang="it-IT" dirty="0"/>
              <a:t>Allora, o</a:t>
            </a:r>
            <a:r>
              <a:rPr dirty="0" err="1"/>
              <a:t>ggi</a:t>
            </a:r>
            <a:r>
              <a:rPr dirty="0"/>
              <a:t> vi </a:t>
            </a:r>
            <a:r>
              <a:rPr dirty="0" err="1"/>
              <a:t>raccontiamo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storia</a:t>
            </a:r>
            <a:r>
              <a:rPr lang="it-IT" dirty="0"/>
              <a:t>. Una storia</a:t>
            </a:r>
            <a:r>
              <a:rPr dirty="0"/>
              <a:t> vera.</a:t>
            </a:r>
            <a:endParaRPr lang="it-IT" dirty="0"/>
          </a:p>
          <a:p>
            <a:r>
              <a:rPr dirty="0"/>
              <a:t>La </a:t>
            </a:r>
            <a:r>
              <a:rPr dirty="0" err="1"/>
              <a:t>storia</a:t>
            </a:r>
            <a:r>
              <a:rPr dirty="0"/>
              <a:t> di </a:t>
            </a:r>
            <a:r>
              <a:rPr dirty="0" err="1"/>
              <a:t>un’app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guarda</a:t>
            </a:r>
            <a:r>
              <a:rPr dirty="0"/>
              <a:t> </a:t>
            </a:r>
            <a:r>
              <a:rPr dirty="0" err="1"/>
              <a:t>dentro</a:t>
            </a:r>
            <a:r>
              <a:rPr dirty="0"/>
              <a:t> il vostro </a:t>
            </a:r>
            <a:r>
              <a:rPr dirty="0" err="1"/>
              <a:t>frigo</a:t>
            </a:r>
            <a:r>
              <a:rPr dirty="0"/>
              <a:t> e vi </a:t>
            </a:r>
            <a:r>
              <a:rPr lang="it-IT" dirty="0"/>
              <a:t>consiglia</a:t>
            </a:r>
            <a:r>
              <a:rPr dirty="0"/>
              <a:t> </a:t>
            </a:r>
            <a:r>
              <a:rPr dirty="0" err="1"/>
              <a:t>cosa</a:t>
            </a:r>
            <a:r>
              <a:rPr dirty="0"/>
              <a:t> </a:t>
            </a:r>
            <a:r>
              <a:rPr dirty="0" err="1"/>
              <a:t>cucinare</a:t>
            </a:r>
            <a:r>
              <a:rPr dirty="0"/>
              <a:t> </a:t>
            </a:r>
            <a:r>
              <a:rPr dirty="0" err="1"/>
              <a:t>stasera</a:t>
            </a:r>
            <a:r>
              <a:rPr dirty="0"/>
              <a:t>.</a:t>
            </a:r>
            <a:endParaRPr lang="it-IT" dirty="0"/>
          </a:p>
          <a:p>
            <a:r>
              <a:rPr lang="it-IT" dirty="0"/>
              <a:t>L’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costruita</a:t>
            </a:r>
            <a:r>
              <a:rPr dirty="0"/>
              <a:t> con </a:t>
            </a:r>
            <a:r>
              <a:rPr dirty="0" err="1"/>
              <a:t>tre</a:t>
            </a:r>
            <a:r>
              <a:rPr dirty="0"/>
              <a:t> </a:t>
            </a:r>
            <a:r>
              <a:rPr dirty="0" err="1"/>
              <a:t>modelli</a:t>
            </a:r>
            <a:r>
              <a:rPr dirty="0"/>
              <a:t> di </a:t>
            </a:r>
            <a:r>
              <a:rPr dirty="0" err="1"/>
              <a:t>intelligenza</a:t>
            </a:r>
            <a:r>
              <a:rPr dirty="0"/>
              <a:t> </a:t>
            </a:r>
            <a:r>
              <a:rPr dirty="0" err="1"/>
              <a:t>artificiale</a:t>
            </a:r>
            <a:r>
              <a:rPr dirty="0"/>
              <a:t> </a:t>
            </a:r>
            <a:r>
              <a:rPr dirty="0" err="1"/>
              <a:t>diversi</a:t>
            </a:r>
            <a:r>
              <a:rPr dirty="0"/>
              <a:t>: Gemini Nano, Gemma</a:t>
            </a:r>
            <a:r>
              <a:rPr lang="it-IT" dirty="0"/>
              <a:t> e </a:t>
            </a:r>
            <a:r>
              <a:rPr lang="en-US" dirty="0"/>
              <a:t>MobileCLIP</a:t>
            </a:r>
            <a:r>
              <a:rPr dirty="0"/>
              <a:t>.</a:t>
            </a:r>
            <a:endParaRPr lang="it-IT" dirty="0"/>
          </a:p>
          <a:p>
            <a:r>
              <a:rPr lang="it-IT" dirty="0"/>
              <a:t>E t</a:t>
            </a:r>
            <a:r>
              <a:rPr dirty="0" err="1"/>
              <a:t>utti</a:t>
            </a:r>
            <a:r>
              <a:rPr dirty="0"/>
              <a:t> e </a:t>
            </a:r>
            <a:r>
              <a:rPr lang="it-IT" dirty="0"/>
              <a:t>3</a:t>
            </a:r>
            <a:r>
              <a:rPr dirty="0"/>
              <a:t> </a:t>
            </a:r>
            <a:r>
              <a:rPr dirty="0" err="1"/>
              <a:t>girano</a:t>
            </a:r>
            <a:r>
              <a:rPr dirty="0"/>
              <a:t> </a:t>
            </a:r>
            <a:r>
              <a:rPr dirty="0" err="1"/>
              <a:t>direttamente</a:t>
            </a:r>
            <a:r>
              <a:rPr dirty="0"/>
              <a:t>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telefono</a:t>
            </a:r>
            <a:r>
              <a:rPr lang="it-IT" dirty="0"/>
              <a:t>, in locale.</a:t>
            </a:r>
          </a:p>
          <a:p>
            <a:endParaRPr dirty="0"/>
          </a:p>
          <a:p>
            <a:endParaRPr dirty="0"/>
          </a:p>
          <a:p>
            <a:r>
              <a:rPr lang="it-IT" dirty="0" err="1"/>
              <a:t>N</a:t>
            </a:r>
            <a:r>
              <a:rPr dirty="0"/>
              <a:t>on vi </a:t>
            </a:r>
            <a:r>
              <a:rPr dirty="0" err="1"/>
              <a:t>faremo</a:t>
            </a:r>
            <a:r>
              <a:rPr dirty="0"/>
              <a:t> </a:t>
            </a:r>
            <a:r>
              <a:rPr dirty="0" err="1"/>
              <a:t>vedere</a:t>
            </a:r>
            <a:r>
              <a:rPr dirty="0"/>
              <a:t> solo la </a:t>
            </a:r>
            <a:r>
              <a:rPr dirty="0" err="1"/>
              <a:t>versione</a:t>
            </a:r>
            <a:r>
              <a:rPr dirty="0"/>
              <a:t> finale, </a:t>
            </a:r>
            <a:r>
              <a:rPr dirty="0" err="1"/>
              <a:t>quella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funziona</a:t>
            </a:r>
            <a:r>
              <a:rPr dirty="0"/>
              <a:t>.</a:t>
            </a:r>
            <a:endParaRPr lang="it-IT" dirty="0"/>
          </a:p>
          <a:p>
            <a:r>
              <a:rPr lang="it-IT" dirty="0"/>
              <a:t>Ma v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faremo</a:t>
            </a:r>
            <a:r>
              <a:rPr dirty="0"/>
              <a:t> </a:t>
            </a:r>
            <a:r>
              <a:rPr dirty="0" err="1"/>
              <a:t>vedere</a:t>
            </a:r>
            <a:r>
              <a:rPr dirty="0"/>
              <a:t> </a:t>
            </a:r>
            <a:r>
              <a:rPr dirty="0" err="1"/>
              <a:t>anche</a:t>
            </a:r>
            <a:r>
              <a:rPr dirty="0"/>
              <a:t> le </a:t>
            </a:r>
            <a:r>
              <a:rPr dirty="0" err="1"/>
              <a:t>strade</a:t>
            </a:r>
            <a:r>
              <a:rPr dirty="0"/>
              <a:t> </a:t>
            </a:r>
            <a:r>
              <a:rPr dirty="0" err="1"/>
              <a:t>sbagliate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preso</a:t>
            </a:r>
            <a:r>
              <a:rPr dirty="0"/>
              <a:t>, </a:t>
            </a:r>
            <a:r>
              <a:rPr dirty="0" err="1"/>
              <a:t>perché</a:t>
            </a:r>
            <a:r>
              <a:rPr dirty="0"/>
              <a:t> </a:t>
            </a:r>
            <a:r>
              <a:rPr dirty="0" err="1"/>
              <a:t>è</a:t>
            </a:r>
            <a:r>
              <a:rPr lang="it-IT" dirty="0"/>
              <a:t> da</a:t>
            </a:r>
            <a:r>
              <a:rPr dirty="0"/>
              <a:t> </a:t>
            </a:r>
            <a:r>
              <a:rPr dirty="0" err="1"/>
              <a:t>lì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imparato</a:t>
            </a:r>
            <a:r>
              <a:rPr dirty="0"/>
              <a:t> di </a:t>
            </a:r>
            <a:r>
              <a:rPr dirty="0" err="1"/>
              <a:t>più</a:t>
            </a:r>
            <a:r>
              <a:rPr dirty="0"/>
              <a:t>.</a:t>
            </a:r>
            <a:endParaRPr lang="it-IT" dirty="0"/>
          </a:p>
          <a:p>
            <a:endParaRPr lang="it-IT" dirty="0"/>
          </a:p>
          <a:p>
            <a:endParaRPr dirty="0"/>
          </a:p>
          <a:p>
            <a:endParaRPr dirty="0"/>
          </a:p>
          <a:p>
            <a:r>
              <a:rPr dirty="0" err="1"/>
              <a:t>Partiamo</a:t>
            </a:r>
            <a:r>
              <a:rPr dirty="0"/>
              <a:t> da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domanda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Cosa </a:t>
            </a:r>
            <a:r>
              <a:rPr dirty="0" err="1"/>
              <a:t>succede</a:t>
            </a:r>
            <a:r>
              <a:rPr dirty="0"/>
              <a:t>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decidi</a:t>
            </a:r>
            <a:r>
              <a:rPr dirty="0"/>
              <a:t> di far </a:t>
            </a:r>
            <a:r>
              <a:rPr dirty="0" err="1"/>
              <a:t>girare</a:t>
            </a:r>
            <a:r>
              <a:rPr dirty="0"/>
              <a:t> </a:t>
            </a:r>
            <a:r>
              <a:rPr dirty="0" err="1"/>
              <a:t>tutta</a:t>
            </a:r>
            <a:r>
              <a:rPr dirty="0"/>
              <a:t> </a:t>
            </a:r>
            <a:r>
              <a:rPr dirty="0" err="1"/>
              <a:t>l’AI</a:t>
            </a:r>
            <a:r>
              <a:rPr dirty="0"/>
              <a:t> della </a:t>
            </a:r>
            <a:r>
              <a:rPr dirty="0" err="1"/>
              <a:t>tua</a:t>
            </a:r>
            <a:r>
              <a:rPr dirty="0"/>
              <a:t> app </a:t>
            </a:r>
            <a:r>
              <a:rPr dirty="0" err="1"/>
              <a:t>direttamente</a:t>
            </a:r>
            <a:r>
              <a:rPr dirty="0"/>
              <a:t>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?</a:t>
            </a:r>
            <a:endParaRPr lang="it-IT" dirty="0"/>
          </a:p>
          <a:p>
            <a:endParaRPr dirty="0"/>
          </a:p>
          <a:p>
            <a:endParaRPr dirty="0"/>
          </a:p>
          <a:p>
            <a:endParaRPr dirty="0"/>
          </a:p>
          <a:p>
            <a:r>
              <a:rPr dirty="0"/>
              <a:t>Oggi,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aggiungiamo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feature AI a </a:t>
            </a:r>
            <a:r>
              <a:rPr dirty="0" err="1"/>
              <a:t>un’app</a:t>
            </a:r>
            <a:r>
              <a:rPr dirty="0"/>
              <a:t>, </a:t>
            </a:r>
            <a:r>
              <a:rPr lang="it-IT" dirty="0"/>
              <a:t>ci viene quasi in automatico</a:t>
            </a:r>
            <a:r>
              <a:rPr dirty="0"/>
              <a:t>: </a:t>
            </a:r>
            <a:endParaRPr lang="it-IT" dirty="0"/>
          </a:p>
          <a:p>
            <a:r>
              <a:rPr dirty="0" err="1"/>
              <a:t>prendo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API key, </a:t>
            </a:r>
            <a:r>
              <a:rPr dirty="0" err="1"/>
              <a:t>chiamo</a:t>
            </a:r>
            <a:r>
              <a:rPr dirty="0"/>
              <a:t> 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cloud, </a:t>
            </a:r>
            <a:r>
              <a:rPr dirty="0" err="1"/>
              <a:t>mando</a:t>
            </a:r>
            <a:r>
              <a:rPr dirty="0"/>
              <a:t> la </a:t>
            </a:r>
            <a:r>
              <a:rPr dirty="0" err="1"/>
              <a:t>richiesta</a:t>
            </a:r>
            <a:r>
              <a:rPr dirty="0"/>
              <a:t>, </a:t>
            </a:r>
            <a:r>
              <a:rPr dirty="0" err="1"/>
              <a:t>aspetto</a:t>
            </a:r>
            <a:r>
              <a:rPr dirty="0"/>
              <a:t> la </a:t>
            </a:r>
            <a:r>
              <a:rPr dirty="0" err="1"/>
              <a:t>risposta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Funziona</a:t>
            </a:r>
            <a:r>
              <a:rPr dirty="0"/>
              <a:t>, </a:t>
            </a:r>
            <a:r>
              <a:rPr dirty="0" err="1"/>
              <a:t>è</a:t>
            </a:r>
            <a:r>
              <a:rPr dirty="0"/>
              <a:t> comodo, lo </a:t>
            </a:r>
            <a:r>
              <a:rPr dirty="0" err="1"/>
              <a:t>facciamo</a:t>
            </a:r>
            <a:r>
              <a:rPr dirty="0"/>
              <a:t> tutti.</a:t>
            </a:r>
            <a:endParaRPr lang="it-IT" dirty="0"/>
          </a:p>
          <a:p>
            <a:endParaRPr dirty="0"/>
          </a:p>
          <a:p>
            <a:br>
              <a:rPr lang="it-IT" dirty="0"/>
            </a:br>
            <a:r>
              <a:rPr lang="it-IT" dirty="0"/>
              <a:t>Punto principale: chiamare un’API AI in </a:t>
            </a:r>
            <a:r>
              <a:rPr lang="it-IT" dirty="0" err="1"/>
              <a:t>un’app</a:t>
            </a:r>
            <a:r>
              <a:rPr lang="it-IT" dirty="0"/>
              <a:t> prima di tutto ha un costo.</a:t>
            </a:r>
            <a:endParaRPr dirty="0"/>
          </a:p>
          <a:p>
            <a:r>
              <a:rPr lang="it-IT" dirty="0"/>
              <a:t>Poi, nel </a:t>
            </a:r>
            <a:r>
              <a:rPr dirty="0"/>
              <a:t>nostro </a:t>
            </a:r>
            <a:r>
              <a:rPr dirty="0" err="1"/>
              <a:t>caso</a:t>
            </a:r>
            <a:r>
              <a:rPr dirty="0"/>
              <a:t> la </a:t>
            </a:r>
            <a:r>
              <a:rPr dirty="0" err="1"/>
              <a:t>richiesta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foto</a:t>
            </a:r>
            <a:r>
              <a:rPr dirty="0"/>
              <a:t> </a:t>
            </a:r>
            <a:r>
              <a:rPr dirty="0" err="1"/>
              <a:t>dell’interno</a:t>
            </a:r>
            <a:r>
              <a:rPr dirty="0"/>
              <a:t> della cucina di </a:t>
            </a:r>
            <a:r>
              <a:rPr dirty="0" err="1"/>
              <a:t>qualcuno</a:t>
            </a:r>
            <a:r>
              <a:rPr dirty="0"/>
              <a:t>.</a:t>
            </a:r>
            <a:endParaRPr lang="it-IT" dirty="0"/>
          </a:p>
          <a:p>
            <a:r>
              <a:rPr dirty="0"/>
              <a:t>Del </a:t>
            </a:r>
            <a:r>
              <a:rPr dirty="0" err="1"/>
              <a:t>suo</a:t>
            </a:r>
            <a:r>
              <a:rPr dirty="0"/>
              <a:t> </a:t>
            </a:r>
            <a:r>
              <a:rPr dirty="0" err="1"/>
              <a:t>frigo</a:t>
            </a:r>
            <a:r>
              <a:rPr dirty="0"/>
              <a:t>. Di </a:t>
            </a:r>
            <a:r>
              <a:rPr dirty="0" err="1"/>
              <a:t>cosa</a:t>
            </a:r>
            <a:r>
              <a:rPr dirty="0"/>
              <a:t> </a:t>
            </a:r>
            <a:r>
              <a:rPr dirty="0" err="1"/>
              <a:t>mangia</a:t>
            </a:r>
            <a:r>
              <a:rPr dirty="0"/>
              <a:t>, di come </a:t>
            </a:r>
            <a:r>
              <a:rPr dirty="0" err="1"/>
              <a:t>vive</a:t>
            </a:r>
            <a:r>
              <a:rPr dirty="0"/>
              <a:t>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Ci </a:t>
            </a:r>
            <a:r>
              <a:rPr dirty="0" err="1"/>
              <a:t>siamo</a:t>
            </a:r>
            <a:r>
              <a:rPr lang="it-IT" dirty="0"/>
              <a:t> quindi</a:t>
            </a:r>
            <a:r>
              <a:rPr dirty="0"/>
              <a:t> </a:t>
            </a:r>
            <a:r>
              <a:rPr dirty="0" err="1"/>
              <a:t>chiesti</a:t>
            </a:r>
            <a:r>
              <a:rPr dirty="0"/>
              <a:t>: e se non l</a:t>
            </a:r>
            <a:r>
              <a:rPr lang="it-IT" dirty="0"/>
              <a:t>a</a:t>
            </a:r>
            <a:r>
              <a:rPr dirty="0"/>
              <a:t> </a:t>
            </a:r>
            <a:r>
              <a:rPr dirty="0" err="1"/>
              <a:t>mandassimo</a:t>
            </a:r>
            <a:r>
              <a:rPr dirty="0"/>
              <a:t> da </a:t>
            </a:r>
            <a:r>
              <a:rPr dirty="0" err="1"/>
              <a:t>nessuna</a:t>
            </a:r>
            <a:r>
              <a:rPr dirty="0"/>
              <a:t> </a:t>
            </a:r>
            <a:r>
              <a:rPr dirty="0" err="1"/>
              <a:t>parte</a:t>
            </a:r>
            <a:r>
              <a:rPr dirty="0"/>
              <a:t>?</a:t>
            </a:r>
            <a:endParaRPr lang="it-IT" dirty="0"/>
          </a:p>
          <a:p>
            <a:r>
              <a:rPr dirty="0"/>
              <a:t>Niente cloud. Niente API key da </a:t>
            </a:r>
            <a:r>
              <a:rPr dirty="0" err="1"/>
              <a:t>proteggere</a:t>
            </a:r>
            <a:r>
              <a:rPr dirty="0"/>
              <a:t>. Nessun</a:t>
            </a:r>
            <a:r>
              <a:rPr lang="it-IT" dirty="0"/>
              <a:t>a foto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nessun</a:t>
            </a:r>
            <a:r>
              <a:rPr dirty="0"/>
              <a:t> server</a:t>
            </a:r>
            <a:r>
              <a:rPr lang="it-IT"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Ogni </a:t>
            </a:r>
            <a:r>
              <a:rPr dirty="0" err="1"/>
              <a:t>richiesta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mandi a un server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cosa</a:t>
            </a:r>
            <a:r>
              <a:rPr dirty="0"/>
              <a:t> in </a:t>
            </a:r>
            <a:r>
              <a:rPr dirty="0" err="1"/>
              <a:t>più</a:t>
            </a:r>
            <a:r>
              <a:rPr dirty="0"/>
              <a:t> da </a:t>
            </a:r>
            <a:r>
              <a:rPr dirty="0" err="1"/>
              <a:t>proteggere</a:t>
            </a:r>
            <a:r>
              <a:rPr dirty="0"/>
              <a:t>, da </a:t>
            </a:r>
            <a:r>
              <a:rPr dirty="0" err="1"/>
              <a:t>giustificare</a:t>
            </a:r>
            <a:r>
              <a:rPr lang="it-IT" dirty="0"/>
              <a:t>, </a:t>
            </a:r>
            <a:r>
              <a:rPr dirty="0"/>
              <a:t>da </a:t>
            </a:r>
            <a:r>
              <a:rPr dirty="0" err="1"/>
              <a:t>spiegare</a:t>
            </a:r>
            <a:r>
              <a:rPr dirty="0"/>
              <a:t> </a:t>
            </a:r>
            <a:r>
              <a:rPr dirty="0" err="1"/>
              <a:t>all’utente</a:t>
            </a:r>
            <a:r>
              <a:rPr dirty="0"/>
              <a:t> </a:t>
            </a:r>
            <a:r>
              <a:rPr dirty="0" err="1"/>
              <a:t>nella</a:t>
            </a:r>
            <a:r>
              <a:rPr dirty="0"/>
              <a:t> privacy policy</a:t>
            </a:r>
            <a:r>
              <a:rPr lang="it-IT" dirty="0"/>
              <a:t>, e anche, soprattutto, </a:t>
            </a:r>
            <a:r>
              <a:rPr lang="en-US" dirty="0"/>
              <a:t>da </a:t>
            </a:r>
            <a:r>
              <a:rPr lang="en-US" dirty="0" err="1"/>
              <a:t>pagare</a:t>
            </a:r>
            <a:r>
              <a:rPr lang="en-US" dirty="0"/>
              <a:t>.</a:t>
            </a:r>
          </a:p>
          <a:p>
            <a:endParaRPr dirty="0"/>
          </a:p>
          <a:p>
            <a:br>
              <a:rPr lang="it-IT" dirty="0"/>
            </a:br>
            <a:r>
              <a:rPr lang="it-IT" dirty="0" err="1"/>
              <a:t>P</a:t>
            </a:r>
            <a:r>
              <a:rPr dirty="0"/>
              <a:t>rima di </a:t>
            </a:r>
            <a:r>
              <a:rPr lang="it-IT" dirty="0"/>
              <a:t>andare avanti</a:t>
            </a:r>
            <a:r>
              <a:rPr dirty="0"/>
              <a:t>, vi </a:t>
            </a:r>
            <a:r>
              <a:rPr dirty="0" err="1"/>
              <a:t>facciamo</a:t>
            </a:r>
            <a:r>
              <a:rPr dirty="0"/>
              <a:t> </a:t>
            </a:r>
            <a:r>
              <a:rPr dirty="0" err="1"/>
              <a:t>vedere</a:t>
            </a:r>
            <a:r>
              <a:rPr dirty="0"/>
              <a:t> </a:t>
            </a:r>
            <a:r>
              <a:rPr dirty="0" err="1"/>
              <a:t>l’app</a:t>
            </a:r>
            <a:r>
              <a:rPr lang="it-IT" dirty="0"/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L’app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chiama</a:t>
            </a:r>
            <a:r>
              <a:rPr lang="en-US" dirty="0"/>
              <a:t> AI Pantry: Dispensa AI, e </a:t>
            </a:r>
            <a:r>
              <a:rPr lang="en-US" dirty="0" err="1"/>
              <a:t>l’idea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molto semplice: </a:t>
            </a:r>
            <a:r>
              <a:rPr lang="en-US" dirty="0" err="1"/>
              <a:t>fai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al </a:t>
            </a:r>
            <a:r>
              <a:rPr lang="en-US" dirty="0" err="1"/>
              <a:t>frigo</a:t>
            </a:r>
            <a:r>
              <a:rPr lang="en-US" dirty="0"/>
              <a:t> e </a:t>
            </a:r>
            <a:r>
              <a:rPr lang="en-US" dirty="0" err="1"/>
              <a:t>ottieni</a:t>
            </a:r>
            <a:r>
              <a:rPr lang="en-US" dirty="0"/>
              <a:t> </a:t>
            </a:r>
            <a:r>
              <a:rPr lang="en-US" dirty="0" err="1"/>
              <a:t>un’idea</a:t>
            </a:r>
            <a:r>
              <a:rPr lang="en-US" dirty="0"/>
              <a:t> di </a:t>
            </a:r>
            <a:r>
              <a:rPr lang="en-US" dirty="0" err="1"/>
              <a:t>ricetta</a:t>
            </a:r>
            <a:r>
              <a:rPr lang="en-US" dirty="0"/>
              <a:t> per </a:t>
            </a:r>
            <a:r>
              <a:rPr lang="en-US" dirty="0" err="1"/>
              <a:t>cena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Funziona</a:t>
            </a:r>
            <a:r>
              <a:rPr lang="en-US" dirty="0"/>
              <a:t> </a:t>
            </a:r>
            <a:r>
              <a:rPr lang="en-US" dirty="0" err="1"/>
              <a:t>così</a:t>
            </a:r>
            <a:r>
              <a:rPr lang="en-US" dirty="0"/>
              <a:t>. Prima </a:t>
            </a:r>
            <a:r>
              <a:rPr lang="en-US" dirty="0" err="1"/>
              <a:t>fai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o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al </a:t>
            </a:r>
            <a:r>
              <a:rPr lang="en-US" dirty="0" err="1"/>
              <a:t>tuo</a:t>
            </a:r>
            <a:r>
              <a:rPr lang="en-US" dirty="0"/>
              <a:t> </a:t>
            </a:r>
            <a:r>
              <a:rPr lang="en-US" dirty="0" err="1"/>
              <a:t>frigo</a:t>
            </a:r>
            <a:r>
              <a:rPr lang="en-US" dirty="0"/>
              <a:t>, e </a:t>
            </a:r>
            <a:r>
              <a:rPr lang="en-US" dirty="0" err="1"/>
              <a:t>l’app</a:t>
            </a:r>
            <a:r>
              <a:rPr lang="en-US" dirty="0"/>
              <a:t> </a:t>
            </a:r>
            <a:r>
              <a:rPr lang="en-US" dirty="0" err="1"/>
              <a:t>riconosce</a:t>
            </a:r>
            <a:r>
              <a:rPr lang="en-US" dirty="0"/>
              <a:t>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ingredienti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vede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Poi con quelle </a:t>
            </a:r>
            <a:r>
              <a:rPr lang="en-US" dirty="0" err="1"/>
              <a:t>foto</a:t>
            </a:r>
            <a:r>
              <a:rPr lang="en-US" dirty="0"/>
              <a:t> </a:t>
            </a:r>
            <a:r>
              <a:rPr lang="en-US" dirty="0" err="1"/>
              <a:t>costruisce</a:t>
            </a:r>
            <a:r>
              <a:rPr lang="en-US" dirty="0"/>
              <a:t> </a:t>
            </a:r>
            <a:r>
              <a:rPr lang="en-US" dirty="0" err="1"/>
              <a:t>l’inventario</a:t>
            </a:r>
            <a:r>
              <a:rPr lang="en-US" dirty="0"/>
              <a:t> della </a:t>
            </a:r>
            <a:r>
              <a:rPr lang="en-US" dirty="0" err="1"/>
              <a:t>tua</a:t>
            </a:r>
            <a:r>
              <a:rPr lang="en-US" dirty="0"/>
              <a:t> </a:t>
            </a:r>
            <a:r>
              <a:rPr lang="en-US" dirty="0" err="1"/>
              <a:t>dispensa</a:t>
            </a:r>
            <a:r>
              <a:rPr lang="en-US" dirty="0"/>
              <a:t>. 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l’app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ricorda</a:t>
            </a:r>
            <a:r>
              <a:rPr lang="en-US" dirty="0"/>
              <a:t> </a:t>
            </a:r>
            <a:r>
              <a:rPr lang="en-US" dirty="0" err="1"/>
              <a:t>cos'hai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 poi, da </a:t>
            </a:r>
            <a:r>
              <a:rPr lang="en-US" dirty="0" err="1"/>
              <a:t>quello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hai</a:t>
            </a:r>
            <a:r>
              <a:rPr lang="en-US" dirty="0"/>
              <a:t> </a:t>
            </a:r>
            <a:r>
              <a:rPr lang="en-US" dirty="0" err="1"/>
              <a:t>davvero</a:t>
            </a:r>
            <a:r>
              <a:rPr lang="en-US" dirty="0"/>
              <a:t> in </a:t>
            </a:r>
            <a:r>
              <a:rPr lang="en-US" dirty="0" err="1"/>
              <a:t>dispensa</a:t>
            </a:r>
            <a:r>
              <a:rPr lang="en-US" dirty="0"/>
              <a:t>, genera idee di </a:t>
            </a:r>
            <a:r>
              <a:rPr lang="en-US" dirty="0" err="1"/>
              <a:t>ricette</a:t>
            </a:r>
            <a:r>
              <a:rPr lang="en-US" dirty="0"/>
              <a:t>.</a:t>
            </a:r>
          </a:p>
          <a:p>
            <a:r>
              <a:rPr lang="en-US" dirty="0" err="1"/>
              <a:t>Infine</a:t>
            </a:r>
            <a:r>
              <a:rPr lang="en-US" dirty="0"/>
              <a:t>, se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ti</a:t>
            </a:r>
            <a:r>
              <a:rPr lang="en-US" dirty="0"/>
              <a:t> </a:t>
            </a:r>
            <a:r>
              <a:rPr lang="en-US" dirty="0" err="1"/>
              <a:t>piace</a:t>
            </a:r>
            <a:r>
              <a:rPr lang="en-US" dirty="0"/>
              <a:t>, genera la </a:t>
            </a:r>
            <a:r>
              <a:rPr lang="en-US" dirty="0" err="1"/>
              <a:t>ricetta</a:t>
            </a:r>
            <a:r>
              <a:rPr lang="en-US" dirty="0"/>
              <a:t> completa, con tutti </a:t>
            </a:r>
            <a:r>
              <a:rPr lang="en-US" dirty="0" err="1"/>
              <a:t>gli</a:t>
            </a:r>
            <a:r>
              <a:rPr lang="en-US" dirty="0"/>
              <a:t> step per </a:t>
            </a:r>
            <a:r>
              <a:rPr lang="en-US" dirty="0" err="1"/>
              <a:t>cucinarla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 il punto centrale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tutto</a:t>
            </a:r>
            <a:r>
              <a:rPr lang="en-US" dirty="0"/>
              <a:t> al100% on-device.</a:t>
            </a:r>
          </a:p>
          <a:p>
            <a:r>
              <a:rPr lang="en-US" dirty="0"/>
              <a:t>Le </a:t>
            </a:r>
            <a:r>
              <a:rPr lang="en-US" dirty="0" err="1"/>
              <a:t>foto</a:t>
            </a:r>
            <a:r>
              <a:rPr lang="en-US" dirty="0"/>
              <a:t> e </a:t>
            </a:r>
            <a:r>
              <a:rPr lang="en-US" dirty="0" err="1"/>
              <a:t>i</a:t>
            </a:r>
            <a:r>
              <a:rPr lang="en-US" dirty="0"/>
              <a:t> prompt non </a:t>
            </a:r>
            <a:r>
              <a:rPr lang="en-US" dirty="0" err="1"/>
              <a:t>lasciano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il </a:t>
            </a:r>
            <a:r>
              <a:rPr lang="en-US" dirty="0" err="1"/>
              <a:t>telefono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Andiamo a </a:t>
            </a:r>
            <a:r>
              <a:rPr lang="en-US" dirty="0" err="1"/>
              <a:t>vederla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────────────────────────</a:t>
            </a:r>
          </a:p>
          <a:p>
            <a:r>
              <a:rPr lang="en-US" dirty="0"/>
              <a:t>🎬 DEMO LIVE:</a:t>
            </a:r>
          </a:p>
          <a:p>
            <a:r>
              <a:rPr lang="en-US" dirty="0"/>
              <a:t>[Prima del talk: </a:t>
            </a:r>
            <a:r>
              <a:rPr lang="en-US" dirty="0" err="1"/>
              <a:t>telefono</a:t>
            </a:r>
            <a:r>
              <a:rPr lang="en-US" dirty="0"/>
              <a:t> in mirroring, </a:t>
            </a:r>
            <a:r>
              <a:rPr lang="en-US" dirty="0" err="1"/>
              <a:t>modalità</a:t>
            </a:r>
            <a:r>
              <a:rPr lang="en-US" dirty="0"/>
              <a:t> </a:t>
            </a:r>
            <a:r>
              <a:rPr lang="en-US" dirty="0" err="1"/>
              <a:t>aereo</a:t>
            </a:r>
            <a:r>
              <a:rPr lang="en-US" dirty="0"/>
              <a:t> ATTIVA, </a:t>
            </a:r>
            <a:r>
              <a:rPr lang="en-US" dirty="0" err="1"/>
              <a:t>dispensa</a:t>
            </a:r>
            <a:r>
              <a:rPr lang="en-US" dirty="0"/>
              <a:t> </a:t>
            </a:r>
            <a:r>
              <a:rPr lang="en-US" dirty="0" err="1"/>
              <a:t>vuota</a:t>
            </a:r>
            <a:r>
              <a:rPr lang="en-US" dirty="0"/>
              <a:t> (“Your pantry is empty”, </a:t>
            </a:r>
            <a:r>
              <a:rPr lang="en-US" dirty="0" err="1"/>
              <a:t>eventualmente</a:t>
            </a:r>
            <a:r>
              <a:rPr lang="en-US" dirty="0"/>
              <a:t> “Clear all”), Gemma </a:t>
            </a:r>
            <a:r>
              <a:rPr lang="en-US" dirty="0" err="1"/>
              <a:t>già</a:t>
            </a:r>
            <a:r>
              <a:rPr lang="en-US" dirty="0"/>
              <a:t> pronto (niente banner “Preparing Gemma 4 E2B…”). </a:t>
            </a:r>
            <a:r>
              <a:rPr lang="en-US" dirty="0" err="1"/>
              <a:t>Tenere</a:t>
            </a:r>
            <a:r>
              <a:rPr lang="en-US" dirty="0"/>
              <a:t> in galleria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di </a:t>
            </a:r>
            <a:r>
              <a:rPr lang="en-US" dirty="0" err="1"/>
              <a:t>frigo</a:t>
            </a:r>
            <a:r>
              <a:rPr lang="en-US" dirty="0"/>
              <a:t> e </a:t>
            </a:r>
            <a:r>
              <a:rPr lang="en-US" dirty="0" err="1"/>
              <a:t>una</a:t>
            </a:r>
            <a:r>
              <a:rPr lang="en-US" dirty="0"/>
              <a:t> di </a:t>
            </a:r>
            <a:r>
              <a:rPr lang="en-US" dirty="0" err="1"/>
              <a:t>dispensa</a:t>
            </a:r>
            <a:r>
              <a:rPr lang="en-US" dirty="0"/>
              <a:t> </a:t>
            </a:r>
            <a:r>
              <a:rPr lang="en-US" dirty="0" err="1"/>
              <a:t>già</a:t>
            </a:r>
            <a:r>
              <a:rPr lang="en-US" dirty="0"/>
              <a:t> testate, da </a:t>
            </a:r>
            <a:r>
              <a:rPr lang="en-US" dirty="0" err="1"/>
              <a:t>usare</a:t>
            </a:r>
            <a:r>
              <a:rPr lang="en-US" dirty="0"/>
              <a:t> con “Pick from gallery”. Video di backup pronto.]</a:t>
            </a:r>
          </a:p>
          <a:p>
            <a:r>
              <a:rPr lang="en-US" dirty="0"/>
              <a:t>[Nota: le label </a:t>
            </a:r>
            <a:r>
              <a:rPr lang="en-US" dirty="0" err="1"/>
              <a:t>dell’app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in inglese, le </a:t>
            </a:r>
            <a:r>
              <a:rPr lang="en-US" dirty="0" err="1"/>
              <a:t>nominiamo</a:t>
            </a:r>
            <a:r>
              <a:rPr lang="en-US" dirty="0"/>
              <a:t> </a:t>
            </a:r>
            <a:r>
              <a:rPr lang="en-US" dirty="0" err="1"/>
              <a:t>così</a:t>
            </a:r>
            <a:r>
              <a:rPr lang="en-US" dirty="0"/>
              <a:t> come </a:t>
            </a:r>
            <a:r>
              <a:rPr lang="en-US" dirty="0" err="1"/>
              <a:t>sono</a:t>
            </a:r>
            <a:r>
              <a:rPr lang="en-US" dirty="0"/>
              <a:t>.] -&gt; (da </a:t>
            </a:r>
            <a:r>
              <a:rPr lang="en-US" dirty="0" err="1"/>
              <a:t>tradurre</a:t>
            </a:r>
            <a:r>
              <a:rPr lang="en-US" dirty="0"/>
              <a:t> in </a:t>
            </a:r>
            <a:r>
              <a:rPr lang="en-US" dirty="0" err="1"/>
              <a:t>ita</a:t>
            </a:r>
            <a:r>
              <a:rPr lang="en-US" dirty="0"/>
              <a:t>, ora </a:t>
            </a:r>
            <a:r>
              <a:rPr lang="en-US" dirty="0" err="1"/>
              <a:t>l’app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in </a:t>
            </a:r>
            <a:r>
              <a:rPr lang="en-US" dirty="0" err="1"/>
              <a:t>ita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mostra</a:t>
            </a:r>
            <a:r>
              <a:rPr lang="en-US" dirty="0"/>
              <a:t> la barra di </a:t>
            </a:r>
            <a:r>
              <a:rPr lang="en-US" dirty="0" err="1"/>
              <a:t>stato</a:t>
            </a:r>
            <a:r>
              <a:rPr lang="en-US" dirty="0"/>
              <a:t>]</a:t>
            </a:r>
          </a:p>
          <a:p>
            <a:r>
              <a:rPr lang="en-US" dirty="0"/>
              <a:t>Prima </a:t>
            </a:r>
            <a:r>
              <a:rPr lang="en-US" dirty="0" err="1"/>
              <a:t>cosa</a:t>
            </a:r>
            <a:r>
              <a:rPr lang="en-US" dirty="0"/>
              <a:t>: </a:t>
            </a:r>
            <a:r>
              <a:rPr lang="en-US" dirty="0" err="1"/>
              <a:t>guardate</a:t>
            </a:r>
            <a:r>
              <a:rPr lang="en-US" dirty="0"/>
              <a:t> qui in alto. Il </a:t>
            </a:r>
            <a:r>
              <a:rPr lang="en-US" dirty="0" err="1"/>
              <a:t>telefono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in </a:t>
            </a:r>
            <a:r>
              <a:rPr lang="en-US" dirty="0" err="1"/>
              <a:t>modalità</a:t>
            </a:r>
            <a:r>
              <a:rPr lang="en-US" dirty="0"/>
              <a:t> </a:t>
            </a:r>
            <a:r>
              <a:rPr lang="en-US" dirty="0" err="1"/>
              <a:t>aereo</a:t>
            </a:r>
            <a:r>
              <a:rPr lang="en-US" dirty="0"/>
              <a:t>. Internet non serve.</a:t>
            </a:r>
          </a:p>
          <a:p>
            <a:r>
              <a:rPr lang="en-US" dirty="0"/>
              <a:t>[</a:t>
            </a:r>
            <a:r>
              <a:rPr lang="en-US" dirty="0" err="1"/>
              <a:t>tocca</a:t>
            </a:r>
            <a:r>
              <a:rPr lang="en-US" dirty="0"/>
              <a:t> “Scan my fridge”, chip “Fridge” </a:t>
            </a:r>
            <a:r>
              <a:rPr lang="en-US" dirty="0" err="1"/>
              <a:t>selezionato</a:t>
            </a:r>
            <a:r>
              <a:rPr lang="en-US" dirty="0"/>
              <a:t>, </a:t>
            </a:r>
            <a:r>
              <a:rPr lang="en-US" dirty="0" err="1"/>
              <a:t>scatta</a:t>
            </a:r>
            <a:r>
              <a:rPr lang="en-US" dirty="0"/>
              <a:t> la </a:t>
            </a:r>
            <a:r>
              <a:rPr lang="en-US" dirty="0" err="1"/>
              <a:t>foto</a:t>
            </a:r>
            <a:r>
              <a:rPr lang="en-US" dirty="0"/>
              <a:t> o </a:t>
            </a:r>
            <a:r>
              <a:rPr lang="en-US" dirty="0" err="1"/>
              <a:t>usa</a:t>
            </a:r>
            <a:r>
              <a:rPr lang="en-US" dirty="0"/>
              <a:t> “Pick from gallery”]</a:t>
            </a:r>
          </a:p>
          <a:p>
            <a:r>
              <a:rPr lang="en-US" dirty="0"/>
              <a:t>Scelgo “Fridge”, </a:t>
            </a:r>
            <a:r>
              <a:rPr lang="en-US" dirty="0" err="1"/>
              <a:t>inquadro</a:t>
            </a:r>
            <a:r>
              <a:rPr lang="en-US" dirty="0"/>
              <a:t> il </a:t>
            </a:r>
            <a:r>
              <a:rPr lang="en-US" dirty="0" err="1"/>
              <a:t>frigo</a:t>
            </a:r>
            <a:r>
              <a:rPr lang="en-US" dirty="0"/>
              <a:t> e </a:t>
            </a:r>
            <a:r>
              <a:rPr lang="en-US" dirty="0" err="1"/>
              <a:t>scatto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sullo</a:t>
            </a:r>
            <a:r>
              <a:rPr lang="en-US" dirty="0"/>
              <a:t> </a:t>
            </a:r>
            <a:r>
              <a:rPr lang="en-US" dirty="0" err="1"/>
              <a:t>schermo</a:t>
            </a:r>
            <a:r>
              <a:rPr lang="en-US" dirty="0"/>
              <a:t> “Detecting ingredients on-device…”]</a:t>
            </a:r>
          </a:p>
          <a:p>
            <a:r>
              <a:rPr lang="en-US" dirty="0"/>
              <a:t>Quello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sta</a:t>
            </a:r>
            <a:r>
              <a:rPr lang="en-US" dirty="0"/>
              <a:t> </a:t>
            </a:r>
            <a:r>
              <a:rPr lang="en-US" dirty="0" err="1"/>
              <a:t>succedendo</a:t>
            </a:r>
            <a:r>
              <a:rPr lang="en-US" dirty="0"/>
              <a:t> </a:t>
            </a:r>
            <a:r>
              <a:rPr lang="en-US" dirty="0" err="1"/>
              <a:t>adesso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la </a:t>
            </a:r>
            <a:r>
              <a:rPr lang="en-US" dirty="0" err="1"/>
              <a:t>parte</a:t>
            </a:r>
            <a:r>
              <a:rPr lang="en-US" dirty="0"/>
              <a:t> di </a:t>
            </a:r>
            <a:r>
              <a:rPr lang="en-US" dirty="0" err="1"/>
              <a:t>percezione</a:t>
            </a:r>
            <a:r>
              <a:rPr lang="en-US" dirty="0"/>
              <a:t>: </a:t>
            </a:r>
            <a:r>
              <a:rPr lang="en-US" dirty="0" err="1"/>
              <a:t>l’app</a:t>
            </a:r>
            <a:r>
              <a:rPr lang="en-US" dirty="0"/>
              <a:t> </a:t>
            </a:r>
            <a:r>
              <a:rPr lang="en-US" dirty="0" err="1"/>
              <a:t>sta</a:t>
            </a:r>
            <a:r>
              <a:rPr lang="en-US" dirty="0"/>
              <a:t> </a:t>
            </a:r>
            <a:r>
              <a:rPr lang="en-US" dirty="0" err="1"/>
              <a:t>capendo</a:t>
            </a:r>
            <a:r>
              <a:rPr lang="en-US" dirty="0"/>
              <a:t> </a:t>
            </a:r>
            <a:r>
              <a:rPr lang="en-US" dirty="0" err="1"/>
              <a:t>quali</a:t>
            </a:r>
            <a:r>
              <a:rPr lang="en-US" dirty="0"/>
              <a:t> </a:t>
            </a:r>
            <a:r>
              <a:rPr lang="en-US" dirty="0" err="1"/>
              <a:t>ingredienti</a:t>
            </a:r>
            <a:r>
              <a:rPr lang="en-US" dirty="0"/>
              <a:t>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. Nel </a:t>
            </a:r>
            <a:r>
              <a:rPr lang="en-US" dirty="0" err="1"/>
              <a:t>corso</a:t>
            </a:r>
            <a:r>
              <a:rPr lang="en-US" dirty="0"/>
              <a:t> del talk vi </a:t>
            </a:r>
            <a:r>
              <a:rPr lang="en-US" dirty="0" err="1"/>
              <a:t>spieghiamo</a:t>
            </a:r>
            <a:r>
              <a:rPr lang="en-US" dirty="0"/>
              <a:t> </a:t>
            </a:r>
            <a:r>
              <a:rPr lang="en-US" dirty="0" err="1"/>
              <a:t>perché</a:t>
            </a:r>
            <a:r>
              <a:rPr lang="en-US" dirty="0"/>
              <a:t> </a:t>
            </a:r>
            <a:r>
              <a:rPr lang="en-US" dirty="0" err="1"/>
              <a:t>questa</a:t>
            </a:r>
            <a:r>
              <a:rPr lang="en-US" dirty="0"/>
              <a:t> </a:t>
            </a:r>
            <a:r>
              <a:rPr lang="en-US" dirty="0" err="1"/>
              <a:t>parte</a:t>
            </a:r>
            <a:r>
              <a:rPr lang="en-US" dirty="0"/>
              <a:t>, </a:t>
            </a:r>
            <a:r>
              <a:rPr lang="en-US" dirty="0" err="1"/>
              <a:t>all’inizio</a:t>
            </a:r>
            <a:r>
              <a:rPr lang="en-US" dirty="0"/>
              <a:t>, ci </a:t>
            </a:r>
            <a:r>
              <a:rPr lang="en-US" dirty="0" err="1"/>
              <a:t>metteva</a:t>
            </a:r>
            <a:r>
              <a:rPr lang="en-US" dirty="0"/>
              <a:t> </a:t>
            </a:r>
            <a:r>
              <a:rPr lang="en-US" dirty="0" err="1"/>
              <a:t>minuti</a:t>
            </a:r>
            <a:r>
              <a:rPr lang="en-US" dirty="0"/>
              <a:t>, e come </a:t>
            </a:r>
            <a:r>
              <a:rPr lang="en-US" dirty="0" err="1"/>
              <a:t>l’abbiamo</a:t>
            </a:r>
            <a:r>
              <a:rPr lang="en-US" dirty="0"/>
              <a:t> </a:t>
            </a:r>
            <a:r>
              <a:rPr lang="en-US" dirty="0" err="1"/>
              <a:t>portata</a:t>
            </a:r>
            <a:r>
              <a:rPr lang="en-US" dirty="0"/>
              <a:t> a </a:t>
            </a:r>
            <a:r>
              <a:rPr lang="en-US" dirty="0" err="1"/>
              <a:t>pochi</a:t>
            </a:r>
            <a:r>
              <a:rPr lang="en-US" dirty="0"/>
              <a:t> secondi.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apre</a:t>
            </a:r>
            <a:r>
              <a:rPr lang="en-US" dirty="0"/>
              <a:t> il </a:t>
            </a:r>
            <a:r>
              <a:rPr lang="en-US" dirty="0" err="1"/>
              <a:t>foglio</a:t>
            </a:r>
            <a:r>
              <a:rPr lang="en-US" dirty="0"/>
              <a:t> “Ingredients detected”]</a:t>
            </a:r>
          </a:p>
          <a:p>
            <a:r>
              <a:rPr lang="en-US" dirty="0" err="1"/>
              <a:t>Eccoli</a:t>
            </a:r>
            <a:r>
              <a:rPr lang="en-US" dirty="0"/>
              <a:t>. [</a:t>
            </a:r>
            <a:r>
              <a:rPr lang="en-US" dirty="0" err="1"/>
              <a:t>leggere</a:t>
            </a:r>
            <a:r>
              <a:rPr lang="en-US" dirty="0"/>
              <a:t> ad </a:t>
            </a:r>
            <a:r>
              <a:rPr lang="en-US" dirty="0" err="1"/>
              <a:t>alta</a:t>
            </a:r>
            <a:r>
              <a:rPr lang="en-US" dirty="0"/>
              <a:t> voce 3-4 </a:t>
            </a:r>
            <a:r>
              <a:rPr lang="en-US" dirty="0" err="1"/>
              <a:t>ingredienti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compaiono</a:t>
            </a:r>
            <a:r>
              <a:rPr lang="en-US" dirty="0"/>
              <a:t> </a:t>
            </a:r>
            <a:r>
              <a:rPr lang="en-US" dirty="0" err="1"/>
              <a:t>davvero</a:t>
            </a:r>
            <a:r>
              <a:rPr lang="en-US" dirty="0"/>
              <a:t>]. </a:t>
            </a:r>
            <a:r>
              <a:rPr lang="en-US" dirty="0" err="1"/>
              <a:t>Ognuno</a:t>
            </a:r>
            <a:r>
              <a:rPr lang="en-US" dirty="0"/>
              <a:t> ha la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confidenza</a:t>
            </a:r>
            <a:r>
              <a:rPr lang="en-US" dirty="0"/>
              <a:t>, e </a:t>
            </a:r>
            <a:r>
              <a:rPr lang="en-US" dirty="0" err="1"/>
              <a:t>quelli</a:t>
            </a:r>
            <a:r>
              <a:rPr lang="en-US" dirty="0"/>
              <a:t> sotto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certa</a:t>
            </a:r>
            <a:r>
              <a:rPr lang="en-US" dirty="0"/>
              <a:t> </a:t>
            </a:r>
            <a:r>
              <a:rPr lang="en-US" dirty="0" err="1"/>
              <a:t>soglia</a:t>
            </a:r>
            <a:r>
              <a:rPr lang="en-US" dirty="0"/>
              <a:t> </a:t>
            </a:r>
            <a:r>
              <a:rPr lang="en-US" dirty="0" err="1"/>
              <a:t>vengono</a:t>
            </a:r>
            <a:r>
              <a:rPr lang="en-US" dirty="0"/>
              <a:t> </a:t>
            </a:r>
            <a:r>
              <a:rPr lang="en-US" dirty="0" err="1"/>
              <a:t>già</a:t>
            </a:r>
            <a:r>
              <a:rPr lang="en-US" dirty="0"/>
              <a:t> </a:t>
            </a:r>
            <a:r>
              <a:rPr lang="en-US" dirty="0" err="1"/>
              <a:t>scartati</a:t>
            </a:r>
            <a:r>
              <a:rPr lang="en-US" dirty="0"/>
              <a:t>. Se </a:t>
            </a:r>
            <a:r>
              <a:rPr lang="en-US" dirty="0" err="1"/>
              <a:t>qualcosa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sbagliato</a:t>
            </a:r>
            <a:r>
              <a:rPr lang="en-US" dirty="0"/>
              <a:t>, lo </a:t>
            </a:r>
            <a:r>
              <a:rPr lang="en-US" dirty="0" err="1"/>
              <a:t>tolgo</a:t>
            </a:r>
            <a:r>
              <a:rPr lang="en-US" dirty="0"/>
              <a:t> con la X. [</a:t>
            </a:r>
            <a:r>
              <a:rPr lang="en-US" dirty="0" err="1"/>
              <a:t>rimuove</a:t>
            </a:r>
            <a:r>
              <a:rPr lang="en-US" dirty="0"/>
              <a:t> un </a:t>
            </a:r>
            <a:r>
              <a:rPr lang="en-US" dirty="0" err="1"/>
              <a:t>elemento</a:t>
            </a:r>
            <a:r>
              <a:rPr lang="en-US" dirty="0"/>
              <a:t> se serve]</a:t>
            </a:r>
          </a:p>
          <a:p>
            <a:endParaRPr lang="en-US" dirty="0"/>
          </a:p>
          <a:p>
            <a:r>
              <a:rPr lang="en-US" dirty="0"/>
              <a:t>[indica la </a:t>
            </a:r>
            <a:r>
              <a:rPr lang="en-US" dirty="0" err="1"/>
              <a:t>riga</a:t>
            </a:r>
            <a:r>
              <a:rPr lang="en-US" dirty="0"/>
              <a:t> “Engine: … · 100% on-device” in </a:t>
            </a:r>
            <a:r>
              <a:rPr lang="en-US" dirty="0" err="1"/>
              <a:t>fondo</a:t>
            </a:r>
            <a:r>
              <a:rPr lang="en-US" dirty="0"/>
              <a:t>]</a:t>
            </a:r>
          </a:p>
          <a:p>
            <a:r>
              <a:rPr lang="en-US" dirty="0"/>
              <a:t>E </a:t>
            </a:r>
            <a:r>
              <a:rPr lang="en-US" dirty="0" err="1"/>
              <a:t>guardate</a:t>
            </a:r>
            <a:r>
              <a:rPr lang="en-US" dirty="0"/>
              <a:t> </a:t>
            </a:r>
            <a:r>
              <a:rPr lang="en-US" dirty="0" err="1"/>
              <a:t>questa</a:t>
            </a:r>
            <a:r>
              <a:rPr lang="en-US" dirty="0"/>
              <a:t> </a:t>
            </a:r>
            <a:r>
              <a:rPr lang="en-US" dirty="0" err="1"/>
              <a:t>riga</a:t>
            </a:r>
            <a:r>
              <a:rPr lang="en-US" dirty="0"/>
              <a:t>: </a:t>
            </a:r>
            <a:r>
              <a:rPr lang="en-US" dirty="0" err="1"/>
              <a:t>l’app</a:t>
            </a:r>
            <a:r>
              <a:rPr lang="en-US" dirty="0"/>
              <a:t> vi dice quale </a:t>
            </a:r>
            <a:r>
              <a:rPr lang="en-US" dirty="0" err="1"/>
              <a:t>motore</a:t>
            </a:r>
            <a:r>
              <a:rPr lang="en-US" dirty="0"/>
              <a:t> ha </a:t>
            </a:r>
            <a:r>
              <a:rPr lang="en-US" dirty="0" err="1"/>
              <a:t>fatto</a:t>
            </a:r>
            <a:r>
              <a:rPr lang="en-US" dirty="0"/>
              <a:t> il </a:t>
            </a:r>
            <a:r>
              <a:rPr lang="en-US" dirty="0" err="1"/>
              <a:t>lavoro</a:t>
            </a:r>
            <a:r>
              <a:rPr lang="en-US" dirty="0"/>
              <a:t>. Su </a:t>
            </a:r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[</a:t>
            </a:r>
            <a:r>
              <a:rPr lang="en-US" dirty="0" err="1"/>
              <a:t>leggere</a:t>
            </a:r>
            <a:r>
              <a:rPr lang="en-US" dirty="0"/>
              <a:t>: MobileCLIP-S2 </a:t>
            </a:r>
            <a:r>
              <a:rPr lang="en-US" dirty="0" err="1"/>
              <a:t>oppure</a:t>
            </a:r>
            <a:r>
              <a:rPr lang="en-US" dirty="0"/>
              <a:t> Gemini Nano]. </a:t>
            </a:r>
            <a:r>
              <a:rPr lang="en-US" dirty="0" err="1"/>
              <a:t>Tenetelo</a:t>
            </a:r>
            <a:r>
              <a:rPr lang="en-US" dirty="0"/>
              <a:t> a </a:t>
            </a:r>
            <a:r>
              <a:rPr lang="en-US" dirty="0" err="1"/>
              <a:t>mente</a:t>
            </a:r>
            <a:r>
              <a:rPr lang="en-US" dirty="0"/>
              <a:t>, </a:t>
            </a:r>
            <a:r>
              <a:rPr lang="en-US" dirty="0" err="1"/>
              <a:t>perché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il </a:t>
            </a:r>
            <a:r>
              <a:rPr lang="en-US" dirty="0" err="1"/>
              <a:t>cuore</a:t>
            </a:r>
            <a:r>
              <a:rPr lang="en-US" dirty="0"/>
              <a:t> del talk.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tocca</a:t>
            </a:r>
            <a:r>
              <a:rPr lang="en-US" dirty="0"/>
              <a:t> “Scan another”, </a:t>
            </a:r>
            <a:r>
              <a:rPr lang="en-US" dirty="0" err="1"/>
              <a:t>seleziona</a:t>
            </a:r>
            <a:r>
              <a:rPr lang="en-US" dirty="0"/>
              <a:t> “Pantry”, </a:t>
            </a:r>
            <a:r>
              <a:rPr lang="en-US" dirty="0" err="1"/>
              <a:t>scatta</a:t>
            </a:r>
            <a:r>
              <a:rPr lang="en-US" dirty="0"/>
              <a:t>]</a:t>
            </a:r>
          </a:p>
          <a:p>
            <a:r>
              <a:rPr lang="en-US" dirty="0"/>
              <a:t>Faccio lo </a:t>
            </a:r>
            <a:r>
              <a:rPr lang="en-US" dirty="0" err="1"/>
              <a:t>stesso</a:t>
            </a:r>
            <a:r>
              <a:rPr lang="en-US" dirty="0"/>
              <a:t> con la </a:t>
            </a:r>
            <a:r>
              <a:rPr lang="en-US" dirty="0" err="1"/>
              <a:t>dispensa</a:t>
            </a:r>
            <a:r>
              <a:rPr lang="en-US" dirty="0"/>
              <a:t>. Le due </a:t>
            </a:r>
            <a:r>
              <a:rPr lang="en-US" dirty="0" err="1"/>
              <a:t>scansioni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sommano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tocca</a:t>
            </a:r>
            <a:r>
              <a:rPr lang="en-US" dirty="0"/>
              <a:t> “Add to pantry (N)”, </a:t>
            </a:r>
            <a:r>
              <a:rPr lang="en-US" dirty="0" err="1"/>
              <a:t>torna</a:t>
            </a:r>
            <a:r>
              <a:rPr lang="en-US" dirty="0"/>
              <a:t> alla home con </a:t>
            </a:r>
            <a:r>
              <a:rPr lang="en-US" dirty="0" err="1"/>
              <a:t>l’inventario</a:t>
            </a:r>
            <a:r>
              <a:rPr lang="en-US" dirty="0"/>
              <a:t>]</a:t>
            </a:r>
          </a:p>
          <a:p>
            <a:r>
              <a:rPr lang="en-US" dirty="0" err="1"/>
              <a:t>Aggiungo</a:t>
            </a:r>
            <a:r>
              <a:rPr lang="en-US" dirty="0"/>
              <a:t> </a:t>
            </a:r>
            <a:r>
              <a:rPr lang="en-US" dirty="0" err="1"/>
              <a:t>tutto</a:t>
            </a:r>
            <a:r>
              <a:rPr lang="en-US" dirty="0"/>
              <a:t> alla </a:t>
            </a:r>
            <a:r>
              <a:rPr lang="en-US" dirty="0" err="1"/>
              <a:t>dispensa</a:t>
            </a:r>
            <a:r>
              <a:rPr lang="en-US" dirty="0"/>
              <a:t>. E </a:t>
            </a:r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l’inventario</a:t>
            </a:r>
            <a:r>
              <a:rPr lang="en-US" dirty="0"/>
              <a:t>, </a:t>
            </a:r>
            <a:r>
              <a:rPr lang="en-US" dirty="0" err="1"/>
              <a:t>salvato</a:t>
            </a:r>
            <a:r>
              <a:rPr lang="en-US" dirty="0"/>
              <a:t> in locale </a:t>
            </a:r>
            <a:r>
              <a:rPr lang="en-US" dirty="0" err="1"/>
              <a:t>sul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tocca</a:t>
            </a:r>
            <a:r>
              <a:rPr lang="en-US" dirty="0"/>
              <a:t> “What can I cook? (N)”]</a:t>
            </a:r>
          </a:p>
          <a:p>
            <a:r>
              <a:rPr lang="en-US" dirty="0"/>
              <a:t>Adesso la </a:t>
            </a:r>
            <a:r>
              <a:rPr lang="en-US" dirty="0" err="1"/>
              <a:t>parte</a:t>
            </a:r>
            <a:r>
              <a:rPr lang="en-US" dirty="0"/>
              <a:t> </a:t>
            </a:r>
            <a:r>
              <a:rPr lang="en-US" dirty="0" err="1"/>
              <a:t>divertente</a:t>
            </a:r>
            <a:r>
              <a:rPr lang="en-US" dirty="0"/>
              <a:t>. </a:t>
            </a:r>
            <a:r>
              <a:rPr lang="en-US" dirty="0" err="1"/>
              <a:t>Chiedo</a:t>
            </a:r>
            <a:r>
              <a:rPr lang="en-US" dirty="0"/>
              <a:t> </a:t>
            </a:r>
            <a:r>
              <a:rPr lang="en-US" dirty="0" err="1"/>
              <a:t>all’app</a:t>
            </a:r>
            <a:r>
              <a:rPr lang="en-US" dirty="0"/>
              <a:t>: </a:t>
            </a:r>
            <a:r>
              <a:rPr lang="en-US" dirty="0" err="1"/>
              <a:t>cosa</a:t>
            </a:r>
            <a:r>
              <a:rPr lang="en-US" dirty="0"/>
              <a:t> ci </a:t>
            </a:r>
            <a:r>
              <a:rPr lang="en-US" dirty="0" err="1"/>
              <a:t>cucino</a:t>
            </a:r>
            <a:r>
              <a:rPr lang="en-US" dirty="0"/>
              <a:t> con </a:t>
            </a:r>
            <a:r>
              <a:rPr lang="en-US" dirty="0" err="1"/>
              <a:t>questa</a:t>
            </a:r>
            <a:r>
              <a:rPr lang="en-US" dirty="0"/>
              <a:t> </a:t>
            </a:r>
            <a:r>
              <a:rPr lang="en-US" dirty="0" err="1"/>
              <a:t>roba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mentre</a:t>
            </a:r>
            <a:r>
              <a:rPr lang="en-US" dirty="0"/>
              <a:t> genera]</a:t>
            </a:r>
          </a:p>
          <a:p>
            <a:r>
              <a:rPr lang="en-US" dirty="0"/>
              <a:t>Qui </a:t>
            </a:r>
            <a:r>
              <a:rPr lang="en-US" dirty="0" err="1"/>
              <a:t>entra</a:t>
            </a:r>
            <a:r>
              <a:rPr lang="en-US" dirty="0"/>
              <a:t> in </a:t>
            </a:r>
            <a:r>
              <a:rPr lang="en-US" dirty="0" err="1"/>
              <a:t>gioco</a:t>
            </a:r>
            <a:r>
              <a:rPr lang="en-US" dirty="0"/>
              <a:t> un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diverso</a:t>
            </a:r>
            <a:r>
              <a:rPr lang="en-US" dirty="0"/>
              <a:t>, un LLM </a:t>
            </a:r>
            <a:r>
              <a:rPr lang="en-US" dirty="0" err="1"/>
              <a:t>vero</a:t>
            </a:r>
            <a:r>
              <a:rPr lang="en-US" dirty="0"/>
              <a:t> e proprio, Gemma, </a:t>
            </a:r>
            <a:r>
              <a:rPr lang="en-US" dirty="0" err="1"/>
              <a:t>perché</a:t>
            </a:r>
            <a:r>
              <a:rPr lang="en-US" dirty="0"/>
              <a:t> </a:t>
            </a:r>
            <a:r>
              <a:rPr lang="en-US" dirty="0" err="1"/>
              <a:t>inventare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ricetta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un </a:t>
            </a:r>
            <a:r>
              <a:rPr lang="en-US" dirty="0" err="1"/>
              <a:t>compito</a:t>
            </a:r>
            <a:r>
              <a:rPr lang="en-US" dirty="0"/>
              <a:t> </a:t>
            </a:r>
            <a:r>
              <a:rPr lang="en-US" dirty="0" err="1"/>
              <a:t>completamente</a:t>
            </a:r>
            <a:r>
              <a:rPr lang="en-US" dirty="0"/>
              <a:t> </a:t>
            </a:r>
            <a:r>
              <a:rPr lang="en-US" dirty="0" err="1"/>
              <a:t>diverso</a:t>
            </a:r>
            <a:r>
              <a:rPr lang="en-US" dirty="0"/>
              <a:t> dal </a:t>
            </a:r>
            <a:r>
              <a:rPr lang="en-US" dirty="0" err="1"/>
              <a:t>riconoscere</a:t>
            </a:r>
            <a:r>
              <a:rPr lang="en-US" dirty="0"/>
              <a:t> </a:t>
            </a:r>
            <a:r>
              <a:rPr lang="en-US" dirty="0" err="1"/>
              <a:t>un’anguria</a:t>
            </a:r>
            <a:r>
              <a:rPr lang="en-US" dirty="0"/>
              <a:t>. </a:t>
            </a:r>
            <a:r>
              <a:rPr lang="en-US" dirty="0" err="1"/>
              <a:t>Anche</a:t>
            </a:r>
            <a:r>
              <a:rPr lang="en-US" dirty="0"/>
              <a:t> </a:t>
            </a:r>
            <a:r>
              <a:rPr lang="en-US" dirty="0" err="1"/>
              <a:t>questo</a:t>
            </a:r>
            <a:r>
              <a:rPr lang="en-US" dirty="0"/>
              <a:t> lo </a:t>
            </a:r>
            <a:r>
              <a:rPr lang="en-US" dirty="0" err="1"/>
              <a:t>vedremo</a:t>
            </a:r>
            <a:r>
              <a:rPr lang="en-US" dirty="0"/>
              <a:t> </a:t>
            </a:r>
            <a:r>
              <a:rPr lang="en-US" dirty="0" err="1"/>
              <a:t>nel</a:t>
            </a:r>
            <a:r>
              <a:rPr lang="en-US" dirty="0"/>
              <a:t> </a:t>
            </a:r>
            <a:r>
              <a:rPr lang="en-US" dirty="0" err="1"/>
              <a:t>dettaglio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appare</a:t>
            </a:r>
            <a:r>
              <a:rPr lang="en-US" dirty="0"/>
              <a:t> la </a:t>
            </a:r>
            <a:r>
              <a:rPr lang="en-US" dirty="0" err="1"/>
              <a:t>lista</a:t>
            </a:r>
            <a:r>
              <a:rPr lang="en-US" dirty="0"/>
              <a:t> di </a:t>
            </a:r>
            <a:r>
              <a:rPr lang="en-US" dirty="0" err="1"/>
              <a:t>ricette</a:t>
            </a:r>
            <a:r>
              <a:rPr lang="en-US" dirty="0"/>
              <a:t>]</a:t>
            </a:r>
          </a:p>
          <a:p>
            <a:r>
              <a:rPr lang="en-US" dirty="0"/>
              <a:t>Ecco cinque idee per la </a:t>
            </a:r>
            <a:r>
              <a:rPr lang="en-US" dirty="0" err="1"/>
              <a:t>cena</a:t>
            </a:r>
            <a:r>
              <a:rPr lang="en-US" dirty="0"/>
              <a:t>, con tempo e </a:t>
            </a:r>
            <a:r>
              <a:rPr lang="en-US" dirty="0" err="1"/>
              <a:t>difficoltà</a:t>
            </a:r>
            <a:r>
              <a:rPr lang="en-US" dirty="0"/>
              <a:t>. Sono ordinate in base a </a:t>
            </a:r>
            <a:r>
              <a:rPr lang="en-US" dirty="0" err="1"/>
              <a:t>quanto</a:t>
            </a:r>
            <a:r>
              <a:rPr lang="en-US" dirty="0"/>
              <a:t> </a:t>
            </a:r>
            <a:r>
              <a:rPr lang="en-US" dirty="0" err="1"/>
              <a:t>usano</a:t>
            </a:r>
            <a:r>
              <a:rPr lang="en-US" dirty="0"/>
              <a:t> </a:t>
            </a:r>
            <a:r>
              <a:rPr lang="en-US" dirty="0" err="1"/>
              <a:t>quello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ho </a:t>
            </a:r>
            <a:r>
              <a:rPr lang="en-US" dirty="0" err="1"/>
              <a:t>davvero</a:t>
            </a:r>
            <a:r>
              <a:rPr lang="en-US" dirty="0"/>
              <a:t>: quelle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richiedono</a:t>
            </a:r>
            <a:r>
              <a:rPr lang="en-US" dirty="0"/>
              <a:t> di </a:t>
            </a:r>
            <a:r>
              <a:rPr lang="en-US" dirty="0" err="1"/>
              <a:t>comprare</a:t>
            </a:r>
            <a:r>
              <a:rPr lang="en-US" dirty="0"/>
              <a:t> </a:t>
            </a:r>
            <a:r>
              <a:rPr lang="en-US" dirty="0" err="1"/>
              <a:t>qualcosa</a:t>
            </a:r>
            <a:r>
              <a:rPr lang="en-US" dirty="0"/>
              <a:t> </a:t>
            </a:r>
            <a:r>
              <a:rPr lang="en-US" dirty="0" err="1"/>
              <a:t>finiscono</a:t>
            </a:r>
            <a:r>
              <a:rPr lang="en-US" dirty="0"/>
              <a:t> in </a:t>
            </a:r>
            <a:r>
              <a:rPr lang="en-US" dirty="0" err="1"/>
              <a:t>fondo</a:t>
            </a:r>
            <a:r>
              <a:rPr lang="en-US" dirty="0"/>
              <a:t>, e </a:t>
            </a:r>
            <a:r>
              <a:rPr lang="en-US" dirty="0" err="1"/>
              <a:t>l’app</a:t>
            </a:r>
            <a:r>
              <a:rPr lang="en-US" dirty="0"/>
              <a:t> mi dice </a:t>
            </a:r>
            <a:r>
              <a:rPr lang="en-US" dirty="0" err="1"/>
              <a:t>cosa</a:t>
            </a:r>
            <a:r>
              <a:rPr lang="en-US" dirty="0"/>
              <a:t> mi </a:t>
            </a:r>
            <a:r>
              <a:rPr lang="en-US" dirty="0" err="1"/>
              <a:t>manca</a:t>
            </a:r>
            <a:r>
              <a:rPr lang="en-US" dirty="0"/>
              <a:t>. [</a:t>
            </a:r>
            <a:r>
              <a:rPr lang="en-US" dirty="0" err="1"/>
              <a:t>indicare</a:t>
            </a:r>
            <a:r>
              <a:rPr lang="en-US" dirty="0"/>
              <a:t> “You’ll also need”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ricetta</a:t>
            </a:r>
            <a:r>
              <a:rPr lang="en-US" dirty="0"/>
              <a:t>]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apre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ricetta</a:t>
            </a:r>
            <a:r>
              <a:rPr lang="en-US" dirty="0"/>
              <a:t>: “Writing the instructions on-device…”]</a:t>
            </a:r>
          </a:p>
          <a:p>
            <a:r>
              <a:rPr lang="en-US" dirty="0" err="1"/>
              <a:t>Apro</a:t>
            </a:r>
            <a:r>
              <a:rPr lang="en-US" dirty="0"/>
              <a:t> </a:t>
            </a:r>
            <a:r>
              <a:rPr lang="en-US" dirty="0" err="1"/>
              <a:t>questa</a:t>
            </a:r>
            <a:r>
              <a:rPr lang="en-US" dirty="0"/>
              <a:t>. I </a:t>
            </a:r>
            <a:r>
              <a:rPr lang="en-US" dirty="0" err="1"/>
              <a:t>passaggi</a:t>
            </a:r>
            <a:r>
              <a:rPr lang="en-US" dirty="0"/>
              <a:t> non </a:t>
            </a:r>
            <a:r>
              <a:rPr lang="en-US" dirty="0" err="1"/>
              <a:t>esistevano</a:t>
            </a:r>
            <a:r>
              <a:rPr lang="en-US" dirty="0"/>
              <a:t> </a:t>
            </a:r>
            <a:r>
              <a:rPr lang="en-US" dirty="0" err="1"/>
              <a:t>finché</a:t>
            </a:r>
            <a:r>
              <a:rPr lang="en-US" dirty="0"/>
              <a:t> non </a:t>
            </a:r>
            <a:r>
              <a:rPr lang="en-US" dirty="0" err="1"/>
              <a:t>l’ho</a:t>
            </a:r>
            <a:r>
              <a:rPr lang="en-US" dirty="0"/>
              <a:t> </a:t>
            </a:r>
            <a:r>
              <a:rPr lang="en-US" dirty="0" err="1"/>
              <a:t>aperta</a:t>
            </a:r>
            <a:r>
              <a:rPr lang="en-US" dirty="0"/>
              <a:t>: li </a:t>
            </a:r>
            <a:r>
              <a:rPr lang="en-US" dirty="0" err="1"/>
              <a:t>sta</a:t>
            </a:r>
            <a:r>
              <a:rPr lang="en-US" dirty="0"/>
              <a:t> </a:t>
            </a:r>
            <a:r>
              <a:rPr lang="en-US" dirty="0" err="1"/>
              <a:t>scrivendo</a:t>
            </a:r>
            <a:r>
              <a:rPr lang="en-US" dirty="0"/>
              <a:t> </a:t>
            </a:r>
            <a:r>
              <a:rPr lang="en-US" dirty="0" err="1"/>
              <a:t>adesso</a:t>
            </a:r>
            <a:r>
              <a:rPr lang="en-US" dirty="0"/>
              <a:t>, qui </a:t>
            </a:r>
            <a:r>
              <a:rPr lang="en-US" dirty="0" err="1"/>
              <a:t>sul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. [</a:t>
            </a:r>
            <a:r>
              <a:rPr lang="en-US" dirty="0" err="1"/>
              <a:t>compaiono</a:t>
            </a:r>
            <a:r>
              <a:rPr lang="en-US" dirty="0"/>
              <a:t> “Instructions” e “Variants”] Ecco </a:t>
            </a:r>
            <a:r>
              <a:rPr lang="en-US" dirty="0" err="1"/>
              <a:t>istruzioni</a:t>
            </a:r>
            <a:r>
              <a:rPr lang="en-US" dirty="0"/>
              <a:t> e </a:t>
            </a:r>
            <a:r>
              <a:rPr lang="en-US" dirty="0" err="1"/>
              <a:t>varianti</a:t>
            </a:r>
            <a:r>
              <a:rPr lang="en-US" dirty="0"/>
              <a:t>.</a:t>
            </a:r>
          </a:p>
          <a:p>
            <a:endParaRPr lang="en-US" dirty="0"/>
          </a:p>
          <a:p>
            <a:br>
              <a:rPr lang="en-US" dirty="0"/>
            </a:br>
            <a:r>
              <a:rPr lang="en-US" dirty="0"/>
              <a:t>E vi </a:t>
            </a:r>
            <a:r>
              <a:rPr lang="en-US" dirty="0" err="1"/>
              <a:t>ricordo</a:t>
            </a:r>
            <a:r>
              <a:rPr lang="en-US" dirty="0"/>
              <a:t>: </a:t>
            </a:r>
            <a:r>
              <a:rPr lang="en-US" dirty="0" err="1"/>
              <a:t>modalità</a:t>
            </a:r>
            <a:r>
              <a:rPr lang="en-US" dirty="0"/>
              <a:t> </a:t>
            </a:r>
            <a:r>
              <a:rPr lang="en-US" dirty="0" err="1"/>
              <a:t>aereo</a:t>
            </a:r>
            <a:r>
              <a:rPr lang="en-US" dirty="0"/>
              <a:t>. </a:t>
            </a:r>
            <a:r>
              <a:rPr lang="en-US" dirty="0" err="1"/>
              <a:t>Nessuna</a:t>
            </a:r>
            <a:r>
              <a:rPr lang="en-US" dirty="0"/>
              <a:t> </a:t>
            </a:r>
            <a:r>
              <a:rPr lang="en-US" dirty="0" err="1"/>
              <a:t>chiamata</a:t>
            </a:r>
            <a:r>
              <a:rPr lang="en-US" dirty="0"/>
              <a:t> di rete. Nessun </a:t>
            </a:r>
            <a:r>
              <a:rPr lang="en-US" dirty="0" err="1"/>
              <a:t>costo</a:t>
            </a:r>
            <a:r>
              <a:rPr lang="en-US" dirty="0"/>
              <a:t> per </a:t>
            </a:r>
            <a:r>
              <a:rPr lang="en-US" dirty="0" err="1"/>
              <a:t>chiamata</a:t>
            </a:r>
            <a:r>
              <a:rPr lang="en-US" dirty="0"/>
              <a:t>. </a:t>
            </a:r>
            <a:r>
              <a:rPr lang="en-US" dirty="0" err="1"/>
              <a:t>Nessuna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di </a:t>
            </a:r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frigo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finita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un server.</a:t>
            </a:r>
          </a:p>
          <a:p>
            <a:endParaRPr lang="en-US" dirty="0"/>
          </a:p>
          <a:p>
            <a:br>
              <a:rPr lang="en-US" dirty="0"/>
            </a:br>
            <a:r>
              <a:rPr lang="en-US" dirty="0"/>
              <a:t>Questa </a:t>
            </a:r>
            <a:r>
              <a:rPr lang="en-US" dirty="0" err="1"/>
              <a:t>è</a:t>
            </a:r>
            <a:r>
              <a:rPr lang="en-US" dirty="0"/>
              <a:t> AI Pantry. Ora vi </a:t>
            </a:r>
            <a:r>
              <a:rPr lang="en-US" dirty="0" err="1"/>
              <a:t>raccontiamo</a:t>
            </a:r>
            <a:r>
              <a:rPr lang="en-US" dirty="0"/>
              <a:t> come ci </a:t>
            </a:r>
            <a:r>
              <a:rPr lang="en-US" dirty="0" err="1"/>
              <a:t>siamo</a:t>
            </a:r>
            <a:r>
              <a:rPr lang="en-US" dirty="0"/>
              <a:t> </a:t>
            </a:r>
            <a:r>
              <a:rPr lang="en-US" dirty="0" err="1"/>
              <a:t>arrivati</a:t>
            </a:r>
            <a:r>
              <a:rPr lang="en-US" dirty="0"/>
              <a:t>, e </a:t>
            </a:r>
            <a:r>
              <a:rPr lang="en-US" dirty="0" err="1"/>
              <a:t>perché</a:t>
            </a:r>
            <a:r>
              <a:rPr lang="en-US" dirty="0"/>
              <a:t> ci </a:t>
            </a:r>
            <a:r>
              <a:rPr lang="en-US" dirty="0" err="1"/>
              <a:t>abbiamo</a:t>
            </a:r>
            <a:r>
              <a:rPr lang="en-US" dirty="0"/>
              <a:t> </a:t>
            </a:r>
            <a:r>
              <a:rPr lang="en-US" dirty="0" err="1"/>
              <a:t>messo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tentativi</a:t>
            </a:r>
            <a:r>
              <a:rPr lang="en-US" dirty="0"/>
              <a:t> del </a:t>
            </a:r>
            <a:r>
              <a:rPr lang="en-US" dirty="0" err="1"/>
              <a:t>previsto</a:t>
            </a:r>
            <a:r>
              <a:rPr lang="en-US" dirty="0"/>
              <a:t>. [</a:t>
            </a:r>
            <a:r>
              <a:rPr lang="en-US" dirty="0" err="1"/>
              <a:t>torna</a:t>
            </a:r>
            <a:r>
              <a:rPr lang="en-US" dirty="0"/>
              <a:t> alle slide]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[PIANO B: se la demo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blocca</a:t>
            </a:r>
            <a:r>
              <a:rPr lang="en-US" dirty="0"/>
              <a:t> → “La demo on-device ha </a:t>
            </a:r>
            <a:r>
              <a:rPr lang="en-US" dirty="0" err="1"/>
              <a:t>deciso</a:t>
            </a:r>
            <a:r>
              <a:rPr lang="en-US" dirty="0"/>
              <a:t> di </a:t>
            </a:r>
            <a:r>
              <a:rPr lang="en-US" dirty="0" err="1"/>
              <a:t>essere</a:t>
            </a:r>
            <a:r>
              <a:rPr lang="en-US" dirty="0"/>
              <a:t> molto on-device” → far </a:t>
            </a:r>
            <a:r>
              <a:rPr lang="en-US" dirty="0" err="1"/>
              <a:t>partire</a:t>
            </a:r>
            <a:r>
              <a:rPr lang="en-US" dirty="0"/>
              <a:t> il video di backup e </a:t>
            </a:r>
            <a:r>
              <a:rPr lang="en-US" dirty="0" err="1"/>
              <a:t>commentarlo</a:t>
            </a:r>
            <a:r>
              <a:rPr lang="en-US" dirty="0"/>
              <a:t> con lo </a:t>
            </a:r>
            <a:r>
              <a:rPr lang="en-US" dirty="0" err="1"/>
              <a:t>stesso</a:t>
            </a:r>
            <a:r>
              <a:rPr lang="en-US" dirty="0"/>
              <a:t> script.]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Ok, 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torniamo</a:t>
            </a:r>
            <a:r>
              <a:rPr lang="en-US" dirty="0"/>
              <a:t> un </a:t>
            </a:r>
            <a:r>
              <a:rPr lang="en-US" dirty="0" err="1"/>
              <a:t>passo</a:t>
            </a:r>
            <a:r>
              <a:rPr lang="en-US" dirty="0"/>
              <a:t> </a:t>
            </a:r>
            <a:r>
              <a:rPr lang="en-US" dirty="0" err="1"/>
              <a:t>indietro</a:t>
            </a:r>
            <a:r>
              <a:rPr lang="en-US" dirty="0"/>
              <a:t>.</a:t>
            </a:r>
          </a:p>
          <a:p>
            <a:r>
              <a:rPr lang="en-US" dirty="0" err="1"/>
              <a:t>Perché</a:t>
            </a:r>
            <a:r>
              <a:rPr lang="en-US" dirty="0"/>
              <a:t> on-device? </a:t>
            </a:r>
            <a:r>
              <a:rPr lang="en-US" dirty="0" err="1"/>
              <a:t>Perché</a:t>
            </a:r>
            <a:r>
              <a:rPr lang="en-US" dirty="0"/>
              <a:t> </a:t>
            </a:r>
            <a:r>
              <a:rPr lang="en-US" dirty="0" err="1"/>
              <a:t>complicarsi</a:t>
            </a:r>
            <a:r>
              <a:rPr lang="en-US" dirty="0"/>
              <a:t> la vita, </a:t>
            </a:r>
            <a:r>
              <a:rPr lang="en-US" dirty="0" err="1"/>
              <a:t>quando</a:t>
            </a:r>
            <a:r>
              <a:rPr lang="en-US" dirty="0"/>
              <a:t> </a:t>
            </a:r>
            <a:r>
              <a:rPr lang="en-US" dirty="0" err="1"/>
              <a:t>un’API</a:t>
            </a:r>
            <a:r>
              <a:rPr lang="en-US" dirty="0"/>
              <a:t> cloud </a:t>
            </a:r>
            <a:r>
              <a:rPr lang="en-US" dirty="0" err="1"/>
              <a:t>avrebbe</a:t>
            </a:r>
            <a:r>
              <a:rPr lang="en-US" dirty="0"/>
              <a:t> </a:t>
            </a:r>
            <a:r>
              <a:rPr lang="en-US" dirty="0" err="1"/>
              <a:t>fatto</a:t>
            </a:r>
            <a:r>
              <a:rPr lang="en-US" dirty="0"/>
              <a:t> il </a:t>
            </a:r>
            <a:r>
              <a:rPr lang="en-US" dirty="0" err="1"/>
              <a:t>lavoro</a:t>
            </a:r>
            <a:r>
              <a:rPr lang="en-US" dirty="0"/>
              <a:t> molto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velocemente</a:t>
            </a:r>
            <a:r>
              <a:rPr lang="en-US" dirty="0"/>
              <a:t>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La prima </a:t>
            </a:r>
            <a:r>
              <a:rPr lang="en-US" dirty="0" err="1"/>
              <a:t>risposta</a:t>
            </a:r>
            <a:r>
              <a:rPr lang="en-US" dirty="0"/>
              <a:t>, </a:t>
            </a:r>
            <a:r>
              <a:rPr lang="en-US" dirty="0" err="1"/>
              <a:t>è</a:t>
            </a:r>
            <a:r>
              <a:rPr lang="en-US" dirty="0"/>
              <a:t> la privacy. Prima di </a:t>
            </a:r>
            <a:r>
              <a:rPr lang="en-US" dirty="0" err="1"/>
              <a:t>tutto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Nessun server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vede</a:t>
            </a:r>
            <a:r>
              <a:rPr lang="en-US" dirty="0"/>
              <a:t> le </a:t>
            </a:r>
            <a:r>
              <a:rPr lang="en-US" dirty="0" err="1"/>
              <a:t>foto</a:t>
            </a:r>
            <a:r>
              <a:rPr lang="en-US" dirty="0"/>
              <a:t>.</a:t>
            </a:r>
          </a:p>
          <a:p>
            <a:r>
              <a:rPr lang="en-US" dirty="0"/>
              <a:t>Le </a:t>
            </a:r>
            <a:r>
              <a:rPr lang="en-US" dirty="0" err="1"/>
              <a:t>foto</a:t>
            </a:r>
            <a:r>
              <a:rPr lang="en-US" dirty="0"/>
              <a:t> della cucina non </a:t>
            </a:r>
            <a:r>
              <a:rPr lang="en-US" dirty="0" err="1"/>
              <a:t>lasciano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il </a:t>
            </a:r>
            <a:r>
              <a:rPr lang="en-US" dirty="0" err="1"/>
              <a:t>dispositivo</a:t>
            </a:r>
            <a:r>
              <a:rPr lang="en-US" dirty="0"/>
              <a:t>.</a:t>
            </a:r>
          </a:p>
          <a:p>
            <a:r>
              <a:rPr lang="en-US" dirty="0"/>
              <a:t>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del </a:t>
            </a:r>
            <a:r>
              <a:rPr lang="en-US" dirty="0" err="1"/>
              <a:t>frigo</a:t>
            </a:r>
            <a:r>
              <a:rPr lang="en-US" dirty="0"/>
              <a:t> </a:t>
            </a:r>
            <a:r>
              <a:rPr lang="en-US" dirty="0" err="1"/>
              <a:t>racconta</a:t>
            </a:r>
            <a:r>
              <a:rPr lang="en-US" dirty="0"/>
              <a:t> molto </a:t>
            </a:r>
            <a:r>
              <a:rPr lang="en-US" dirty="0" err="1"/>
              <a:t>più</a:t>
            </a:r>
            <a:r>
              <a:rPr lang="en-US" dirty="0"/>
              <a:t> di </a:t>
            </a:r>
            <a:r>
              <a:rPr lang="en-US" dirty="0" err="1"/>
              <a:t>quanto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possa</a:t>
            </a:r>
            <a:r>
              <a:rPr lang="en-US" dirty="0"/>
              <a:t> </a:t>
            </a:r>
            <a:r>
              <a:rPr lang="en-US" dirty="0" err="1"/>
              <a:t>pensare</a:t>
            </a:r>
            <a:r>
              <a:rPr lang="en-US" dirty="0"/>
              <a:t>: </a:t>
            </a:r>
            <a:r>
              <a:rPr lang="en-US" dirty="0" err="1"/>
              <a:t>abitudini</a:t>
            </a:r>
            <a:r>
              <a:rPr lang="en-US" dirty="0"/>
              <a:t> </a:t>
            </a:r>
            <a:r>
              <a:rPr lang="en-US" dirty="0" err="1"/>
              <a:t>alimentari</a:t>
            </a:r>
            <a:r>
              <a:rPr lang="en-US" dirty="0"/>
              <a:t>, </a:t>
            </a:r>
            <a:r>
              <a:rPr lang="en-US" dirty="0" err="1"/>
              <a:t>allergie</a:t>
            </a:r>
            <a:r>
              <a:rPr lang="en-US" dirty="0"/>
              <a:t>, </a:t>
            </a:r>
            <a:r>
              <a:rPr lang="en-US" dirty="0" err="1"/>
              <a:t>magari</a:t>
            </a:r>
            <a:r>
              <a:rPr lang="en-US" dirty="0"/>
              <a:t> </a:t>
            </a:r>
            <a:r>
              <a:rPr lang="en-US" dirty="0" err="1"/>
              <a:t>condizioni</a:t>
            </a:r>
            <a:r>
              <a:rPr lang="en-US" dirty="0"/>
              <a:t> di salute, a volte </a:t>
            </a:r>
            <a:r>
              <a:rPr lang="en-US" dirty="0" err="1"/>
              <a:t>anche</a:t>
            </a:r>
            <a:r>
              <a:rPr lang="en-US" dirty="0"/>
              <a:t> un </a:t>
            </a:r>
            <a:r>
              <a:rPr lang="en-US" dirty="0" err="1"/>
              <a:t>pezzo</a:t>
            </a:r>
            <a:r>
              <a:rPr lang="en-US" dirty="0"/>
              <a:t> di casa </a:t>
            </a:r>
            <a:r>
              <a:rPr lang="en-US" dirty="0" err="1"/>
              <a:t>sullo</a:t>
            </a:r>
            <a:r>
              <a:rPr lang="en-US" dirty="0"/>
              <a:t> </a:t>
            </a:r>
            <a:r>
              <a:rPr lang="en-US" dirty="0" err="1"/>
              <a:t>sfondo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Nessun Data Processing Agreement.</a:t>
            </a:r>
          </a:p>
          <a:p>
            <a:r>
              <a:rPr lang="en-US" dirty="0"/>
              <a:t>Nello </a:t>
            </a:r>
            <a:r>
              <a:rPr lang="en-US" dirty="0" err="1"/>
              <a:t>sviluppare</a:t>
            </a:r>
            <a:r>
              <a:rPr lang="en-US" dirty="0"/>
              <a:t> </a:t>
            </a:r>
            <a:r>
              <a:rPr lang="en-US" dirty="0" err="1"/>
              <a:t>un’app</a:t>
            </a:r>
            <a:r>
              <a:rPr lang="en-US" dirty="0"/>
              <a:t>, </a:t>
            </a:r>
            <a:r>
              <a:rPr lang="en-US" dirty="0" err="1"/>
              <a:t>appena</a:t>
            </a:r>
            <a:r>
              <a:rPr lang="en-US" dirty="0"/>
              <a:t> mandi </a:t>
            </a:r>
            <a:r>
              <a:rPr lang="en-US" dirty="0" err="1"/>
              <a:t>dati</a:t>
            </a:r>
            <a:r>
              <a:rPr lang="en-US" dirty="0"/>
              <a:t> </a:t>
            </a:r>
            <a:r>
              <a:rPr lang="en-US" dirty="0" err="1"/>
              <a:t>utente</a:t>
            </a:r>
            <a:r>
              <a:rPr lang="en-US" dirty="0"/>
              <a:t> a un </a:t>
            </a:r>
            <a:r>
              <a:rPr lang="en-US" dirty="0" err="1"/>
              <a:t>fornitore</a:t>
            </a:r>
            <a:r>
              <a:rPr lang="en-US" dirty="0"/>
              <a:t> </a:t>
            </a:r>
            <a:r>
              <a:rPr lang="en-US" dirty="0" err="1"/>
              <a:t>terzo</a:t>
            </a:r>
            <a:r>
              <a:rPr lang="en-US" dirty="0"/>
              <a:t>, </a:t>
            </a:r>
            <a:r>
              <a:rPr lang="en-US" dirty="0" err="1"/>
              <a:t>parte</a:t>
            </a:r>
            <a:r>
              <a:rPr lang="en-US" dirty="0"/>
              <a:t> il </a:t>
            </a:r>
            <a:r>
              <a:rPr lang="en-US" dirty="0" err="1"/>
              <a:t>giro</a:t>
            </a:r>
            <a:r>
              <a:rPr lang="en-US" dirty="0"/>
              <a:t> di legal, DPA, </a:t>
            </a:r>
            <a:r>
              <a:rPr lang="en-US" dirty="0" err="1"/>
              <a:t>valutazioni</a:t>
            </a:r>
            <a:r>
              <a:rPr lang="en-US" dirty="0"/>
              <a:t>…</a:t>
            </a:r>
          </a:p>
          <a:p>
            <a:r>
              <a:rPr lang="en-US" dirty="0"/>
              <a:t>Se </a:t>
            </a:r>
            <a:r>
              <a:rPr lang="en-US" dirty="0" err="1"/>
              <a:t>nessun</a:t>
            </a:r>
            <a:r>
              <a:rPr lang="en-US" dirty="0"/>
              <a:t> </a:t>
            </a:r>
            <a:r>
              <a:rPr lang="en-US" dirty="0" err="1"/>
              <a:t>dato</a:t>
            </a:r>
            <a:r>
              <a:rPr lang="en-US" dirty="0"/>
              <a:t> </a:t>
            </a:r>
            <a:r>
              <a:rPr lang="en-US" dirty="0" err="1"/>
              <a:t>utente</a:t>
            </a:r>
            <a:r>
              <a:rPr lang="en-US" dirty="0"/>
              <a:t> </a:t>
            </a:r>
            <a:r>
              <a:rPr lang="en-US" dirty="0" err="1"/>
              <a:t>esce</a:t>
            </a:r>
            <a:r>
              <a:rPr lang="en-US" dirty="0"/>
              <a:t>, non </a:t>
            </a:r>
            <a:r>
              <a:rPr lang="en-US" dirty="0" err="1"/>
              <a:t>c’è</a:t>
            </a:r>
            <a:r>
              <a:rPr lang="en-US" dirty="0"/>
              <a:t> </a:t>
            </a:r>
            <a:r>
              <a:rPr lang="en-US" dirty="0" err="1"/>
              <a:t>nessun</a:t>
            </a:r>
            <a:r>
              <a:rPr lang="en-US" dirty="0"/>
              <a:t> agreement da </a:t>
            </a:r>
            <a:r>
              <a:rPr lang="en-US" dirty="0" err="1"/>
              <a:t>firmare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Nessun </a:t>
            </a:r>
            <a:r>
              <a:rPr lang="en-US" dirty="0" err="1"/>
              <a:t>problema</a:t>
            </a:r>
            <a:r>
              <a:rPr lang="en-US" dirty="0"/>
              <a:t> di data retention.</a:t>
            </a:r>
          </a:p>
          <a:p>
            <a:r>
              <a:rPr lang="en-US" dirty="0"/>
              <a:t>Per </a:t>
            </a:r>
            <a:r>
              <a:rPr lang="en-US" dirty="0" err="1"/>
              <a:t>quanto</a:t>
            </a:r>
            <a:r>
              <a:rPr lang="en-US" dirty="0"/>
              <a:t> tempo </a:t>
            </a:r>
            <a:r>
              <a:rPr lang="en-US" dirty="0" err="1"/>
              <a:t>tengo</a:t>
            </a:r>
            <a:r>
              <a:rPr lang="en-US" dirty="0"/>
              <a:t> le </a:t>
            </a:r>
            <a:r>
              <a:rPr lang="en-US" dirty="0" err="1"/>
              <a:t>foto</a:t>
            </a:r>
            <a:r>
              <a:rPr lang="en-US" dirty="0"/>
              <a:t>? Dove? Chi le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cancellare</a:t>
            </a:r>
            <a:r>
              <a:rPr lang="en-US" dirty="0"/>
              <a:t>?</a:t>
            </a:r>
          </a:p>
          <a:p>
            <a:r>
              <a:rPr lang="en-US" dirty="0"/>
              <a:t>Se non le </a:t>
            </a:r>
            <a:r>
              <a:rPr lang="en-US" dirty="0" err="1"/>
              <a:t>memorizzi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, la </a:t>
            </a:r>
            <a:r>
              <a:rPr lang="en-US" dirty="0" err="1"/>
              <a:t>domanda</a:t>
            </a:r>
            <a:r>
              <a:rPr lang="en-US" dirty="0"/>
              <a:t> non </a:t>
            </a:r>
            <a:r>
              <a:rPr lang="en-US" dirty="0" err="1"/>
              <a:t>si</a:t>
            </a:r>
            <a:r>
              <a:rPr lang="en-US" dirty="0"/>
              <a:t> pone proprio.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</a:t>
            </a:r>
            <a:r>
              <a:rPr lang="en-US" dirty="0" err="1"/>
              <a:t>infine</a:t>
            </a:r>
            <a:r>
              <a:rPr lang="en-US" dirty="0"/>
              <a:t>, </a:t>
            </a:r>
            <a:r>
              <a:rPr lang="en-US" dirty="0" err="1"/>
              <a:t>nessun</a:t>
            </a:r>
            <a:r>
              <a:rPr lang="en-US" dirty="0"/>
              <a:t> log </a:t>
            </a:r>
            <a:r>
              <a:rPr lang="en-US" dirty="0" err="1"/>
              <a:t>sul</a:t>
            </a:r>
            <a:r>
              <a:rPr lang="en-US" dirty="0"/>
              <a:t> server.</a:t>
            </a:r>
          </a:p>
          <a:p>
            <a:r>
              <a:rPr lang="en-US" dirty="0" err="1"/>
              <a:t>Nessuna</a:t>
            </a:r>
            <a:r>
              <a:rPr lang="en-US" dirty="0"/>
              <a:t> </a:t>
            </a:r>
            <a:r>
              <a:rPr lang="en-US" dirty="0" err="1"/>
              <a:t>richiesta</a:t>
            </a:r>
            <a:r>
              <a:rPr lang="en-US" dirty="0"/>
              <a:t> cloud </a:t>
            </a:r>
            <a:r>
              <a:rPr lang="en-US" dirty="0" err="1"/>
              <a:t>significa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c’è</a:t>
            </a:r>
            <a:r>
              <a:rPr lang="en-US" dirty="0"/>
              <a:t> niente da far </a:t>
            </a:r>
            <a:r>
              <a:rPr lang="en-US" dirty="0" err="1"/>
              <a:t>trapelare</a:t>
            </a:r>
            <a:r>
              <a:rPr lang="en-US" dirty="0"/>
              <a:t>, e niente da </a:t>
            </a:r>
            <a:r>
              <a:rPr lang="en-US" dirty="0" err="1"/>
              <a:t>violare</a:t>
            </a:r>
            <a:r>
              <a:rPr lang="en-US" dirty="0"/>
              <a:t>.</a:t>
            </a:r>
          </a:p>
          <a:p>
            <a:r>
              <a:rPr lang="en-US" dirty="0"/>
              <a:t>Il </a:t>
            </a:r>
            <a:r>
              <a:rPr lang="en-US" dirty="0" err="1"/>
              <a:t>dato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sicuro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quello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hai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raccolto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 la privacy non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l’unico</a:t>
            </a:r>
            <a:r>
              <a:rPr lang="en-US" dirty="0"/>
              <a:t> </a:t>
            </a:r>
            <a:r>
              <a:rPr lang="en-US" dirty="0" err="1"/>
              <a:t>motivo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resilienza</a:t>
            </a:r>
            <a:r>
              <a:rPr lang="en-US" dirty="0"/>
              <a:t> e </a:t>
            </a:r>
            <a:r>
              <a:rPr lang="en-US" dirty="0" err="1"/>
              <a:t>costi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Resilienza</a:t>
            </a:r>
            <a:r>
              <a:rPr lang="en-US" dirty="0"/>
              <a:t> </a:t>
            </a:r>
            <a:r>
              <a:rPr lang="en-US" dirty="0" err="1"/>
              <a:t>vuol</a:t>
            </a:r>
            <a:r>
              <a:rPr lang="en-US" dirty="0"/>
              <a:t> dire, prima di </a:t>
            </a:r>
            <a:r>
              <a:rPr lang="en-US" dirty="0" err="1"/>
              <a:t>tutto</a:t>
            </a:r>
            <a:r>
              <a:rPr lang="en-US" dirty="0"/>
              <a:t>,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funziona</a:t>
            </a:r>
            <a:r>
              <a:rPr lang="en-US" dirty="0"/>
              <a:t> </a:t>
            </a:r>
            <a:r>
              <a:rPr lang="en-US" dirty="0" err="1"/>
              <a:t>anche</a:t>
            </a:r>
            <a:r>
              <a:rPr lang="en-US" dirty="0"/>
              <a:t> senza internet.</a:t>
            </a:r>
          </a:p>
          <a:p>
            <a:r>
              <a:rPr lang="en-US" dirty="0"/>
              <a:t>Senza rete, in </a:t>
            </a:r>
            <a:r>
              <a:rPr lang="en-US" dirty="0" err="1"/>
              <a:t>modalità</a:t>
            </a:r>
            <a:r>
              <a:rPr lang="en-US" dirty="0"/>
              <a:t> </a:t>
            </a:r>
            <a:r>
              <a:rPr lang="en-US" dirty="0" err="1"/>
              <a:t>aereo</a:t>
            </a:r>
            <a:r>
              <a:rPr lang="en-US" dirty="0"/>
              <a:t>, come </a:t>
            </a:r>
            <a:r>
              <a:rPr lang="en-US" dirty="0" err="1"/>
              <a:t>abbiamo</a:t>
            </a:r>
            <a:r>
              <a:rPr lang="en-US" dirty="0"/>
              <a:t> visto </a:t>
            </a:r>
            <a:r>
              <a:rPr lang="en-US" dirty="0" err="1"/>
              <a:t>nella</a:t>
            </a:r>
            <a:r>
              <a:rPr lang="en-US" dirty="0"/>
              <a:t> demo, o con il </a:t>
            </a:r>
            <a:r>
              <a:rPr lang="en-US" dirty="0" err="1"/>
              <a:t>segnale</a:t>
            </a:r>
            <a:r>
              <a:rPr lang="en-US" dirty="0"/>
              <a:t> </a:t>
            </a:r>
            <a:r>
              <a:rPr lang="en-US" dirty="0" err="1"/>
              <a:t>debole</a:t>
            </a:r>
            <a:r>
              <a:rPr lang="en-US" dirty="0"/>
              <a:t>.</a:t>
            </a:r>
          </a:p>
          <a:p>
            <a:r>
              <a:rPr lang="en-US" dirty="0"/>
              <a:t>E un </a:t>
            </a:r>
            <a:r>
              <a:rPr lang="en-US" dirty="0" err="1"/>
              <a:t>frigo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trova in cucina, </a:t>
            </a:r>
            <a:r>
              <a:rPr lang="en-US" dirty="0" err="1"/>
              <a:t>magari</a:t>
            </a:r>
            <a:r>
              <a:rPr lang="en-US" dirty="0"/>
              <a:t> in </a:t>
            </a:r>
            <a:r>
              <a:rPr lang="en-US" dirty="0" err="1"/>
              <a:t>una</a:t>
            </a:r>
            <a:r>
              <a:rPr lang="en-US" dirty="0"/>
              <a:t> casa </a:t>
            </a:r>
            <a:r>
              <a:rPr lang="en-US" dirty="0" err="1"/>
              <a:t>vecchia</a:t>
            </a:r>
            <a:r>
              <a:rPr lang="en-US" dirty="0"/>
              <a:t>, </a:t>
            </a:r>
            <a:r>
              <a:rPr lang="en-US" dirty="0" err="1"/>
              <a:t>magari</a:t>
            </a:r>
            <a:r>
              <a:rPr lang="en-US" dirty="0"/>
              <a:t> in </a:t>
            </a:r>
            <a:r>
              <a:rPr lang="en-US" dirty="0" err="1"/>
              <a:t>una</a:t>
            </a:r>
            <a:r>
              <a:rPr lang="en-US" dirty="0"/>
              <a:t> taverna o in un </a:t>
            </a:r>
            <a:r>
              <a:rPr lang="en-US" dirty="0" err="1"/>
              <a:t>seminterrato</a:t>
            </a:r>
            <a:r>
              <a:rPr lang="en-US" dirty="0"/>
              <a:t>, o </a:t>
            </a:r>
            <a:r>
              <a:rPr lang="en-US" dirty="0" err="1"/>
              <a:t>comunque</a:t>
            </a:r>
            <a:r>
              <a:rPr lang="en-US" dirty="0"/>
              <a:t>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trovarsi</a:t>
            </a:r>
            <a:r>
              <a:rPr lang="en-US" dirty="0"/>
              <a:t> in </a:t>
            </a:r>
            <a:r>
              <a:rPr lang="en-US" dirty="0" err="1"/>
              <a:t>posti</a:t>
            </a:r>
            <a:r>
              <a:rPr lang="en-US" dirty="0"/>
              <a:t> dove internet non </a:t>
            </a:r>
            <a:r>
              <a:rPr lang="en-US" dirty="0" err="1"/>
              <a:t>prende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Poi, </a:t>
            </a:r>
            <a:r>
              <a:rPr lang="en-US" dirty="0" err="1"/>
              <a:t>nessun</a:t>
            </a:r>
            <a:r>
              <a:rPr lang="en-US" dirty="0"/>
              <a:t> round-trip verso il server. Niente </a:t>
            </a:r>
            <a:r>
              <a:rPr lang="en-US" dirty="0" err="1"/>
              <a:t>latenza</a:t>
            </a:r>
            <a:r>
              <a:rPr lang="en-US" dirty="0"/>
              <a:t> di rete, niente cold start.</a:t>
            </a:r>
          </a:p>
          <a:p>
            <a:r>
              <a:rPr lang="en-US" dirty="0"/>
              <a:t>Il “backend”,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virgolette</a:t>
            </a:r>
            <a:r>
              <a:rPr lang="en-US" dirty="0"/>
              <a:t>,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già</a:t>
            </a:r>
            <a:r>
              <a:rPr lang="en-US" dirty="0"/>
              <a:t> caldo,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l’hai</a:t>
            </a:r>
            <a:r>
              <a:rPr lang="en-US" dirty="0"/>
              <a:t> in mano.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Poi </a:t>
            </a:r>
            <a:r>
              <a:rPr lang="en-US" dirty="0" err="1"/>
              <a:t>c’è</a:t>
            </a:r>
            <a:r>
              <a:rPr lang="en-US" dirty="0"/>
              <a:t> il </a:t>
            </a:r>
            <a:r>
              <a:rPr lang="en-US" dirty="0" err="1"/>
              <a:t>tema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costi</a:t>
            </a:r>
            <a:r>
              <a:rPr lang="en-US" dirty="0"/>
              <a:t>, </a:t>
            </a:r>
            <a:r>
              <a:rPr lang="en-US" dirty="0" err="1"/>
              <a:t>che</a:t>
            </a:r>
            <a:r>
              <a:rPr lang="en-US" dirty="0"/>
              <a:t> per un </a:t>
            </a:r>
            <a:r>
              <a:rPr lang="en-US" dirty="0" err="1"/>
              <a:t>prodotto</a:t>
            </a:r>
            <a:r>
              <a:rPr lang="en-US" dirty="0"/>
              <a:t> </a:t>
            </a:r>
            <a:r>
              <a:rPr lang="en-US" dirty="0" err="1"/>
              <a:t>vero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enorme</a:t>
            </a:r>
            <a:r>
              <a:rPr lang="en-US" dirty="0"/>
              <a:t>: il </a:t>
            </a:r>
            <a:r>
              <a:rPr lang="en-US" dirty="0" err="1"/>
              <a:t>costo</a:t>
            </a:r>
            <a:r>
              <a:rPr lang="en-US" dirty="0"/>
              <a:t> del cloud </a:t>
            </a:r>
            <a:r>
              <a:rPr lang="en-US" dirty="0" err="1"/>
              <a:t>cresce</a:t>
            </a:r>
            <a:r>
              <a:rPr lang="en-US" dirty="0"/>
              <a:t> con </a:t>
            </a:r>
            <a:r>
              <a:rPr lang="en-US" dirty="0" err="1"/>
              <a:t>l’uso</a:t>
            </a:r>
            <a:r>
              <a:rPr lang="en-US" dirty="0"/>
              <a:t>. </a:t>
            </a:r>
          </a:p>
          <a:p>
            <a:r>
              <a:rPr lang="en-US" dirty="0"/>
              <a:t>Ogni </a:t>
            </a:r>
            <a:r>
              <a:rPr lang="en-US" dirty="0" err="1"/>
              <a:t>chiamata</a:t>
            </a:r>
            <a:r>
              <a:rPr lang="en-US" dirty="0"/>
              <a:t> </a:t>
            </a:r>
            <a:r>
              <a:rPr lang="en-US" dirty="0" err="1"/>
              <a:t>multimodale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paga</a:t>
            </a:r>
            <a:r>
              <a:rPr lang="en-US" dirty="0"/>
              <a:t> per </a:t>
            </a:r>
            <a:r>
              <a:rPr lang="en-US" dirty="0" err="1"/>
              <a:t>immagine</a:t>
            </a:r>
            <a:r>
              <a:rPr lang="en-US" dirty="0"/>
              <a:t> e per token.</a:t>
            </a:r>
          </a:p>
          <a:p>
            <a:r>
              <a:rPr lang="en-US" dirty="0"/>
              <a:t>E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moltiplicato</a:t>
            </a:r>
            <a:r>
              <a:rPr lang="en-US" dirty="0"/>
              <a:t> per ogni </a:t>
            </a:r>
            <a:r>
              <a:rPr lang="en-US" dirty="0" err="1"/>
              <a:t>scansione</a:t>
            </a:r>
            <a:r>
              <a:rPr lang="en-US" dirty="0"/>
              <a:t>, per ogni </a:t>
            </a:r>
            <a:r>
              <a:rPr lang="en-US" dirty="0" err="1"/>
              <a:t>utente</a:t>
            </a:r>
            <a:r>
              <a:rPr lang="en-US" dirty="0"/>
              <a:t> </a:t>
            </a:r>
            <a:r>
              <a:rPr lang="en-US" dirty="0" err="1"/>
              <a:t>attivo</a:t>
            </a:r>
            <a:r>
              <a:rPr lang="en-US" dirty="0"/>
              <a:t>, ogni </a:t>
            </a:r>
            <a:r>
              <a:rPr lang="en-US" dirty="0" err="1"/>
              <a:t>giorno</a:t>
            </a:r>
            <a:r>
              <a:rPr lang="en-US" dirty="0"/>
              <a:t>.</a:t>
            </a:r>
          </a:p>
          <a:p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l’app</a:t>
            </a:r>
            <a:r>
              <a:rPr lang="en-US" dirty="0"/>
              <a:t> ha </a:t>
            </a:r>
            <a:r>
              <a:rPr lang="en-US" dirty="0" err="1"/>
              <a:t>successo</a:t>
            </a:r>
            <a:r>
              <a:rPr lang="en-US" dirty="0"/>
              <a:t>, </a:t>
            </a:r>
            <a:r>
              <a:rPr lang="en-US" dirty="0" err="1"/>
              <a:t>più</a:t>
            </a:r>
            <a:r>
              <a:rPr lang="en-US" dirty="0"/>
              <a:t> costa.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On-device </a:t>
            </a:r>
            <a:r>
              <a:rPr lang="en-US" dirty="0" err="1"/>
              <a:t>ribalta</a:t>
            </a:r>
            <a:r>
              <a:rPr lang="en-US" dirty="0"/>
              <a:t> </a:t>
            </a:r>
            <a:r>
              <a:rPr lang="en-US" dirty="0" err="1"/>
              <a:t>completamente</a:t>
            </a:r>
            <a:r>
              <a:rPr lang="en-US" dirty="0"/>
              <a:t> </a:t>
            </a:r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modello</a:t>
            </a:r>
            <a:r>
              <a:rPr lang="en-US" dirty="0"/>
              <a:t>.</a:t>
            </a:r>
          </a:p>
          <a:p>
            <a:r>
              <a:rPr lang="en-US" dirty="0" err="1"/>
              <a:t>L’inferenza</a:t>
            </a:r>
            <a:r>
              <a:rPr lang="en-US" dirty="0"/>
              <a:t> </a:t>
            </a:r>
            <a:r>
              <a:rPr lang="en-US" dirty="0" err="1"/>
              <a:t>gira</a:t>
            </a:r>
            <a:r>
              <a:rPr lang="en-US" dirty="0"/>
              <a:t> </a:t>
            </a:r>
            <a:r>
              <a:rPr lang="en-US" dirty="0" err="1"/>
              <a:t>sull’hardware</a:t>
            </a:r>
            <a:r>
              <a:rPr lang="en-US" dirty="0"/>
              <a:t> </a:t>
            </a:r>
            <a:r>
              <a:rPr lang="en-US" dirty="0" err="1"/>
              <a:t>dell’utente</a:t>
            </a:r>
            <a:r>
              <a:rPr lang="en-US" dirty="0"/>
              <a:t>, e la </a:t>
            </a:r>
            <a:r>
              <a:rPr lang="en-US" dirty="0" err="1"/>
              <a:t>bolletta</a:t>
            </a:r>
            <a:r>
              <a:rPr lang="en-US" dirty="0"/>
              <a:t> cloud </a:t>
            </a:r>
            <a:r>
              <a:rPr lang="en-US" dirty="0" err="1"/>
              <a:t>resta</a:t>
            </a:r>
            <a:r>
              <a:rPr lang="en-US" dirty="0"/>
              <a:t> a zero.</a:t>
            </a:r>
          </a:p>
          <a:p>
            <a:r>
              <a:rPr lang="en-US" dirty="0" err="1"/>
              <a:t>Anche</a:t>
            </a:r>
            <a:r>
              <a:rPr lang="en-US" dirty="0"/>
              <a:t> con un </a:t>
            </a:r>
            <a:r>
              <a:rPr lang="en-US" dirty="0" err="1"/>
              <a:t>milione</a:t>
            </a:r>
            <a:r>
              <a:rPr lang="en-US" dirty="0"/>
              <a:t> di </a:t>
            </a:r>
            <a:r>
              <a:rPr lang="en-US" dirty="0" err="1"/>
              <a:t>utenti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Poi, </a:t>
            </a:r>
            <a:r>
              <a:rPr lang="en-US" dirty="0" err="1"/>
              <a:t>effetto</a:t>
            </a:r>
            <a:r>
              <a:rPr lang="en-US" dirty="0"/>
              <a:t> </a:t>
            </a:r>
            <a:r>
              <a:rPr lang="en-US" dirty="0" err="1"/>
              <a:t>collaterale</a:t>
            </a:r>
            <a:r>
              <a:rPr lang="en-US" dirty="0"/>
              <a:t> </a:t>
            </a:r>
            <a:r>
              <a:rPr lang="en-US" dirty="0" err="1"/>
              <a:t>positivo</a:t>
            </a:r>
            <a:r>
              <a:rPr lang="en-US" dirty="0"/>
              <a:t>: niente quote, niente rate limit, niente </a:t>
            </a:r>
            <a:r>
              <a:rPr lang="en-US" dirty="0" err="1"/>
              <a:t>sorprese</a:t>
            </a:r>
            <a:r>
              <a:rPr lang="en-US" dirty="0"/>
              <a:t> a fine mese </a:t>
            </a:r>
            <a:r>
              <a:rPr lang="en-US" dirty="0" err="1"/>
              <a:t>perché</a:t>
            </a:r>
            <a:r>
              <a:rPr lang="en-US" dirty="0"/>
              <a:t> </a:t>
            </a:r>
            <a:r>
              <a:rPr lang="en-US" dirty="0" err="1"/>
              <a:t>qualcuno</a:t>
            </a:r>
            <a:r>
              <a:rPr lang="en-US" dirty="0"/>
              <a:t> ha </a:t>
            </a:r>
            <a:r>
              <a:rPr lang="en-US" dirty="0" err="1"/>
              <a:t>scritto</a:t>
            </a:r>
            <a:r>
              <a:rPr lang="en-US" dirty="0"/>
              <a:t> uno script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scansiona</a:t>
            </a:r>
            <a:r>
              <a:rPr lang="en-US" dirty="0"/>
              <a:t> in loop.</a:t>
            </a:r>
          </a:p>
          <a:p>
            <a:r>
              <a:rPr lang="en-US" dirty="0"/>
              <a:t>Il </a:t>
            </a:r>
            <a:r>
              <a:rPr lang="en-US" dirty="0" err="1"/>
              <a:t>costo</a:t>
            </a:r>
            <a:r>
              <a:rPr lang="en-US" dirty="0"/>
              <a:t> marginale di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scansione</a:t>
            </a:r>
            <a:r>
              <a:rPr lang="en-US" dirty="0"/>
              <a:t> in </a:t>
            </a:r>
            <a:r>
              <a:rPr lang="en-US" dirty="0" err="1"/>
              <a:t>più</a:t>
            </a:r>
            <a:r>
              <a:rPr lang="en-US" dirty="0"/>
              <a:t>, per </a:t>
            </a:r>
            <a:r>
              <a:rPr lang="en-US" dirty="0" err="1"/>
              <a:t>noi</a:t>
            </a:r>
            <a:r>
              <a:rPr lang="en-US" dirty="0"/>
              <a:t>, </a:t>
            </a:r>
            <a:r>
              <a:rPr lang="en-US" dirty="0" err="1"/>
              <a:t>è</a:t>
            </a:r>
            <a:r>
              <a:rPr lang="en-US" dirty="0"/>
              <a:t> zero.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Quindi</a:t>
            </a:r>
            <a:r>
              <a:rPr lang="en-US" dirty="0"/>
              <a:t>: privacy, </a:t>
            </a:r>
            <a:r>
              <a:rPr lang="en-US" dirty="0" err="1"/>
              <a:t>resilienza</a:t>
            </a:r>
            <a:r>
              <a:rPr lang="en-US" dirty="0"/>
              <a:t> e </a:t>
            </a:r>
            <a:r>
              <a:rPr lang="en-US" dirty="0" err="1"/>
              <a:t>costi</a:t>
            </a:r>
            <a:r>
              <a:rPr lang="en-US" dirty="0"/>
              <a:t>. </a:t>
            </a:r>
          </a:p>
          <a:p>
            <a:r>
              <a:rPr lang="en-US" dirty="0"/>
              <a:t>Ora, quale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usiamo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Oggi, la scelta ovvia, se sviluppi su Android, è Gemini Nano.</a:t>
            </a:r>
          </a:p>
          <a:p>
            <a:r>
              <a:rPr lang="it-IT" dirty="0"/>
              <a:t>È il modello on-device che Google ha integrato in Android: non sta nella tua app, vive nel sistema operativo.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Ed è multimodale: quindi gli puoi dare una foto e del testo, e ti risponde con del testo.</a:t>
            </a:r>
          </a:p>
          <a:p>
            <a:r>
              <a:rPr lang="it-IT" dirty="0"/>
              <a:t>Esattamente quello che serve per scansionare un frigo: “ecco la foto, dimmi cosa c’è dentro”.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Poi la parte più bella è che è una dipendenza Gradle.</a:t>
            </a:r>
          </a:p>
          <a:p>
            <a:r>
              <a:rPr lang="it-IT" dirty="0"/>
              <a:t>Quindi zero megabyte nell’APK.</a:t>
            </a:r>
          </a:p>
          <a:p>
            <a:r>
              <a:rPr lang="it-IT" dirty="0"/>
              <a:t>Non c’è nessun modello da includere, da scaricare o da aggiornare: se ne occupa interamente la piattaforma.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In più, accelerazione hardware inclusa: quindi sfrutta gli acceleratori hardware del telefono, senza dover scrivere una riga di codice specifico per il chip.</a:t>
            </a:r>
          </a:p>
          <a:p>
            <a:r>
              <a:rPr lang="it-IT" dirty="0"/>
              <a:t>E gli aggiornamenti sono gestiti direttamente da Google: quando esce una versione migliore del modello, arriva agli utenti senza un nuovo rilascio dell’app.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Per uno sviluppatore Android, è quasi troppo bello per essere vero.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Sulla carta era perfetto</a:t>
            </a:r>
            <a:r>
              <a:rPr lang="it-IT" i="1" dirty="0">
                <a:solidFill>
                  <a:schemeClr val="bg1">
                    <a:lumMod val="85000"/>
                  </a:schemeClr>
                </a:solidFill>
              </a:rPr>
              <a:t>.  [pausa]</a:t>
            </a:r>
          </a:p>
          <a:p>
            <a:endParaRPr lang="it-IT" dirty="0"/>
          </a:p>
          <a:p>
            <a:r>
              <a:rPr lang="it-IT" dirty="0"/>
              <a:t>Tranne che…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…</a:t>
            </a:r>
            <a:r>
              <a:rPr dirty="0" err="1"/>
              <a:t>gira</a:t>
            </a:r>
            <a:r>
              <a:rPr dirty="0"/>
              <a:t> solo sui flagship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recenti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Pixel 10, Pixel 11, Galaxy S26.</a:t>
            </a:r>
            <a:endParaRPr lang="it-IT" dirty="0"/>
          </a:p>
          <a:p>
            <a:r>
              <a:rPr dirty="0" err="1"/>
              <a:t>Telefoni</a:t>
            </a:r>
            <a:r>
              <a:rPr dirty="0"/>
              <a:t> </a:t>
            </a:r>
            <a:r>
              <a:rPr dirty="0" err="1"/>
              <a:t>bellissimi</a:t>
            </a:r>
            <a:r>
              <a:rPr dirty="0"/>
              <a:t>.</a:t>
            </a:r>
            <a:endParaRPr lang="it-IT" dirty="0"/>
          </a:p>
          <a:p>
            <a:r>
              <a:rPr dirty="0"/>
              <a:t>Ma non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telefoni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la</a:t>
            </a:r>
            <a:r>
              <a:rPr lang="it-IT" dirty="0"/>
              <a:t> maggior parte</a:t>
            </a:r>
            <a:r>
              <a:rPr dirty="0"/>
              <a:t> </a:t>
            </a:r>
            <a:r>
              <a:rPr lang="it-IT" dirty="0"/>
              <a:t>delle persone</a:t>
            </a:r>
            <a:r>
              <a:rPr dirty="0"/>
              <a:t> ha </a:t>
            </a:r>
            <a:r>
              <a:rPr dirty="0" err="1"/>
              <a:t>davvero</a:t>
            </a:r>
            <a:r>
              <a:rPr dirty="0"/>
              <a:t> in </a:t>
            </a:r>
            <a:r>
              <a:rPr dirty="0" err="1"/>
              <a:t>tasca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E </a:t>
            </a:r>
            <a:r>
              <a:rPr dirty="0" err="1"/>
              <a:t>questo</a:t>
            </a:r>
            <a:r>
              <a:rPr dirty="0"/>
              <a:t> per </a:t>
            </a:r>
            <a:r>
              <a:rPr lang="it-IT" dirty="0"/>
              <a:t>chi rilascia </a:t>
            </a:r>
            <a:r>
              <a:rPr lang="it-IT" dirty="0" err="1"/>
              <a:t>un’app</a:t>
            </a:r>
            <a:r>
              <a:rPr lang="it-IT" dirty="0"/>
              <a:t> è </a:t>
            </a:r>
            <a:r>
              <a:rPr dirty="0"/>
              <a:t>un </a:t>
            </a:r>
            <a:r>
              <a:rPr dirty="0" err="1"/>
              <a:t>problema</a:t>
            </a:r>
            <a:r>
              <a:rPr dirty="0"/>
              <a:t> serio.</a:t>
            </a:r>
            <a:endParaRPr lang="it-IT" dirty="0"/>
          </a:p>
          <a:p>
            <a:r>
              <a:rPr dirty="0"/>
              <a:t>Se </a:t>
            </a:r>
            <a:r>
              <a:rPr dirty="0" err="1"/>
              <a:t>costruisci</a:t>
            </a:r>
            <a:r>
              <a:rPr dirty="0"/>
              <a:t> la feature </a:t>
            </a:r>
            <a:r>
              <a:rPr dirty="0" err="1"/>
              <a:t>principale</a:t>
            </a:r>
            <a:r>
              <a:rPr dirty="0"/>
              <a:t> della </a:t>
            </a:r>
            <a:r>
              <a:rPr dirty="0" err="1"/>
              <a:t>tua</a:t>
            </a:r>
            <a:r>
              <a:rPr dirty="0"/>
              <a:t> app </a:t>
            </a:r>
            <a:r>
              <a:rPr dirty="0" err="1"/>
              <a:t>su</a:t>
            </a:r>
            <a:r>
              <a:rPr dirty="0"/>
              <a:t> 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c’è</a:t>
            </a:r>
            <a:r>
              <a:rPr dirty="0"/>
              <a:t> solo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piccola</a:t>
            </a:r>
            <a:r>
              <a:rPr dirty="0"/>
              <a:t> fetta di </a:t>
            </a:r>
            <a:r>
              <a:rPr dirty="0" err="1"/>
              <a:t>dispositivi</a:t>
            </a:r>
            <a:r>
              <a:rPr dirty="0"/>
              <a:t>, per tutti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altri</a:t>
            </a:r>
            <a:r>
              <a:rPr dirty="0"/>
              <a:t> </a:t>
            </a:r>
            <a:r>
              <a:rPr dirty="0" err="1"/>
              <a:t>semplicemente</a:t>
            </a:r>
            <a:r>
              <a:rPr lang="en-US" dirty="0"/>
              <a:t> </a:t>
            </a:r>
            <a:r>
              <a:rPr lang="en-US" dirty="0" err="1"/>
              <a:t>l’app</a:t>
            </a:r>
            <a:r>
              <a:rPr dirty="0"/>
              <a:t> non </a:t>
            </a:r>
            <a:r>
              <a:rPr dirty="0" err="1"/>
              <a:t>funziona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non </a:t>
            </a:r>
            <a:r>
              <a:rPr dirty="0" err="1"/>
              <a:t>c’è</a:t>
            </a:r>
            <a:r>
              <a:rPr dirty="0"/>
              <a:t> niente </a:t>
            </a:r>
            <a:r>
              <a:rPr dirty="0" err="1"/>
              <a:t>che</a:t>
            </a:r>
            <a:r>
              <a:rPr dirty="0"/>
              <a:t> </a:t>
            </a:r>
            <a:r>
              <a:rPr lang="it-IT" dirty="0"/>
              <a:t>si possa </a:t>
            </a:r>
            <a:r>
              <a:rPr dirty="0"/>
              <a:t>fare lato </a:t>
            </a:r>
            <a:r>
              <a:rPr dirty="0" err="1"/>
              <a:t>codice</a:t>
            </a:r>
            <a:r>
              <a:rPr dirty="0"/>
              <a:t>: non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questione</a:t>
            </a:r>
            <a:r>
              <a:rPr dirty="0"/>
              <a:t> di </a:t>
            </a:r>
            <a:r>
              <a:rPr dirty="0" err="1"/>
              <a:t>permessi</a:t>
            </a:r>
            <a:r>
              <a:rPr dirty="0"/>
              <a:t> o di </a:t>
            </a:r>
            <a:r>
              <a:rPr dirty="0" err="1"/>
              <a:t>versione</a:t>
            </a:r>
            <a:r>
              <a:rPr dirty="0"/>
              <a:t> di Android, </a:t>
            </a:r>
            <a:r>
              <a:rPr dirty="0" err="1"/>
              <a:t>dipende</a:t>
            </a:r>
            <a:r>
              <a:rPr dirty="0"/>
              <a:t> </a:t>
            </a:r>
            <a:r>
              <a:rPr dirty="0" err="1"/>
              <a:t>dall’hardware</a:t>
            </a:r>
            <a:r>
              <a:rPr dirty="0"/>
              <a:t> e da </a:t>
            </a:r>
            <a:r>
              <a:rPr dirty="0" err="1"/>
              <a:t>cosa</a:t>
            </a:r>
            <a:r>
              <a:rPr dirty="0"/>
              <a:t> Google ha </a:t>
            </a:r>
            <a:r>
              <a:rPr dirty="0" err="1"/>
              <a:t>deciso</a:t>
            </a:r>
            <a:r>
              <a:rPr dirty="0"/>
              <a:t> di </a:t>
            </a:r>
            <a:r>
              <a:rPr dirty="0" err="1"/>
              <a:t>supportare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 err="1"/>
              <a:t>Quindi</a:t>
            </a:r>
            <a:r>
              <a:rPr dirty="0"/>
              <a:t> </a:t>
            </a:r>
            <a:r>
              <a:rPr lang="it-IT" dirty="0"/>
              <a:t>abbiamo capito </a:t>
            </a:r>
            <a:r>
              <a:rPr dirty="0"/>
              <a:t>subito: Gemini Nano </a:t>
            </a:r>
            <a:r>
              <a:rPr dirty="0" err="1"/>
              <a:t>poteva</a:t>
            </a:r>
            <a:r>
              <a:rPr dirty="0"/>
              <a:t> </a:t>
            </a:r>
            <a:r>
              <a:rPr dirty="0" err="1"/>
              <a:t>essere</a:t>
            </a:r>
            <a:r>
              <a:rPr dirty="0"/>
              <a:t> un bonus, ma non </a:t>
            </a:r>
            <a:r>
              <a:rPr dirty="0" err="1"/>
              <a:t>poteva</a:t>
            </a:r>
            <a:r>
              <a:rPr dirty="0"/>
              <a:t> </a:t>
            </a:r>
            <a:r>
              <a:rPr dirty="0" err="1"/>
              <a:t>essere</a:t>
            </a:r>
            <a:r>
              <a:rPr dirty="0"/>
              <a:t> la base</a:t>
            </a:r>
            <a:r>
              <a:rPr lang="it-IT" dirty="0"/>
              <a:t> della nostra app.</a:t>
            </a:r>
          </a:p>
          <a:p>
            <a:r>
              <a:rPr dirty="0"/>
              <a:t>Ci </a:t>
            </a:r>
            <a:r>
              <a:rPr dirty="0" err="1"/>
              <a:t>serviva</a:t>
            </a:r>
            <a:r>
              <a:rPr dirty="0"/>
              <a:t> un piano B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girasse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tutti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telefoni</a:t>
            </a:r>
            <a:r>
              <a:rPr lang="it-IT" dirty="0"/>
              <a:t>, o quasi.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piano B era semplice, </a:t>
            </a:r>
            <a:r>
              <a:rPr lang="en-US" dirty="0" err="1"/>
              <a:t>almeno</a:t>
            </a:r>
            <a:r>
              <a:rPr lang="en-US" dirty="0"/>
              <a:t> </a:t>
            </a:r>
            <a:r>
              <a:rPr lang="en-US" dirty="0" err="1"/>
              <a:t>nella</a:t>
            </a:r>
            <a:r>
              <a:rPr lang="en-US" dirty="0"/>
              <a:t> nostra </a:t>
            </a:r>
            <a:r>
              <a:rPr lang="en-US" dirty="0" err="1"/>
              <a:t>testa</a:t>
            </a:r>
            <a:r>
              <a:rPr lang="en-US" dirty="0"/>
              <a:t>: un solo LLM </a:t>
            </a:r>
            <a:r>
              <a:rPr lang="en-US" dirty="0" err="1"/>
              <a:t>multimodale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fa </a:t>
            </a:r>
            <a:r>
              <a:rPr lang="en-US" dirty="0" err="1"/>
              <a:t>tutto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Abbiamo</a:t>
            </a:r>
            <a:r>
              <a:rPr lang="en-US" dirty="0"/>
              <a:t> </a:t>
            </a:r>
            <a:r>
              <a:rPr lang="en-US" dirty="0" err="1"/>
              <a:t>scelto</a:t>
            </a:r>
            <a:r>
              <a:rPr lang="en-US" dirty="0"/>
              <a:t> Gemma. La </a:t>
            </a:r>
            <a:r>
              <a:rPr lang="en-US" dirty="0" err="1"/>
              <a:t>versione</a:t>
            </a:r>
            <a:r>
              <a:rPr lang="en-US" dirty="0"/>
              <a:t> 4 E2B. </a:t>
            </a:r>
            <a:r>
              <a:rPr lang="en-US" dirty="0" err="1"/>
              <a:t>Quindi</a:t>
            </a:r>
            <a:r>
              <a:rPr lang="en-US" dirty="0"/>
              <a:t> Gemma, </a:t>
            </a:r>
            <a:r>
              <a:rPr lang="en-US" dirty="0" err="1"/>
              <a:t>quarta</a:t>
            </a:r>
            <a:r>
              <a:rPr lang="en-US" dirty="0"/>
              <a:t> </a:t>
            </a:r>
            <a:r>
              <a:rPr lang="en-US" dirty="0" err="1"/>
              <a:t>generazione</a:t>
            </a:r>
            <a:r>
              <a:rPr lang="en-US" dirty="0"/>
              <a:t>, 2 </a:t>
            </a:r>
            <a:r>
              <a:rPr lang="en-US" dirty="0" err="1"/>
              <a:t>miliardi</a:t>
            </a:r>
            <a:r>
              <a:rPr lang="en-US" dirty="0"/>
              <a:t> di </a:t>
            </a:r>
            <a:r>
              <a:rPr lang="en-US" dirty="0" err="1"/>
              <a:t>parametri</a:t>
            </a:r>
            <a:r>
              <a:rPr lang="en-US" dirty="0"/>
              <a:t> </a:t>
            </a:r>
            <a:r>
              <a:rPr lang="en-US" dirty="0" err="1"/>
              <a:t>effettivi</a:t>
            </a:r>
            <a:r>
              <a:rPr lang="en-US" dirty="0"/>
              <a:t>.</a:t>
            </a:r>
          </a:p>
          <a:p>
            <a:r>
              <a:rPr lang="en-US" dirty="0" err="1"/>
              <a:t>Pesi</a:t>
            </a:r>
            <a:r>
              <a:rPr lang="en-US" dirty="0"/>
              <a:t> </a:t>
            </a:r>
            <a:r>
              <a:rPr lang="en-US" dirty="0" err="1"/>
              <a:t>aperti</a:t>
            </a:r>
            <a:r>
              <a:rPr lang="en-US" dirty="0"/>
              <a:t>, </a:t>
            </a:r>
            <a:r>
              <a:rPr lang="en-US" dirty="0" err="1"/>
              <a:t>multimodale</a:t>
            </a:r>
            <a:r>
              <a:rPr lang="en-US" dirty="0"/>
              <a:t>, </a:t>
            </a:r>
            <a:r>
              <a:rPr lang="en-US" dirty="0" err="1"/>
              <a:t>ovvero</a:t>
            </a:r>
            <a:r>
              <a:rPr lang="en-US" dirty="0"/>
              <a:t> </a:t>
            </a:r>
            <a:r>
              <a:rPr lang="en-US" dirty="0" err="1"/>
              <a:t>visione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testo, e </a:t>
            </a:r>
            <a:r>
              <a:rPr lang="en-US" dirty="0" err="1"/>
              <a:t>gira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qualsiasi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, </a:t>
            </a:r>
            <a:r>
              <a:rPr lang="en-US" dirty="0" err="1"/>
              <a:t>perché</a:t>
            </a:r>
            <a:r>
              <a:rPr lang="en-US" dirty="0"/>
              <a:t> il </a:t>
            </a:r>
            <a:r>
              <a:rPr lang="en-US" dirty="0" err="1"/>
              <a:t>modello</a:t>
            </a:r>
            <a:r>
              <a:rPr lang="en-US" dirty="0"/>
              <a:t> lo </a:t>
            </a:r>
            <a:r>
              <a:rPr lang="en-US" dirty="0" err="1"/>
              <a:t>porti</a:t>
            </a:r>
            <a:r>
              <a:rPr lang="en-US" dirty="0"/>
              <a:t> </a:t>
            </a:r>
            <a:r>
              <a:rPr lang="en-US" dirty="0" err="1"/>
              <a:t>tu.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L’idea</a:t>
            </a:r>
            <a:r>
              <a:rPr lang="en-US" dirty="0"/>
              <a:t> </a:t>
            </a:r>
            <a:r>
              <a:rPr lang="en-US" dirty="0" err="1"/>
              <a:t>sembrava</a:t>
            </a:r>
            <a:r>
              <a:rPr lang="en-US" dirty="0"/>
              <a:t> elegante: un </a:t>
            </a:r>
            <a:r>
              <a:rPr lang="en-US" dirty="0" err="1"/>
              <a:t>modello</a:t>
            </a:r>
            <a:r>
              <a:rPr lang="en-US" dirty="0"/>
              <a:t>, due </a:t>
            </a:r>
            <a:r>
              <a:rPr lang="en-US" dirty="0" err="1"/>
              <a:t>compiti</a:t>
            </a:r>
            <a:r>
              <a:rPr lang="en-US" dirty="0"/>
              <a:t>.</a:t>
            </a:r>
          </a:p>
          <a:p>
            <a:r>
              <a:rPr lang="en-US" dirty="0"/>
              <a:t>Prima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chiedi</a:t>
            </a:r>
            <a:r>
              <a:rPr lang="en-US" dirty="0"/>
              <a:t> “</a:t>
            </a:r>
            <a:r>
              <a:rPr lang="en-US" dirty="0" err="1"/>
              <a:t>cosa</a:t>
            </a:r>
            <a:r>
              <a:rPr lang="en-US" dirty="0"/>
              <a:t> </a:t>
            </a:r>
            <a:r>
              <a:rPr lang="en-US" dirty="0" err="1"/>
              <a:t>c’è</a:t>
            </a:r>
            <a:r>
              <a:rPr lang="en-US" dirty="0"/>
              <a:t> in </a:t>
            </a:r>
            <a:r>
              <a:rPr lang="en-US" dirty="0" err="1"/>
              <a:t>questa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?”, e poi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chiedi</a:t>
            </a:r>
            <a:r>
              <a:rPr lang="en-US" dirty="0"/>
              <a:t> “Che </a:t>
            </a:r>
            <a:r>
              <a:rPr lang="en-US" dirty="0" err="1"/>
              <a:t>cosa</a:t>
            </a:r>
            <a:r>
              <a:rPr lang="en-US" dirty="0"/>
              <a:t> ci </a:t>
            </a:r>
            <a:r>
              <a:rPr lang="en-US" dirty="0" err="1"/>
              <a:t>cucino</a:t>
            </a:r>
            <a:r>
              <a:rPr lang="en-US" dirty="0"/>
              <a:t>?”.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l’abbiamo</a:t>
            </a:r>
            <a:r>
              <a:rPr lang="en-US" dirty="0"/>
              <a:t> </a:t>
            </a:r>
            <a:r>
              <a:rPr lang="en-US" dirty="0" err="1"/>
              <a:t>integrato</a:t>
            </a:r>
            <a:r>
              <a:rPr lang="en-US" dirty="0"/>
              <a:t>, e ha </a:t>
            </a:r>
            <a:r>
              <a:rPr lang="en-US" dirty="0" err="1"/>
              <a:t>funzionato</a:t>
            </a:r>
            <a:r>
              <a:rPr lang="en-US" dirty="0"/>
              <a:t>.</a:t>
            </a:r>
          </a:p>
          <a:p>
            <a:r>
              <a:rPr lang="en-US" dirty="0" err="1"/>
              <a:t>Ingredienti</a:t>
            </a:r>
            <a:r>
              <a:rPr lang="en-US" dirty="0"/>
              <a:t> </a:t>
            </a:r>
            <a:r>
              <a:rPr lang="en-US" dirty="0" err="1"/>
              <a:t>corretti</a:t>
            </a:r>
            <a:r>
              <a:rPr lang="en-US" dirty="0"/>
              <a:t>, JSON </a:t>
            </a:r>
            <a:r>
              <a:rPr lang="en-US" dirty="0" err="1"/>
              <a:t>valido</a:t>
            </a:r>
            <a:r>
              <a:rPr lang="en-US" dirty="0"/>
              <a:t>, </a:t>
            </a:r>
            <a:r>
              <a:rPr lang="en-US" dirty="0" err="1"/>
              <a:t>ricette</a:t>
            </a:r>
            <a:r>
              <a:rPr lang="en-US" dirty="0"/>
              <a:t> </a:t>
            </a:r>
            <a:r>
              <a:rPr lang="en-US" dirty="0" err="1"/>
              <a:t>vere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Il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riconosceva</a:t>
            </a:r>
            <a:r>
              <a:rPr lang="en-US" dirty="0"/>
              <a:t> le </a:t>
            </a:r>
            <a:r>
              <a:rPr lang="en-US" dirty="0" err="1"/>
              <a:t>uova</a:t>
            </a:r>
            <a:r>
              <a:rPr lang="en-US" dirty="0"/>
              <a:t>, </a:t>
            </a:r>
            <a:r>
              <a:rPr lang="en-US" dirty="0" err="1"/>
              <a:t>distingueva</a:t>
            </a:r>
            <a:r>
              <a:rPr lang="en-US" dirty="0"/>
              <a:t> lo yogurt dal latte, </a:t>
            </a:r>
            <a:r>
              <a:rPr lang="en-US" dirty="0" err="1"/>
              <a:t>rispettava</a:t>
            </a:r>
            <a:r>
              <a:rPr lang="en-US" dirty="0"/>
              <a:t> il </a:t>
            </a:r>
            <a:r>
              <a:rPr lang="en-US" dirty="0" err="1"/>
              <a:t>formato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chiedevamo</a:t>
            </a:r>
            <a:r>
              <a:rPr lang="en-US" dirty="0"/>
              <a:t>.</a:t>
            </a:r>
          </a:p>
          <a:p>
            <a:r>
              <a:rPr lang="en-US" dirty="0"/>
              <a:t>Dal punto di vista della </a:t>
            </a:r>
            <a:r>
              <a:rPr lang="en-US" dirty="0" err="1"/>
              <a:t>qualità</a:t>
            </a:r>
            <a:r>
              <a:rPr lang="en-US" dirty="0"/>
              <a:t>, </a:t>
            </a:r>
            <a:r>
              <a:rPr lang="en-US" dirty="0" err="1"/>
              <a:t>sembrava</a:t>
            </a:r>
            <a:r>
              <a:rPr lang="en-US" dirty="0"/>
              <a:t> </a:t>
            </a:r>
            <a:r>
              <a:rPr lang="en-US" dirty="0" err="1"/>
              <a:t>perfetto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i="1" dirty="0"/>
              <a:t>[pausa]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Però</a:t>
            </a:r>
            <a:r>
              <a:rPr lang="en-US" dirty="0"/>
              <a:t> ci </a:t>
            </a:r>
            <a:r>
              <a:rPr lang="en-US" dirty="0" err="1"/>
              <a:t>metteva</a:t>
            </a:r>
            <a:r>
              <a:rPr lang="en-US" dirty="0"/>
              <a:t> 5-10 </a:t>
            </a:r>
            <a:r>
              <a:rPr lang="en-US" dirty="0" err="1"/>
              <a:t>minuti</a:t>
            </a:r>
            <a:r>
              <a:rPr lang="en-US" dirty="0"/>
              <a:t> per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singola</a:t>
            </a:r>
            <a:r>
              <a:rPr lang="en-US" dirty="0"/>
              <a:t> </a:t>
            </a:r>
            <a:r>
              <a:rPr lang="en-US" dirty="0" err="1"/>
              <a:t>scansione</a:t>
            </a:r>
            <a:r>
              <a:rPr lang="en-US" dirty="0"/>
              <a:t>.</a:t>
            </a:r>
          </a:p>
          <a:p>
            <a:r>
              <a:rPr lang="en-US" dirty="0"/>
              <a:t>Su un </a:t>
            </a:r>
            <a:r>
              <a:rPr lang="en-US" dirty="0" err="1"/>
              <a:t>telefono</a:t>
            </a:r>
            <a:r>
              <a:rPr lang="en-US" dirty="0"/>
              <a:t> di fascia media, un Pixel 7.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</a:t>
            </a:r>
            <a:r>
              <a:rPr lang="en-US" dirty="0" err="1"/>
              <a:t>nessuno</a:t>
            </a:r>
            <a:r>
              <a:rPr lang="en-US" dirty="0"/>
              <a:t> </a:t>
            </a:r>
            <a:r>
              <a:rPr lang="en-US" dirty="0" err="1"/>
              <a:t>ovviamente</a:t>
            </a:r>
            <a:r>
              <a:rPr lang="en-US" dirty="0"/>
              <a:t> </a:t>
            </a:r>
            <a:r>
              <a:rPr lang="en-US" dirty="0" err="1"/>
              <a:t>inquadra</a:t>
            </a:r>
            <a:r>
              <a:rPr lang="en-US" dirty="0"/>
              <a:t> il </a:t>
            </a:r>
            <a:r>
              <a:rPr lang="en-US" dirty="0" err="1"/>
              <a:t>frigo</a:t>
            </a:r>
            <a:r>
              <a:rPr lang="en-US" dirty="0"/>
              <a:t> e </a:t>
            </a:r>
            <a:r>
              <a:rPr lang="en-US" dirty="0" err="1"/>
              <a:t>aspetta</a:t>
            </a:r>
            <a:r>
              <a:rPr lang="en-US" dirty="0"/>
              <a:t> </a:t>
            </a:r>
            <a:r>
              <a:rPr lang="en-US" dirty="0" err="1"/>
              <a:t>dieci</a:t>
            </a:r>
            <a:r>
              <a:rPr lang="en-US" dirty="0"/>
              <a:t> </a:t>
            </a:r>
            <a:r>
              <a:rPr lang="en-US" dirty="0" err="1"/>
              <a:t>minuti</a:t>
            </a:r>
            <a:r>
              <a:rPr lang="en-US" dirty="0"/>
              <a:t> per </a:t>
            </a:r>
            <a:r>
              <a:rPr lang="en-US" dirty="0" err="1"/>
              <a:t>avere</a:t>
            </a:r>
            <a:r>
              <a:rPr lang="en-US" dirty="0"/>
              <a:t> </a:t>
            </a:r>
            <a:r>
              <a:rPr lang="en-US" dirty="0" err="1"/>
              <a:t>un’idea</a:t>
            </a:r>
            <a:r>
              <a:rPr lang="en-US" dirty="0"/>
              <a:t> per la </a:t>
            </a:r>
            <a:r>
              <a:rPr lang="en-US" dirty="0" err="1"/>
              <a:t>cena</a:t>
            </a:r>
            <a:r>
              <a:rPr lang="en-US" dirty="0"/>
              <a:t>.</a:t>
            </a:r>
          </a:p>
          <a:p>
            <a:r>
              <a:rPr lang="en-US" dirty="0"/>
              <a:t>In </a:t>
            </a:r>
            <a:r>
              <a:rPr lang="en-US" dirty="0" err="1"/>
              <a:t>dieci</a:t>
            </a:r>
            <a:r>
              <a:rPr lang="en-US" dirty="0"/>
              <a:t> </a:t>
            </a:r>
            <a:r>
              <a:rPr lang="en-US" dirty="0" err="1"/>
              <a:t>minuti</a:t>
            </a:r>
            <a:r>
              <a:rPr lang="en-US" dirty="0"/>
              <a:t> </a:t>
            </a:r>
            <a:r>
              <a:rPr lang="en-US" dirty="0" err="1"/>
              <a:t>ordini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pizza e </a:t>
            </a:r>
            <a:r>
              <a:rPr lang="en-US" dirty="0" err="1"/>
              <a:t>ti</a:t>
            </a:r>
            <a:r>
              <a:rPr lang="en-US" dirty="0"/>
              <a:t> </a:t>
            </a:r>
            <a:r>
              <a:rPr lang="en-US" dirty="0" err="1"/>
              <a:t>arriva</a:t>
            </a:r>
            <a:r>
              <a:rPr lang="en-US" dirty="0"/>
              <a:t> a casa. </a:t>
            </a:r>
            <a:r>
              <a:rPr lang="en-US" i="1" dirty="0"/>
              <a:t>[pausa]</a:t>
            </a:r>
          </a:p>
          <a:p>
            <a:endParaRPr lang="en-US" i="1" dirty="0"/>
          </a:p>
          <a:p>
            <a:endParaRPr lang="en-US" dirty="0"/>
          </a:p>
          <a:p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avevamo</a:t>
            </a:r>
            <a:r>
              <a:rPr lang="en-US" dirty="0"/>
              <a:t> due </a:t>
            </a:r>
            <a:r>
              <a:rPr lang="en-US" dirty="0" err="1"/>
              <a:t>strade</a:t>
            </a:r>
            <a:r>
              <a:rPr lang="en-US" dirty="0"/>
              <a:t> (Gemini Nano e Gemma) e </a:t>
            </a:r>
            <a:r>
              <a:rPr lang="en-US" dirty="0" err="1"/>
              <a:t>nessuna</a:t>
            </a:r>
            <a:r>
              <a:rPr lang="en-US" dirty="0"/>
              <a:t> delle due </a:t>
            </a:r>
            <a:r>
              <a:rPr lang="en-US" dirty="0" err="1"/>
              <a:t>andava</a:t>
            </a:r>
            <a:r>
              <a:rPr lang="en-US" dirty="0"/>
              <a:t> bene: </a:t>
            </a:r>
            <a:r>
              <a:rPr lang="en-US" dirty="0" err="1"/>
              <a:t>una</a:t>
            </a:r>
            <a:r>
              <a:rPr lang="en-US" dirty="0"/>
              <a:t> veloce ma solo per </a:t>
            </a:r>
            <a:r>
              <a:rPr lang="en-US" dirty="0" err="1"/>
              <a:t>pochi</a:t>
            </a:r>
            <a:r>
              <a:rPr lang="en-US" dirty="0"/>
              <a:t>, e </a:t>
            </a:r>
            <a:r>
              <a:rPr lang="en-US" dirty="0" err="1"/>
              <a:t>una</a:t>
            </a:r>
            <a:r>
              <a:rPr lang="en-US" dirty="0"/>
              <a:t> per tutti ma </a:t>
            </a:r>
            <a:r>
              <a:rPr lang="en-US" dirty="0" err="1"/>
              <a:t>inutilizzabile</a:t>
            </a:r>
            <a:r>
              <a:rPr lang="en-US" dirty="0"/>
              <a:t>.</a:t>
            </a:r>
          </a:p>
          <a:p>
            <a:r>
              <a:rPr lang="en-US" dirty="0"/>
              <a:t>Come ne </a:t>
            </a:r>
            <a:r>
              <a:rPr lang="en-US" dirty="0" err="1"/>
              <a:t>siamo</a:t>
            </a:r>
            <a:r>
              <a:rPr lang="en-US" dirty="0"/>
              <a:t> </a:t>
            </a:r>
            <a:r>
              <a:rPr lang="en-US" dirty="0" err="1"/>
              <a:t>usciti</a:t>
            </a:r>
            <a:r>
              <a:rPr lang="en-US" dirty="0"/>
              <a:t>? Ve lo </a:t>
            </a:r>
            <a:r>
              <a:rPr lang="en-US" dirty="0" err="1"/>
              <a:t>raccontiamo</a:t>
            </a:r>
            <a:r>
              <a:rPr lang="en-US" dirty="0"/>
              <a:t> in cinque </a:t>
            </a:r>
            <a:r>
              <a:rPr lang="en-US" dirty="0" err="1"/>
              <a:t>capitoli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</a:t>
            </a:r>
            <a:r>
              <a:rPr lang="en-US" dirty="0" err="1"/>
              <a:t>è</a:t>
            </a:r>
            <a:r>
              <a:rPr lang="en-US" dirty="0"/>
              <a:t> la </a:t>
            </a:r>
            <a:r>
              <a:rPr lang="en-US" dirty="0" err="1"/>
              <a:t>mappa</a:t>
            </a:r>
            <a:r>
              <a:rPr lang="en-US" dirty="0"/>
              <a:t> del resto del talk.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Capitolo</a:t>
            </a:r>
            <a:r>
              <a:rPr lang="en-US" dirty="0"/>
              <a:t> 1: Gemini Nano, </a:t>
            </a:r>
            <a:r>
              <a:rPr lang="en-US" dirty="0" err="1"/>
              <a:t>tramite</a:t>
            </a:r>
            <a:r>
              <a:rPr lang="en-US" dirty="0"/>
              <a:t> Machine Learning Kit GenAI.</a:t>
            </a:r>
          </a:p>
          <a:p>
            <a:r>
              <a:rPr lang="en-US" dirty="0"/>
              <a:t>Come </a:t>
            </a:r>
            <a:r>
              <a:rPr lang="en-US" dirty="0" err="1"/>
              <a:t>usarlo</a:t>
            </a:r>
            <a:r>
              <a:rPr lang="en-US" dirty="0"/>
              <a:t> come un </a:t>
            </a:r>
            <a:r>
              <a:rPr lang="en-US" dirty="0" err="1"/>
              <a:t>acceleratore</a:t>
            </a:r>
            <a:r>
              <a:rPr lang="en-US" dirty="0"/>
              <a:t> </a:t>
            </a:r>
            <a:r>
              <a:rPr lang="en-US" dirty="0" err="1"/>
              <a:t>gratuito</a:t>
            </a:r>
            <a:r>
              <a:rPr lang="en-US" dirty="0"/>
              <a:t>, ma </a:t>
            </a:r>
            <a:r>
              <a:rPr lang="en-US" dirty="0" err="1"/>
              <a:t>mai</a:t>
            </a:r>
            <a:r>
              <a:rPr lang="en-US" dirty="0"/>
              <a:t> come la base della nostra app.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Capitolo</a:t>
            </a:r>
            <a:r>
              <a:rPr lang="en-US" dirty="0"/>
              <a:t> 2: un </a:t>
            </a:r>
            <a:r>
              <a:rPr lang="en-US" dirty="0" err="1"/>
              <a:t>modello</a:t>
            </a:r>
            <a:r>
              <a:rPr lang="en-US" dirty="0"/>
              <a:t> per </a:t>
            </a:r>
            <a:r>
              <a:rPr lang="en-US" dirty="0" err="1"/>
              <a:t>domarli</a:t>
            </a:r>
            <a:r>
              <a:rPr lang="en-US" dirty="0"/>
              <a:t> tutti (Gemma), e </a:t>
            </a:r>
            <a:r>
              <a:rPr lang="en-US" dirty="0" err="1"/>
              <a:t>perché</a:t>
            </a:r>
            <a:r>
              <a:rPr lang="en-US" dirty="0"/>
              <a:t> </a:t>
            </a:r>
            <a:r>
              <a:rPr lang="en-US" dirty="0" err="1"/>
              <a:t>andava</a:t>
            </a:r>
            <a:r>
              <a:rPr lang="en-US" dirty="0"/>
              <a:t> </a:t>
            </a:r>
            <a:r>
              <a:rPr lang="en-US" dirty="0" err="1"/>
              <a:t>così</a:t>
            </a:r>
            <a:r>
              <a:rPr lang="en-US" dirty="0"/>
              <a:t> lento.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Capitolo</a:t>
            </a:r>
            <a:r>
              <a:rPr lang="en-US" dirty="0"/>
              <a:t> 3: </a:t>
            </a:r>
            <a:r>
              <a:rPr lang="en-US" dirty="0" err="1"/>
              <a:t>rilevamento</a:t>
            </a:r>
            <a:r>
              <a:rPr lang="en-US" dirty="0"/>
              <a:t> zero-shot con MobileCLIP-S2.</a:t>
            </a:r>
          </a:p>
          <a:p>
            <a:r>
              <a:rPr lang="en-US" dirty="0"/>
              <a:t>Il </a:t>
            </a:r>
            <a:r>
              <a:rPr lang="en-US" dirty="0" err="1"/>
              <a:t>capitolo</a:t>
            </a:r>
            <a:r>
              <a:rPr lang="en-US" dirty="0"/>
              <a:t> in cui </a:t>
            </a:r>
            <a:r>
              <a:rPr lang="en-US" dirty="0" err="1"/>
              <a:t>siamo</a:t>
            </a:r>
            <a:r>
              <a:rPr lang="en-US" dirty="0"/>
              <a:t> </a:t>
            </a:r>
            <a:r>
              <a:rPr lang="en-US" dirty="0" err="1"/>
              <a:t>passati</a:t>
            </a:r>
            <a:r>
              <a:rPr lang="en-US" dirty="0"/>
              <a:t> da </a:t>
            </a:r>
            <a:r>
              <a:rPr lang="en-US" dirty="0" err="1"/>
              <a:t>minuti</a:t>
            </a:r>
            <a:r>
              <a:rPr lang="en-US" dirty="0"/>
              <a:t> a secondi.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Capitolo</a:t>
            </a:r>
            <a:r>
              <a:rPr lang="en-US" dirty="0"/>
              <a:t> 4: dove </a:t>
            </a:r>
            <a:r>
              <a:rPr lang="en-US" dirty="0" err="1"/>
              <a:t>l’LLM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guadagna</a:t>
            </a:r>
            <a:r>
              <a:rPr lang="en-US" dirty="0"/>
              <a:t> </a:t>
            </a:r>
            <a:r>
              <a:rPr lang="en-US" dirty="0" err="1"/>
              <a:t>davvero</a:t>
            </a:r>
            <a:r>
              <a:rPr lang="en-US" dirty="0"/>
              <a:t> il </a:t>
            </a:r>
            <a:r>
              <a:rPr lang="en-US" dirty="0" err="1"/>
              <a:t>suo</a:t>
            </a:r>
            <a:r>
              <a:rPr lang="en-US" dirty="0"/>
              <a:t> </a:t>
            </a:r>
            <a:r>
              <a:rPr lang="en-US" dirty="0" err="1"/>
              <a:t>posto</a:t>
            </a:r>
            <a:r>
              <a:rPr lang="en-US" dirty="0"/>
              <a:t>, </a:t>
            </a:r>
            <a:r>
              <a:rPr lang="en-US" dirty="0" err="1"/>
              <a:t>cioè</a:t>
            </a:r>
            <a:r>
              <a:rPr lang="en-US" dirty="0"/>
              <a:t> la </a:t>
            </a:r>
            <a:r>
              <a:rPr lang="en-US" dirty="0" err="1"/>
              <a:t>generazione</a:t>
            </a:r>
            <a:r>
              <a:rPr lang="en-US" dirty="0"/>
              <a:t> delle </a:t>
            </a:r>
            <a:r>
              <a:rPr lang="en-US" dirty="0" err="1"/>
              <a:t>ricette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</a:t>
            </a:r>
            <a:r>
              <a:rPr lang="en-US" dirty="0" err="1"/>
              <a:t>infine</a:t>
            </a:r>
            <a:r>
              <a:rPr lang="en-US" dirty="0"/>
              <a:t>, </a:t>
            </a:r>
            <a:r>
              <a:rPr lang="en-US" dirty="0" err="1"/>
              <a:t>capitolo</a:t>
            </a:r>
            <a:r>
              <a:rPr lang="en-US" dirty="0"/>
              <a:t> 5: la </a:t>
            </a:r>
            <a:r>
              <a:rPr lang="en-US" dirty="0" err="1"/>
              <a:t>distribuzione</a:t>
            </a:r>
            <a:r>
              <a:rPr lang="en-US" dirty="0"/>
              <a:t>.</a:t>
            </a:r>
          </a:p>
          <a:p>
            <a:r>
              <a:rPr lang="en-US" dirty="0" err="1"/>
              <a:t>Perché</a:t>
            </a:r>
            <a:r>
              <a:rPr lang="en-US" dirty="0"/>
              <a:t> ogni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arriva</a:t>
            </a:r>
            <a:r>
              <a:rPr lang="en-US" dirty="0"/>
              <a:t> </a:t>
            </a:r>
            <a:r>
              <a:rPr lang="en-US" dirty="0" err="1"/>
              <a:t>sul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 in un modo </a:t>
            </a:r>
            <a:r>
              <a:rPr lang="en-US" dirty="0" err="1"/>
              <a:t>diverso</a:t>
            </a:r>
            <a:r>
              <a:rPr lang="en-US" dirty="0"/>
              <a:t>, e </a:t>
            </a:r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conta</a:t>
            </a:r>
            <a:r>
              <a:rPr lang="en-US" dirty="0"/>
              <a:t> molto </a:t>
            </a:r>
            <a:r>
              <a:rPr lang="en-US" dirty="0" err="1"/>
              <a:t>più</a:t>
            </a:r>
            <a:r>
              <a:rPr lang="en-US" dirty="0"/>
              <a:t> di </a:t>
            </a:r>
            <a:r>
              <a:rPr lang="en-US" dirty="0" err="1"/>
              <a:t>quanto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possa</a:t>
            </a:r>
            <a:r>
              <a:rPr lang="en-US" dirty="0"/>
              <a:t> </a:t>
            </a:r>
            <a:r>
              <a:rPr lang="en-US" dirty="0" err="1"/>
              <a:t>pensare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 </a:t>
            </a:r>
            <a:r>
              <a:rPr lang="en-US" dirty="0" err="1"/>
              <a:t>spoilero</a:t>
            </a:r>
            <a:r>
              <a:rPr lang="en-US" dirty="0"/>
              <a:t> </a:t>
            </a:r>
            <a:r>
              <a:rPr lang="en-US" dirty="0" err="1"/>
              <a:t>già</a:t>
            </a:r>
            <a:r>
              <a:rPr lang="en-US" dirty="0"/>
              <a:t> il finale, </a:t>
            </a:r>
            <a:r>
              <a:rPr lang="en-US" dirty="0" err="1"/>
              <a:t>così</a:t>
            </a:r>
            <a:r>
              <a:rPr lang="en-US" dirty="0"/>
              <a:t> non </a:t>
            </a:r>
            <a:r>
              <a:rPr lang="en-US" dirty="0" err="1"/>
              <a:t>c’è</a:t>
            </a:r>
            <a:r>
              <a:rPr lang="en-US" dirty="0"/>
              <a:t> suspense: alla fine </a:t>
            </a:r>
            <a:r>
              <a:rPr lang="en-US" dirty="0" err="1"/>
              <a:t>abbiamo</a:t>
            </a:r>
            <a:r>
              <a:rPr lang="en-US" dirty="0"/>
              <a:t> </a:t>
            </a:r>
            <a:r>
              <a:rPr lang="en-US" dirty="0" err="1"/>
              <a:t>usato</a:t>
            </a:r>
            <a:r>
              <a:rPr lang="en-US" dirty="0"/>
              <a:t> tutti e 3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modelli</a:t>
            </a:r>
            <a:r>
              <a:rPr lang="en-US" dirty="0"/>
              <a:t>.</a:t>
            </a:r>
          </a:p>
          <a:p>
            <a:r>
              <a:rPr lang="en-US" dirty="0"/>
              <a:t>Ma </a:t>
            </a:r>
            <a:r>
              <a:rPr lang="en-US" dirty="0" err="1"/>
              <a:t>ognuno</a:t>
            </a:r>
            <a:r>
              <a:rPr lang="en-US" dirty="0"/>
              <a:t> per un </a:t>
            </a:r>
            <a:r>
              <a:rPr lang="en-US" dirty="0" err="1"/>
              <a:t>compito</a:t>
            </a:r>
            <a:r>
              <a:rPr lang="en-US" dirty="0"/>
              <a:t> </a:t>
            </a:r>
            <a:r>
              <a:rPr lang="en-US" dirty="0" err="1"/>
              <a:t>diverso</a:t>
            </a:r>
            <a:r>
              <a:rPr lang="en-US" dirty="0"/>
              <a:t>, e il punto </a:t>
            </a:r>
            <a:r>
              <a:rPr lang="en-US" dirty="0" err="1"/>
              <a:t>principale</a:t>
            </a:r>
            <a:r>
              <a:rPr lang="en-US" dirty="0"/>
              <a:t> di </a:t>
            </a:r>
            <a:r>
              <a:rPr lang="en-US" dirty="0" err="1"/>
              <a:t>questo</a:t>
            </a:r>
            <a:r>
              <a:rPr lang="en-US" dirty="0"/>
              <a:t> talk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capire</a:t>
            </a:r>
            <a:r>
              <a:rPr lang="en-US" dirty="0"/>
              <a:t> </a:t>
            </a:r>
            <a:r>
              <a:rPr lang="en-US" dirty="0" err="1"/>
              <a:t>perché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Capitolo</a:t>
            </a:r>
            <a:r>
              <a:rPr dirty="0"/>
              <a:t> uno. Il </a:t>
            </a:r>
            <a:r>
              <a:rPr dirty="0" err="1"/>
              <a:t>protagonista</a:t>
            </a:r>
            <a:r>
              <a:rPr dirty="0"/>
              <a:t>: Gemini Nano.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Gemini Nano </a:t>
            </a:r>
            <a:r>
              <a:rPr dirty="0" err="1"/>
              <a:t>è</a:t>
            </a:r>
            <a:r>
              <a:rPr dirty="0"/>
              <a:t> il </a:t>
            </a:r>
            <a:r>
              <a:rPr dirty="0" err="1"/>
              <a:t>membro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piccolo della </a:t>
            </a:r>
            <a:r>
              <a:rPr dirty="0" err="1"/>
              <a:t>famiglia</a:t>
            </a:r>
            <a:r>
              <a:rPr dirty="0"/>
              <a:t> Gemini di Google.</a:t>
            </a:r>
            <a:endParaRPr lang="it-IT" dirty="0"/>
          </a:p>
          <a:p>
            <a:r>
              <a:rPr dirty="0" err="1"/>
              <a:t>È</a:t>
            </a:r>
            <a:r>
              <a:rPr dirty="0"/>
              <a:t> 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distillato</a:t>
            </a:r>
            <a:r>
              <a:rPr dirty="0"/>
              <a:t> per </a:t>
            </a:r>
            <a:r>
              <a:rPr dirty="0" err="1"/>
              <a:t>girare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un </a:t>
            </a:r>
            <a:r>
              <a:rPr dirty="0" err="1"/>
              <a:t>telefono</a:t>
            </a:r>
            <a:r>
              <a:rPr dirty="0"/>
              <a:t>: </a:t>
            </a:r>
            <a:r>
              <a:rPr dirty="0" err="1"/>
              <a:t>stesso</a:t>
            </a:r>
            <a:r>
              <a:rPr dirty="0"/>
              <a:t> DNA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fratelli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girano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cloud, ma ridotto </a:t>
            </a:r>
            <a:r>
              <a:rPr dirty="0" err="1"/>
              <a:t>finché</a:t>
            </a:r>
            <a:r>
              <a:rPr dirty="0"/>
              <a:t> non </a:t>
            </a:r>
            <a:r>
              <a:rPr dirty="0" err="1"/>
              <a:t>entra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budget di memoria e </a:t>
            </a:r>
            <a:r>
              <a:rPr dirty="0" err="1"/>
              <a:t>nel</a:t>
            </a:r>
            <a:r>
              <a:rPr dirty="0"/>
              <a:t> budget </a:t>
            </a:r>
            <a:r>
              <a:rPr dirty="0" err="1"/>
              <a:t>termico</a:t>
            </a:r>
            <a:r>
              <a:rPr dirty="0"/>
              <a:t> di uno smartphone.</a:t>
            </a:r>
            <a:endParaRPr lang="it-IT" dirty="0"/>
          </a:p>
          <a:p>
            <a:r>
              <a:rPr dirty="0" err="1"/>
              <a:t>Perché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un </a:t>
            </a:r>
            <a:r>
              <a:rPr dirty="0" err="1"/>
              <a:t>telefono</a:t>
            </a:r>
            <a:r>
              <a:rPr dirty="0"/>
              <a:t> non </a:t>
            </a:r>
            <a:r>
              <a:rPr dirty="0" err="1"/>
              <a:t>conta</a:t>
            </a:r>
            <a:r>
              <a:rPr dirty="0"/>
              <a:t> solo </a:t>
            </a:r>
            <a:r>
              <a:rPr dirty="0" err="1"/>
              <a:t>quanto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veloce, </a:t>
            </a:r>
            <a:r>
              <a:rPr lang="it-IT" dirty="0"/>
              <a:t>ma</a:t>
            </a:r>
            <a:r>
              <a:rPr dirty="0"/>
              <a:t> </a:t>
            </a:r>
            <a:r>
              <a:rPr dirty="0" err="1"/>
              <a:t>anche</a:t>
            </a:r>
            <a:r>
              <a:rPr dirty="0"/>
              <a:t> </a:t>
            </a:r>
            <a:r>
              <a:rPr dirty="0" err="1"/>
              <a:t>quanto</a:t>
            </a:r>
            <a:r>
              <a:rPr dirty="0"/>
              <a:t> </a:t>
            </a:r>
            <a:r>
              <a:rPr dirty="0" err="1"/>
              <a:t>scalda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multimodale</a:t>
            </a:r>
            <a:r>
              <a:rPr dirty="0"/>
              <a:t>: </a:t>
            </a:r>
            <a:r>
              <a:rPr dirty="0" err="1"/>
              <a:t>foto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testo in </a:t>
            </a:r>
            <a:r>
              <a:rPr dirty="0" err="1"/>
              <a:t>ingresso</a:t>
            </a:r>
            <a:r>
              <a:rPr dirty="0"/>
              <a:t>, testo in </a:t>
            </a:r>
            <a:r>
              <a:rPr dirty="0" err="1"/>
              <a:t>uscita</a:t>
            </a:r>
            <a:r>
              <a:rPr dirty="0"/>
              <a:t>.</a:t>
            </a:r>
            <a:endParaRPr lang="it-IT" dirty="0"/>
          </a:p>
          <a:p>
            <a:r>
              <a:rPr dirty="0"/>
              <a:t>Ed era proprio il </a:t>
            </a:r>
            <a:r>
              <a:rPr dirty="0" err="1"/>
              <a:t>problema</a:t>
            </a:r>
            <a:r>
              <a:rPr lang="it-IT" dirty="0"/>
              <a:t> che volevamo risolvere con la nostra app</a:t>
            </a:r>
            <a:r>
              <a:rPr dirty="0"/>
              <a:t>: “</a:t>
            </a:r>
            <a:r>
              <a:rPr dirty="0" err="1"/>
              <a:t>guarda</a:t>
            </a:r>
            <a:r>
              <a:rPr dirty="0"/>
              <a:t>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frigo</a:t>
            </a:r>
            <a:r>
              <a:rPr dirty="0"/>
              <a:t>, </a:t>
            </a:r>
            <a:r>
              <a:rPr dirty="0" err="1"/>
              <a:t>dimmi</a:t>
            </a:r>
            <a:r>
              <a:rPr dirty="0"/>
              <a:t> </a:t>
            </a:r>
            <a:r>
              <a:rPr dirty="0" err="1"/>
              <a:t>cosa</a:t>
            </a:r>
            <a:r>
              <a:rPr dirty="0"/>
              <a:t> </a:t>
            </a:r>
            <a:r>
              <a:rPr dirty="0" err="1"/>
              <a:t>c’è</a:t>
            </a:r>
            <a:r>
              <a:rPr dirty="0"/>
              <a:t> </a:t>
            </a:r>
            <a:r>
              <a:rPr dirty="0" err="1"/>
              <a:t>dentro</a:t>
            </a:r>
            <a:r>
              <a:rPr dirty="0"/>
              <a:t>”.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Poi </a:t>
            </a:r>
            <a:r>
              <a:rPr dirty="0" err="1"/>
              <a:t>c’è</a:t>
            </a:r>
            <a:r>
              <a:rPr dirty="0"/>
              <a:t> un </a:t>
            </a:r>
            <a:r>
              <a:rPr dirty="0" err="1"/>
              <a:t>dettaglio</a:t>
            </a:r>
            <a:r>
              <a:rPr dirty="0"/>
              <a:t> </a:t>
            </a:r>
            <a:r>
              <a:rPr dirty="0" err="1"/>
              <a:t>architetturale</a:t>
            </a:r>
            <a:r>
              <a:rPr dirty="0"/>
              <a:t> </a:t>
            </a:r>
            <a:r>
              <a:rPr dirty="0" err="1"/>
              <a:t>importante</a:t>
            </a:r>
            <a:r>
              <a:rPr dirty="0"/>
              <a:t>: </a:t>
            </a:r>
            <a:r>
              <a:rPr dirty="0" err="1"/>
              <a:t>c’è</a:t>
            </a:r>
            <a:r>
              <a:rPr dirty="0"/>
              <a:t> un solo </a:t>
            </a:r>
            <a:r>
              <a:rPr dirty="0" err="1"/>
              <a:t>modello</a:t>
            </a:r>
            <a:r>
              <a:rPr dirty="0"/>
              <a:t>, </a:t>
            </a:r>
            <a:r>
              <a:rPr dirty="0" err="1"/>
              <a:t>condiviso</a:t>
            </a:r>
            <a:r>
              <a:rPr dirty="0"/>
              <a:t>, per </a:t>
            </a:r>
            <a:r>
              <a:rPr dirty="0" err="1"/>
              <a:t>dispositivo</a:t>
            </a:r>
            <a:r>
              <a:rPr dirty="0"/>
              <a:t>.</a:t>
            </a:r>
            <a:r>
              <a:rPr lang="it-IT" dirty="0"/>
              <a:t> </a:t>
            </a:r>
            <a:r>
              <a:rPr dirty="0"/>
              <a:t>Non uno per app. </a:t>
            </a:r>
            <a:endParaRPr lang="it-IT" dirty="0"/>
          </a:p>
          <a:p>
            <a:r>
              <a:rPr lang="it-IT" dirty="0"/>
              <a:t>V</a:t>
            </a:r>
            <a:r>
              <a:rPr dirty="0" err="1"/>
              <a:t>iene</a:t>
            </a:r>
            <a:r>
              <a:rPr dirty="0"/>
              <a:t> </a:t>
            </a:r>
            <a:r>
              <a:rPr dirty="0" err="1"/>
              <a:t>aggiornato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Google Play services, e a </a:t>
            </a:r>
            <a:r>
              <a:rPr dirty="0" err="1"/>
              <a:t>seconda</a:t>
            </a:r>
            <a:r>
              <a:rPr dirty="0"/>
              <a:t> del </a:t>
            </a:r>
            <a:r>
              <a:rPr dirty="0" err="1"/>
              <a:t>dispositivo</a:t>
            </a:r>
            <a:r>
              <a:rPr dirty="0"/>
              <a:t> </a:t>
            </a:r>
            <a:r>
              <a:rPr dirty="0" err="1"/>
              <a:t>può</a:t>
            </a:r>
            <a:r>
              <a:rPr dirty="0"/>
              <a:t> </a:t>
            </a:r>
            <a:r>
              <a:rPr dirty="0" err="1"/>
              <a:t>essere</a:t>
            </a:r>
            <a:r>
              <a:rPr dirty="0"/>
              <a:t> nano</a:t>
            </a:r>
            <a:r>
              <a:rPr lang="it-IT" dirty="0"/>
              <a:t> </a:t>
            </a:r>
            <a:r>
              <a:rPr dirty="0"/>
              <a:t>v2 o v3.</a:t>
            </a:r>
            <a:endParaRPr lang="it-IT" dirty="0"/>
          </a:p>
          <a:p>
            <a:r>
              <a:rPr dirty="0" err="1"/>
              <a:t>Quindi</a:t>
            </a:r>
            <a:r>
              <a:rPr dirty="0"/>
              <a:t> il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migliora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tempo </a:t>
            </a:r>
            <a:r>
              <a:rPr lang="it-IT" dirty="0"/>
              <a:t>senza rilasciare nuovi aggiornamenti dell’app.</a:t>
            </a:r>
          </a:p>
          <a:p>
            <a:endParaRPr dirty="0"/>
          </a:p>
          <a:p>
            <a:endParaRPr dirty="0"/>
          </a:p>
          <a:p>
            <a:r>
              <a:rPr lang="it-IT" dirty="0"/>
              <a:t>Si può </a:t>
            </a:r>
            <a:r>
              <a:rPr dirty="0" err="1"/>
              <a:t>usare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M</a:t>
            </a:r>
            <a:r>
              <a:rPr lang="it-IT" dirty="0" err="1"/>
              <a:t>achine</a:t>
            </a:r>
            <a:r>
              <a:rPr lang="it-IT" dirty="0"/>
              <a:t> </a:t>
            </a:r>
            <a:r>
              <a:rPr dirty="0"/>
              <a:t>L</a:t>
            </a:r>
            <a:r>
              <a:rPr lang="it-IT" dirty="0" err="1"/>
              <a:t>earning</a:t>
            </a:r>
            <a:r>
              <a:rPr dirty="0"/>
              <a:t> Kit GenAI,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espone</a:t>
            </a:r>
            <a:r>
              <a:rPr dirty="0"/>
              <a:t> </a:t>
            </a:r>
            <a:r>
              <a:rPr dirty="0" err="1"/>
              <a:t>sia</a:t>
            </a:r>
            <a:r>
              <a:rPr dirty="0"/>
              <a:t> API </a:t>
            </a:r>
            <a:r>
              <a:rPr dirty="0" err="1"/>
              <a:t>già</a:t>
            </a:r>
            <a:r>
              <a:rPr dirty="0"/>
              <a:t> </a:t>
            </a:r>
            <a:r>
              <a:rPr dirty="0" err="1"/>
              <a:t>pronte</a:t>
            </a:r>
            <a:r>
              <a:rPr dirty="0"/>
              <a:t>, come </a:t>
            </a:r>
            <a:r>
              <a:rPr dirty="0" err="1"/>
              <a:t>riassunti</a:t>
            </a:r>
            <a:r>
              <a:rPr dirty="0"/>
              <a:t> o </a:t>
            </a:r>
            <a:r>
              <a:rPr dirty="0" err="1"/>
              <a:t>riscrittura</a:t>
            </a:r>
            <a:r>
              <a:rPr dirty="0"/>
              <a:t> del testo, </a:t>
            </a:r>
            <a:r>
              <a:rPr dirty="0" err="1"/>
              <a:t>sia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Prompt API in cui il prompt </a:t>
            </a:r>
            <a:r>
              <a:rPr lang="it-IT" dirty="0"/>
              <a:t>lo possiamo scrivere noi.</a:t>
            </a:r>
          </a:p>
          <a:p>
            <a:r>
              <a:rPr lang="it-IT" dirty="0"/>
              <a:t>E </a:t>
            </a:r>
            <a:r>
              <a:rPr lang="it-IT" dirty="0" err="1"/>
              <a:t>n</a:t>
            </a:r>
            <a:r>
              <a:rPr dirty="0"/>
              <a:t>oi </a:t>
            </a:r>
            <a:r>
              <a:rPr dirty="0" err="1"/>
              <a:t>ovviamente</a:t>
            </a:r>
            <a:r>
              <a:rPr dirty="0"/>
              <a:t> 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usato</a:t>
            </a:r>
            <a:r>
              <a:rPr dirty="0"/>
              <a:t> la Prompt API.</a:t>
            </a:r>
            <a:endParaRPr lang="it-IT" dirty="0"/>
          </a:p>
          <a:p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E il </a:t>
            </a:r>
            <a:r>
              <a:rPr dirty="0" err="1"/>
              <a:t>costo</a:t>
            </a:r>
            <a:r>
              <a:rPr dirty="0"/>
              <a:t> per la </a:t>
            </a:r>
            <a:r>
              <a:rPr lang="it-IT" dirty="0"/>
              <a:t>tua</a:t>
            </a:r>
            <a:r>
              <a:rPr dirty="0"/>
              <a:t> app? Zero megabyte.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Ma come fa a </a:t>
            </a:r>
            <a:r>
              <a:rPr dirty="0" err="1"/>
              <a:t>costare</a:t>
            </a:r>
            <a:r>
              <a:rPr dirty="0"/>
              <a:t> zero? Dove </a:t>
            </a:r>
            <a:r>
              <a:rPr dirty="0" err="1"/>
              <a:t>sta</a:t>
            </a:r>
            <a:r>
              <a:rPr dirty="0"/>
              <a:t> il </a:t>
            </a:r>
            <a:r>
              <a:rPr dirty="0" err="1"/>
              <a:t>modello</a:t>
            </a:r>
            <a:r>
              <a:rPr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Il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vive</a:t>
            </a:r>
            <a:r>
              <a:rPr dirty="0"/>
              <a:t> in </a:t>
            </a:r>
            <a:r>
              <a:rPr dirty="0" err="1"/>
              <a:t>AICore</a:t>
            </a:r>
            <a:r>
              <a:rPr dirty="0"/>
              <a:t>, non nell</a:t>
            </a:r>
            <a:r>
              <a:rPr lang="it-IT" dirty="0"/>
              <a:t>'</a:t>
            </a:r>
            <a:r>
              <a:rPr dirty="0"/>
              <a:t>app.</a:t>
            </a:r>
          </a:p>
          <a:p>
            <a:br>
              <a:rPr lang="it-IT" dirty="0"/>
            </a:br>
            <a:endParaRPr dirty="0"/>
          </a:p>
          <a:p>
            <a:r>
              <a:rPr dirty="0" err="1"/>
              <a:t>AICore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un </a:t>
            </a:r>
            <a:r>
              <a:rPr dirty="0" err="1"/>
              <a:t>servizio</a:t>
            </a:r>
            <a:r>
              <a:rPr dirty="0"/>
              <a:t> di </a:t>
            </a:r>
            <a:r>
              <a:rPr dirty="0" err="1"/>
              <a:t>sistema</a:t>
            </a:r>
            <a:r>
              <a:rPr dirty="0"/>
              <a:t> di Android.</a:t>
            </a:r>
            <a:endParaRPr lang="it-IT" dirty="0"/>
          </a:p>
          <a:p>
            <a:r>
              <a:rPr dirty="0" err="1"/>
              <a:t>Gestisce</a:t>
            </a:r>
            <a:r>
              <a:rPr dirty="0"/>
              <a:t> </a:t>
            </a:r>
            <a:r>
              <a:rPr dirty="0" err="1"/>
              <a:t>lui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pesi</a:t>
            </a:r>
            <a:r>
              <a:rPr dirty="0"/>
              <a:t> del </a:t>
            </a:r>
            <a:r>
              <a:rPr dirty="0" err="1"/>
              <a:t>modello</a:t>
            </a:r>
            <a:r>
              <a:rPr dirty="0"/>
              <a:t>, lo storage, </a:t>
            </a:r>
            <a:r>
              <a:rPr dirty="0" err="1"/>
              <a:t>gli</a:t>
            </a:r>
            <a:r>
              <a:rPr dirty="0"/>
              <a:t> aggiornamenti e </a:t>
            </a:r>
            <a:r>
              <a:rPr dirty="0" err="1"/>
              <a:t>l’accelerazione</a:t>
            </a:r>
            <a:r>
              <a:rPr dirty="0"/>
              <a:t> hardware.</a:t>
            </a:r>
            <a:endParaRPr lang="it-IT" dirty="0"/>
          </a:p>
          <a:p>
            <a:r>
              <a:rPr dirty="0"/>
              <a:t>L</a:t>
            </a:r>
            <a:r>
              <a:rPr lang="it-IT" dirty="0"/>
              <a:t>’app </a:t>
            </a:r>
            <a:r>
              <a:rPr dirty="0"/>
              <a:t>non </a:t>
            </a:r>
            <a:r>
              <a:rPr dirty="0" err="1"/>
              <a:t>tocca</a:t>
            </a:r>
            <a:r>
              <a:rPr dirty="0"/>
              <a:t> </a:t>
            </a:r>
            <a:r>
              <a:rPr dirty="0" err="1"/>
              <a:t>mai</a:t>
            </a:r>
            <a:r>
              <a:rPr dirty="0"/>
              <a:t> un </a:t>
            </a:r>
            <a:r>
              <a:rPr dirty="0" err="1"/>
              <a:t>singolo</a:t>
            </a:r>
            <a:r>
              <a:rPr dirty="0"/>
              <a:t> file del </a:t>
            </a:r>
            <a:r>
              <a:rPr dirty="0" err="1"/>
              <a:t>modello</a:t>
            </a:r>
            <a:r>
              <a:rPr dirty="0"/>
              <a:t>.</a:t>
            </a:r>
            <a:endParaRPr lang="it-IT" dirty="0"/>
          </a:p>
          <a:p>
            <a:r>
              <a:rPr lang="it-IT" dirty="0"/>
              <a:t>Basta mandare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richiesta</a:t>
            </a:r>
            <a:r>
              <a:rPr dirty="0"/>
              <a:t>, </a:t>
            </a:r>
            <a:r>
              <a:rPr lang="it-IT" dirty="0"/>
              <a:t>ed </a:t>
            </a:r>
            <a:r>
              <a:rPr dirty="0" err="1"/>
              <a:t>AICore</a:t>
            </a:r>
            <a:r>
              <a:rPr dirty="0"/>
              <a:t> </a:t>
            </a:r>
            <a:r>
              <a:rPr dirty="0" err="1"/>
              <a:t>restituisce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risposta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le </a:t>
            </a:r>
            <a:r>
              <a:rPr dirty="0" err="1"/>
              <a:t>richieste</a:t>
            </a:r>
            <a:r>
              <a:rPr dirty="0"/>
              <a:t> </a:t>
            </a:r>
            <a:r>
              <a:rPr dirty="0" err="1"/>
              <a:t>possono</a:t>
            </a:r>
            <a:r>
              <a:rPr dirty="0"/>
              <a:t> </a:t>
            </a:r>
            <a:r>
              <a:rPr dirty="0" err="1"/>
              <a:t>essere</a:t>
            </a:r>
            <a:r>
              <a:rPr dirty="0"/>
              <a:t> </a:t>
            </a:r>
            <a:r>
              <a:rPr dirty="0" err="1"/>
              <a:t>multimodali</a:t>
            </a:r>
            <a:r>
              <a:rPr dirty="0"/>
              <a:t>: </a:t>
            </a:r>
            <a:r>
              <a:rPr dirty="0" err="1"/>
              <a:t>foto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testo in </a:t>
            </a:r>
            <a:r>
              <a:rPr dirty="0" err="1"/>
              <a:t>ingresso</a:t>
            </a:r>
            <a:r>
              <a:rPr dirty="0"/>
              <a:t>, testo in </a:t>
            </a:r>
            <a:r>
              <a:rPr dirty="0" err="1"/>
              <a:t>uscita</a:t>
            </a:r>
            <a:endParaRPr lang="it-IT" dirty="0"/>
          </a:p>
          <a:p>
            <a:r>
              <a:rPr dirty="0"/>
              <a:t>Tutto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gira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pesi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non </a:t>
            </a:r>
            <a:r>
              <a:rPr lang="it-IT" dirty="0"/>
              <a:t>serve</a:t>
            </a:r>
            <a:r>
              <a:rPr dirty="0"/>
              <a:t> </a:t>
            </a:r>
            <a:r>
              <a:rPr dirty="0" err="1"/>
              <a:t>mai</a:t>
            </a:r>
            <a:r>
              <a:rPr dirty="0"/>
              <a:t> </a:t>
            </a:r>
            <a:r>
              <a:rPr dirty="0" err="1"/>
              <a:t>distribuire</a:t>
            </a:r>
            <a:r>
              <a:rPr dirty="0"/>
              <a:t>, </a:t>
            </a:r>
            <a:r>
              <a:rPr dirty="0" err="1"/>
              <a:t>scaricare</a:t>
            </a:r>
            <a:r>
              <a:rPr dirty="0"/>
              <a:t>, </a:t>
            </a:r>
            <a:r>
              <a:rPr lang="it-IT" dirty="0"/>
              <a:t>o </a:t>
            </a:r>
            <a:r>
              <a:rPr dirty="0" err="1"/>
              <a:t>aggiornare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</a:t>
            </a:r>
            <a:r>
              <a:rPr dirty="0" err="1"/>
              <a:t>c’è</a:t>
            </a:r>
            <a:r>
              <a:rPr dirty="0"/>
              <a:t> un </a:t>
            </a:r>
            <a:r>
              <a:rPr dirty="0" err="1"/>
              <a:t>vantaggio</a:t>
            </a:r>
            <a:r>
              <a:rPr dirty="0"/>
              <a:t> </a:t>
            </a:r>
            <a:r>
              <a:rPr lang="it-IT" dirty="0"/>
              <a:t>da non sottovalutare</a:t>
            </a:r>
            <a:r>
              <a:rPr dirty="0"/>
              <a:t>: se </a:t>
            </a:r>
            <a:r>
              <a:rPr lang="it-IT" dirty="0"/>
              <a:t>10</a:t>
            </a:r>
            <a:r>
              <a:rPr dirty="0"/>
              <a:t> app </a:t>
            </a:r>
            <a:r>
              <a:rPr dirty="0" err="1"/>
              <a:t>sullo</a:t>
            </a:r>
            <a:r>
              <a:rPr dirty="0"/>
              <a:t> </a:t>
            </a:r>
            <a:r>
              <a:rPr dirty="0" err="1"/>
              <a:t>stesso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 </a:t>
            </a:r>
            <a:r>
              <a:rPr dirty="0" err="1"/>
              <a:t>usano</a:t>
            </a:r>
            <a:r>
              <a:rPr dirty="0"/>
              <a:t> Gemini Nano, il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sul</a:t>
            </a:r>
            <a:r>
              <a:rPr dirty="0"/>
              <a:t> disco </a:t>
            </a:r>
            <a:r>
              <a:rPr dirty="0" err="1"/>
              <a:t>è</a:t>
            </a:r>
            <a:r>
              <a:rPr dirty="0"/>
              <a:t> uno solo.</a:t>
            </a:r>
            <a:endParaRPr lang="it-IT" dirty="0"/>
          </a:p>
          <a:p>
            <a:r>
              <a:rPr dirty="0"/>
              <a:t>Non </a:t>
            </a:r>
            <a:r>
              <a:rPr dirty="0" err="1"/>
              <a:t>dieci</a:t>
            </a:r>
            <a:r>
              <a:rPr dirty="0"/>
              <a:t> </a:t>
            </a:r>
            <a:r>
              <a:rPr dirty="0" err="1"/>
              <a:t>copie</a:t>
            </a:r>
            <a:r>
              <a:rPr dirty="0"/>
              <a:t> da </a:t>
            </a:r>
            <a:r>
              <a:rPr dirty="0" err="1"/>
              <a:t>qualche</a:t>
            </a:r>
            <a:r>
              <a:rPr dirty="0"/>
              <a:t> gigabyte </a:t>
            </a:r>
            <a:r>
              <a:rPr dirty="0" err="1"/>
              <a:t>ciascuna</a:t>
            </a:r>
            <a:endParaRPr lang="it-IT" dirty="0"/>
          </a:p>
          <a:p>
            <a:r>
              <a:rPr dirty="0"/>
              <a:t>Per </a:t>
            </a:r>
            <a:r>
              <a:rPr dirty="0" err="1"/>
              <a:t>l’utente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un </a:t>
            </a:r>
            <a:r>
              <a:rPr dirty="0" err="1"/>
              <a:t>risparmio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 di </a:t>
            </a:r>
            <a:r>
              <a:rPr dirty="0" err="1"/>
              <a:t>spazio</a:t>
            </a:r>
            <a:r>
              <a:rPr dirty="0"/>
              <a:t>, e per </a:t>
            </a:r>
            <a:r>
              <a:rPr lang="it-IT" dirty="0"/>
              <a:t>chi sviluppa</a:t>
            </a:r>
            <a:r>
              <a:rPr dirty="0"/>
              <a:t> </a:t>
            </a:r>
            <a:r>
              <a:rPr lang="it-IT" dirty="0"/>
              <a:t>app </a:t>
            </a:r>
            <a:r>
              <a:rPr dirty="0" err="1"/>
              <a:t>è</a:t>
            </a:r>
            <a:r>
              <a:rPr dirty="0"/>
              <a:t> un </a:t>
            </a:r>
            <a:r>
              <a:rPr dirty="0" err="1"/>
              <a:t>problema</a:t>
            </a:r>
            <a:r>
              <a:rPr dirty="0"/>
              <a:t> in </a:t>
            </a:r>
            <a:r>
              <a:rPr dirty="0" err="1"/>
              <a:t>meno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Per </a:t>
            </a:r>
            <a:r>
              <a:rPr dirty="0" err="1"/>
              <a:t>noi</a:t>
            </a:r>
            <a:r>
              <a:rPr dirty="0"/>
              <a:t> </a:t>
            </a:r>
            <a:r>
              <a:rPr dirty="0" err="1"/>
              <a:t>sviluppatori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lang="it-IT" dirty="0"/>
              <a:t>quindi </a:t>
            </a:r>
            <a:r>
              <a:rPr dirty="0"/>
              <a:t>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mentale</a:t>
            </a:r>
            <a:r>
              <a:rPr dirty="0"/>
              <a:t> molto comodo: </a:t>
            </a:r>
            <a:r>
              <a:rPr dirty="0" err="1"/>
              <a:t>è</a:t>
            </a:r>
            <a:r>
              <a:rPr dirty="0"/>
              <a:t> come </a:t>
            </a:r>
            <a:r>
              <a:rPr dirty="0" err="1"/>
              <a:t>usare</a:t>
            </a:r>
            <a:r>
              <a:rPr dirty="0"/>
              <a:t> la </a:t>
            </a:r>
            <a:r>
              <a:rPr dirty="0" err="1"/>
              <a:t>fotocamera</a:t>
            </a:r>
            <a:r>
              <a:rPr dirty="0"/>
              <a:t> o il GPS.</a:t>
            </a:r>
            <a:endParaRPr lang="it-IT" dirty="0"/>
          </a:p>
          <a:p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lang="it-IT" dirty="0"/>
              <a:t>capability</a:t>
            </a:r>
            <a:r>
              <a:rPr dirty="0"/>
              <a:t> del </a:t>
            </a:r>
            <a:r>
              <a:rPr dirty="0" err="1"/>
              <a:t>sistema</a:t>
            </a:r>
            <a:r>
              <a:rPr dirty="0"/>
              <a:t>, non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cosa</a:t>
            </a:r>
            <a:r>
              <a:rPr lang="it-IT" dirty="0"/>
              <a:t> da impacchettare nell’app.</a:t>
            </a:r>
          </a:p>
          <a:p>
            <a:endParaRPr dirty="0"/>
          </a:p>
          <a:p>
            <a:endParaRPr dirty="0"/>
          </a:p>
          <a:p>
            <a:r>
              <a:rPr dirty="0"/>
              <a:t>Ma proprio </a:t>
            </a:r>
            <a:r>
              <a:rPr dirty="0" err="1"/>
              <a:t>perché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lang="it-IT" dirty="0"/>
              <a:t>capability</a:t>
            </a:r>
            <a:r>
              <a:rPr dirty="0"/>
              <a:t> del </a:t>
            </a:r>
            <a:r>
              <a:rPr dirty="0" err="1"/>
              <a:t>sistema</a:t>
            </a:r>
            <a:r>
              <a:rPr dirty="0"/>
              <a:t>, </a:t>
            </a:r>
            <a:r>
              <a:rPr dirty="0" err="1"/>
              <a:t>può</a:t>
            </a:r>
            <a:r>
              <a:rPr dirty="0"/>
              <a:t> </a:t>
            </a:r>
            <a:r>
              <a:rPr dirty="0" err="1"/>
              <a:t>esserci</a:t>
            </a:r>
            <a:r>
              <a:rPr dirty="0"/>
              <a:t> o non </a:t>
            </a:r>
            <a:r>
              <a:rPr dirty="0" err="1"/>
              <a:t>esserci</a:t>
            </a:r>
            <a:r>
              <a:rPr dirty="0"/>
              <a:t>.</a:t>
            </a:r>
            <a:endParaRPr lang="it-IT" dirty="0"/>
          </a:p>
          <a:p>
            <a:r>
              <a:rPr dirty="0"/>
              <a:t>E </a:t>
            </a:r>
            <a:r>
              <a:rPr dirty="0" err="1"/>
              <a:t>quindi</a:t>
            </a:r>
            <a:r>
              <a:rPr dirty="0"/>
              <a:t> </a:t>
            </a:r>
            <a:r>
              <a:rPr dirty="0" err="1"/>
              <a:t>l’integrazione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riduce</a:t>
            </a:r>
            <a:r>
              <a:rPr dirty="0"/>
              <a:t> a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dipendenza</a:t>
            </a:r>
            <a:r>
              <a:rPr dirty="0"/>
              <a:t> e a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</a:t>
            </a:r>
            <a:r>
              <a:rPr lang="en-US" dirty="0" err="1"/>
              <a:t>dipendenza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quella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vedete</a:t>
            </a:r>
            <a:r>
              <a:rPr lang="en-US" dirty="0"/>
              <a:t> </a:t>
            </a:r>
            <a:r>
              <a:rPr lang="en-US" dirty="0" err="1"/>
              <a:t>nella</a:t>
            </a:r>
            <a:r>
              <a:rPr lang="en-US" dirty="0"/>
              <a:t> prima </a:t>
            </a:r>
            <a:r>
              <a:rPr lang="en-US" dirty="0" err="1"/>
              <a:t>riga</a:t>
            </a:r>
            <a:r>
              <a:rPr lang="en-US" dirty="0"/>
              <a:t>: Machine Learning Kit GenAI Prompt API.</a:t>
            </a:r>
          </a:p>
          <a:p>
            <a:r>
              <a:rPr lang="en-US" dirty="0"/>
              <a:t>Poi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prende</a:t>
            </a:r>
            <a:r>
              <a:rPr lang="en-US" dirty="0"/>
              <a:t> il client con </a:t>
            </a:r>
            <a:r>
              <a:rPr lang="en-US" dirty="0" err="1"/>
              <a:t>Generation.getClient</a:t>
            </a:r>
            <a:r>
              <a:rPr lang="en-US" dirty="0"/>
              <a:t>().</a:t>
            </a:r>
          </a:p>
          <a:p>
            <a:endParaRPr lang="en-US" dirty="0"/>
          </a:p>
          <a:p>
            <a:endParaRPr lang="en-US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 ora la </a:t>
            </a:r>
            <a:r>
              <a:rPr lang="en-US" dirty="0" err="1"/>
              <a:t>regola</a:t>
            </a:r>
            <a:r>
              <a:rPr lang="en-US" dirty="0"/>
              <a:t>: prima di </a:t>
            </a:r>
            <a:r>
              <a:rPr lang="en-US" dirty="0" err="1"/>
              <a:t>chiamare</a:t>
            </a:r>
            <a:r>
              <a:rPr lang="en-US" dirty="0"/>
              <a:t> il </a:t>
            </a:r>
            <a:r>
              <a:rPr lang="en-US" dirty="0" err="1"/>
              <a:t>modello</a:t>
            </a:r>
            <a:r>
              <a:rPr lang="en-US" dirty="0"/>
              <a:t>, </a:t>
            </a:r>
            <a:r>
              <a:rPr lang="en-US" dirty="0" err="1"/>
              <a:t>bisogna</a:t>
            </a:r>
            <a:r>
              <a:rPr lang="en-US" dirty="0"/>
              <a:t> sempre </a:t>
            </a:r>
            <a:r>
              <a:rPr lang="en-US" dirty="0" err="1"/>
              <a:t>chiamare</a:t>
            </a:r>
            <a:r>
              <a:rPr lang="en-US" dirty="0"/>
              <a:t> </a:t>
            </a:r>
            <a:r>
              <a:rPr lang="en-US" dirty="0" err="1"/>
              <a:t>checkStatus</a:t>
            </a:r>
            <a:r>
              <a:rPr lang="en-US" dirty="0"/>
              <a:t>().</a:t>
            </a:r>
          </a:p>
          <a:p>
            <a:r>
              <a:rPr lang="en-US" dirty="0"/>
              <a:t>E </a:t>
            </a:r>
            <a:r>
              <a:rPr lang="en-US" dirty="0" err="1"/>
              <a:t>guardiamo</a:t>
            </a:r>
            <a:r>
              <a:rPr lang="en-US" dirty="0"/>
              <a:t> il </a:t>
            </a:r>
            <a:r>
              <a:rPr lang="en-US" dirty="0" err="1"/>
              <a:t>commento</a:t>
            </a:r>
            <a:r>
              <a:rPr lang="en-US" dirty="0"/>
              <a:t>: la </a:t>
            </a:r>
            <a:r>
              <a:rPr lang="en-US" dirty="0" err="1"/>
              <a:t>disponibilità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questione</a:t>
            </a:r>
            <a:r>
              <a:rPr lang="en-US" dirty="0"/>
              <a:t> di runtime, non di compile time.</a:t>
            </a:r>
          </a:p>
          <a:p>
            <a:r>
              <a:rPr lang="en-US" dirty="0"/>
              <a:t>Non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sapere</a:t>
            </a:r>
            <a:r>
              <a:rPr lang="en-US" dirty="0"/>
              <a:t> </a:t>
            </a:r>
            <a:r>
              <a:rPr lang="en-US" dirty="0" err="1"/>
              <a:t>finché</a:t>
            </a:r>
            <a:r>
              <a:rPr lang="en-US" dirty="0"/>
              <a:t> non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builda</a:t>
            </a:r>
            <a:r>
              <a:rPr lang="en-US" dirty="0"/>
              <a:t> </a:t>
            </a:r>
            <a:r>
              <a:rPr lang="en-US" dirty="0" err="1"/>
              <a:t>l’app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stati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ci </a:t>
            </a:r>
            <a:r>
              <a:rPr lang="en-US" dirty="0" err="1"/>
              <a:t>interessano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tre</a:t>
            </a:r>
            <a:r>
              <a:rPr lang="en-US" dirty="0"/>
              <a:t>.</a:t>
            </a:r>
          </a:p>
          <a:p>
            <a:r>
              <a:rPr lang="en-US" dirty="0"/>
              <a:t>AVAILABLE: il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c’è</a:t>
            </a:r>
            <a:r>
              <a:rPr lang="en-US" dirty="0"/>
              <a:t>, </a:t>
            </a:r>
            <a:r>
              <a:rPr lang="en-US" dirty="0" err="1"/>
              <a:t>è</a:t>
            </a:r>
            <a:r>
              <a:rPr lang="en-US" dirty="0"/>
              <a:t> pronto,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usare</a:t>
            </a:r>
            <a:r>
              <a:rPr lang="en-US" dirty="0"/>
              <a:t> Nano.</a:t>
            </a:r>
          </a:p>
          <a:p>
            <a:r>
              <a:rPr lang="en-US" dirty="0"/>
              <a:t>DOWNLOADABLE: il </a:t>
            </a:r>
            <a:r>
              <a:rPr lang="en-US" dirty="0" err="1"/>
              <a:t>dispositivo</a:t>
            </a:r>
            <a:r>
              <a:rPr lang="en-US" dirty="0"/>
              <a:t> lo </a:t>
            </a:r>
            <a:r>
              <a:rPr lang="en-US" dirty="0" err="1"/>
              <a:t>supporta</a:t>
            </a:r>
            <a:r>
              <a:rPr lang="en-US" dirty="0"/>
              <a:t>, ma il </a:t>
            </a:r>
            <a:r>
              <a:rPr lang="en-US" dirty="0" err="1"/>
              <a:t>modello</a:t>
            </a:r>
            <a:r>
              <a:rPr lang="en-US" dirty="0"/>
              <a:t> non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ancora</a:t>
            </a:r>
            <a:r>
              <a:rPr lang="en-US" dirty="0"/>
              <a:t> </a:t>
            </a:r>
            <a:r>
              <a:rPr lang="en-US" dirty="0" err="1"/>
              <a:t>stato</a:t>
            </a:r>
            <a:r>
              <a:rPr lang="en-US" dirty="0"/>
              <a:t> </a:t>
            </a:r>
            <a:r>
              <a:rPr lang="en-US" dirty="0" err="1"/>
              <a:t>scaricato</a:t>
            </a:r>
            <a:r>
              <a:rPr lang="en-US" dirty="0"/>
              <a:t>. In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 </a:t>
            </a:r>
            <a:r>
              <a:rPr lang="en-US" dirty="0" err="1"/>
              <a:t>lanciamo</a:t>
            </a:r>
            <a:r>
              <a:rPr lang="en-US" dirty="0"/>
              <a:t> il download in modo </a:t>
            </a:r>
            <a:r>
              <a:rPr lang="en-US" dirty="0" err="1"/>
              <a:t>opportunistico</a:t>
            </a:r>
            <a:r>
              <a:rPr lang="en-US" dirty="0"/>
              <a:t>, in background, ma </a:t>
            </a:r>
            <a:r>
              <a:rPr lang="en-US" dirty="0" err="1"/>
              <a:t>intanto</a:t>
            </a:r>
            <a:r>
              <a:rPr lang="en-US" dirty="0"/>
              <a:t>, per </a:t>
            </a:r>
            <a:r>
              <a:rPr lang="en-US" dirty="0" err="1"/>
              <a:t>questa</a:t>
            </a:r>
            <a:r>
              <a:rPr lang="en-US" dirty="0"/>
              <a:t> </a:t>
            </a:r>
            <a:r>
              <a:rPr lang="en-US" dirty="0" err="1"/>
              <a:t>richiesta</a:t>
            </a:r>
            <a:r>
              <a:rPr lang="en-US" dirty="0"/>
              <a:t>, </a:t>
            </a:r>
            <a:r>
              <a:rPr lang="en-US" dirty="0" err="1"/>
              <a:t>usiamo</a:t>
            </a:r>
            <a:r>
              <a:rPr lang="en-US" dirty="0"/>
              <a:t> il fallback. Non </a:t>
            </a:r>
            <a:r>
              <a:rPr lang="en-US" dirty="0" err="1"/>
              <a:t>facciamo</a:t>
            </a:r>
            <a:r>
              <a:rPr lang="en-US" dirty="0"/>
              <a:t> </a:t>
            </a:r>
            <a:r>
              <a:rPr lang="en-US" dirty="0" err="1"/>
              <a:t>aspettare</a:t>
            </a:r>
            <a:r>
              <a:rPr lang="en-US" dirty="0"/>
              <a:t> </a:t>
            </a:r>
            <a:r>
              <a:rPr lang="en-US" dirty="0" err="1"/>
              <a:t>l’utente</a:t>
            </a:r>
            <a:r>
              <a:rPr lang="en-US" dirty="0"/>
              <a:t>.</a:t>
            </a:r>
          </a:p>
          <a:p>
            <a:r>
              <a:rPr lang="en-US" dirty="0"/>
              <a:t>E in tutti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altri</a:t>
            </a:r>
            <a:r>
              <a:rPr lang="en-US" dirty="0"/>
              <a:t> </a:t>
            </a:r>
            <a:r>
              <a:rPr lang="en-US" dirty="0" err="1"/>
              <a:t>casi</a:t>
            </a:r>
            <a:r>
              <a:rPr lang="en-US" dirty="0"/>
              <a:t>, </a:t>
            </a:r>
            <a:r>
              <a:rPr lang="en-US" dirty="0" err="1"/>
              <a:t>cioè</a:t>
            </a:r>
            <a:r>
              <a:rPr lang="en-US" dirty="0"/>
              <a:t> </a:t>
            </a:r>
            <a:r>
              <a:rPr lang="en-US" dirty="0" err="1"/>
              <a:t>dispositivo</a:t>
            </a:r>
            <a:r>
              <a:rPr lang="en-US" dirty="0"/>
              <a:t> non </a:t>
            </a:r>
            <a:r>
              <a:rPr lang="en-US" dirty="0" err="1"/>
              <a:t>supportato</a:t>
            </a:r>
            <a:r>
              <a:rPr lang="en-US" dirty="0"/>
              <a:t>, fallback, </a:t>
            </a:r>
            <a:r>
              <a:rPr lang="en-US" dirty="0" err="1"/>
              <a:t>direttamente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Poi la </a:t>
            </a:r>
            <a:r>
              <a:rPr lang="en-US" dirty="0" err="1"/>
              <a:t>chiamata</a:t>
            </a:r>
            <a:r>
              <a:rPr lang="en-US" dirty="0"/>
              <a:t> vera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banale</a:t>
            </a:r>
            <a:r>
              <a:rPr lang="en-US" dirty="0"/>
              <a:t>: </a:t>
            </a:r>
            <a:r>
              <a:rPr lang="en-US" dirty="0" err="1"/>
              <a:t>generateContent</a:t>
            </a:r>
            <a:r>
              <a:rPr lang="en-US" dirty="0"/>
              <a:t> con </a:t>
            </a:r>
            <a:r>
              <a:rPr lang="en-US" dirty="0" err="1"/>
              <a:t>un’ImagePart</a:t>
            </a:r>
            <a:r>
              <a:rPr lang="en-US" dirty="0"/>
              <a:t>, </a:t>
            </a:r>
            <a:r>
              <a:rPr lang="en-US" dirty="0" err="1"/>
              <a:t>cioè</a:t>
            </a:r>
            <a:r>
              <a:rPr lang="en-US" dirty="0"/>
              <a:t> il bitmap della </a:t>
            </a:r>
            <a:r>
              <a:rPr lang="en-US" dirty="0" err="1"/>
              <a:t>foto</a:t>
            </a:r>
            <a:r>
              <a:rPr lang="en-US" dirty="0"/>
              <a:t>, 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TextPart</a:t>
            </a:r>
            <a:r>
              <a:rPr lang="en-US" dirty="0"/>
              <a:t> con il prompt.</a:t>
            </a:r>
          </a:p>
          <a:p>
            <a:r>
              <a:rPr lang="en-US" dirty="0" err="1"/>
              <a:t>Temperatura</a:t>
            </a:r>
            <a:r>
              <a:rPr lang="en-US" dirty="0"/>
              <a:t> </a:t>
            </a:r>
            <a:r>
              <a:rPr lang="en-US" dirty="0" err="1"/>
              <a:t>bassa</a:t>
            </a:r>
            <a:r>
              <a:rPr lang="en-US" dirty="0"/>
              <a:t> in </a:t>
            </a:r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, 0.2, </a:t>
            </a:r>
            <a:r>
              <a:rPr lang="en-US" dirty="0" err="1"/>
              <a:t>perché</a:t>
            </a:r>
            <a:r>
              <a:rPr lang="en-US" dirty="0"/>
              <a:t> qui non </a:t>
            </a:r>
            <a:r>
              <a:rPr lang="en-US" dirty="0" err="1"/>
              <a:t>vogliamo</a:t>
            </a:r>
            <a:r>
              <a:rPr lang="en-US" dirty="0"/>
              <a:t> </a:t>
            </a:r>
            <a:r>
              <a:rPr lang="en-US" dirty="0" err="1"/>
              <a:t>creatività</a:t>
            </a:r>
            <a:r>
              <a:rPr lang="en-US" dirty="0"/>
              <a:t>: </a:t>
            </a:r>
            <a:r>
              <a:rPr lang="en-US" dirty="0" err="1"/>
              <a:t>vogliamo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lista</a:t>
            </a:r>
            <a:r>
              <a:rPr lang="en-US" dirty="0"/>
              <a:t> di </a:t>
            </a:r>
            <a:r>
              <a:rPr lang="en-US" dirty="0" err="1"/>
              <a:t>ingredienti</a:t>
            </a:r>
            <a:r>
              <a:rPr lang="en-US" dirty="0"/>
              <a:t> </a:t>
            </a:r>
            <a:r>
              <a:rPr lang="en-US" dirty="0" err="1"/>
              <a:t>affidabile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</a:t>
            </a:r>
            <a:r>
              <a:rPr lang="en-US" dirty="0" err="1"/>
              <a:t>notiamo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, </a:t>
            </a:r>
            <a:r>
              <a:rPr lang="en-US" dirty="0" err="1"/>
              <a:t>nel</a:t>
            </a:r>
            <a:r>
              <a:rPr lang="en-US" dirty="0"/>
              <a:t> nostro </a:t>
            </a:r>
            <a:r>
              <a:rPr lang="en-US" dirty="0" err="1"/>
              <a:t>codice</a:t>
            </a:r>
            <a:r>
              <a:rPr lang="en-US" dirty="0"/>
              <a:t>, il fallback non </a:t>
            </a:r>
            <a:r>
              <a:rPr lang="en-US" dirty="0" err="1"/>
              <a:t>è</a:t>
            </a:r>
            <a:r>
              <a:rPr lang="en-US" dirty="0"/>
              <a:t> un </a:t>
            </a:r>
            <a:r>
              <a:rPr lang="en-US" dirty="0" err="1"/>
              <a:t>messaggio</a:t>
            </a:r>
            <a:r>
              <a:rPr lang="en-US" dirty="0"/>
              <a:t> di </a:t>
            </a:r>
            <a:r>
              <a:rPr lang="en-US" dirty="0" err="1"/>
              <a:t>errore</a:t>
            </a:r>
            <a:r>
              <a:rPr lang="en-US" dirty="0"/>
              <a:t>: </a:t>
            </a:r>
            <a:r>
              <a:rPr lang="en-US" dirty="0" err="1"/>
              <a:t>è</a:t>
            </a:r>
            <a:r>
              <a:rPr lang="en-US" dirty="0"/>
              <a:t> un </a:t>
            </a:r>
            <a:r>
              <a:rPr lang="en-US" dirty="0" err="1"/>
              <a:t>altro</a:t>
            </a:r>
            <a:r>
              <a:rPr lang="en-US" dirty="0"/>
              <a:t> </a:t>
            </a:r>
            <a:r>
              <a:rPr lang="en-US" dirty="0" err="1"/>
              <a:t>motore</a:t>
            </a:r>
            <a:r>
              <a:rPr lang="en-US" dirty="0"/>
              <a:t> di </a:t>
            </a:r>
            <a:r>
              <a:rPr lang="en-US" dirty="0" err="1"/>
              <a:t>rilevamento</a:t>
            </a:r>
            <a:r>
              <a:rPr lang="en-US" dirty="0"/>
              <a:t>,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vedremo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poco.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La </a:t>
            </a:r>
            <a:r>
              <a:rPr lang="en-US" dirty="0" err="1"/>
              <a:t>cosa</a:t>
            </a:r>
            <a:r>
              <a:rPr lang="en-US" dirty="0"/>
              <a:t> da </a:t>
            </a:r>
            <a:r>
              <a:rPr lang="en-US" dirty="0" err="1"/>
              <a:t>portarsi</a:t>
            </a:r>
            <a:r>
              <a:rPr lang="en-US" dirty="0"/>
              <a:t> a casa </a:t>
            </a:r>
            <a:r>
              <a:rPr lang="en-US" dirty="0" err="1"/>
              <a:t>è</a:t>
            </a:r>
            <a:r>
              <a:rPr lang="en-US" dirty="0"/>
              <a:t> la nota in basso: lo </a:t>
            </a:r>
            <a:r>
              <a:rPr lang="en-US" dirty="0" err="1"/>
              <a:t>stesso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rispondere</a:t>
            </a:r>
            <a:r>
              <a:rPr lang="en-US" dirty="0"/>
              <a:t> in modo </a:t>
            </a:r>
            <a:r>
              <a:rPr lang="en-US" dirty="0" err="1"/>
              <a:t>diverso</a:t>
            </a:r>
            <a:r>
              <a:rPr lang="en-US" dirty="0"/>
              <a:t> </a:t>
            </a:r>
            <a:r>
              <a:rPr lang="en-US" dirty="0" err="1"/>
              <a:t>nel</a:t>
            </a:r>
            <a:r>
              <a:rPr lang="en-US" dirty="0"/>
              <a:t> tempo.</a:t>
            </a:r>
          </a:p>
          <a:p>
            <a:r>
              <a:rPr lang="en-US" dirty="0"/>
              <a:t>Oggi il </a:t>
            </a:r>
            <a:r>
              <a:rPr lang="en-US" dirty="0" err="1"/>
              <a:t>modello</a:t>
            </a:r>
            <a:r>
              <a:rPr lang="en-US" dirty="0"/>
              <a:t> non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ancora</a:t>
            </a:r>
            <a:r>
              <a:rPr lang="en-US" dirty="0"/>
              <a:t> </a:t>
            </a:r>
            <a:r>
              <a:rPr lang="en-US" dirty="0" err="1"/>
              <a:t>scaricato</a:t>
            </a:r>
            <a:r>
              <a:rPr lang="en-US" dirty="0"/>
              <a:t>, </a:t>
            </a:r>
            <a:r>
              <a:rPr lang="en-US" dirty="0" err="1"/>
              <a:t>domani</a:t>
            </a:r>
            <a:r>
              <a:rPr lang="en-US" dirty="0"/>
              <a:t> </a:t>
            </a:r>
            <a:r>
              <a:rPr lang="en-US" dirty="0" err="1"/>
              <a:t>sì</a:t>
            </a:r>
            <a:r>
              <a:rPr lang="en-US" dirty="0"/>
              <a:t>, </a:t>
            </a:r>
            <a:r>
              <a:rPr lang="en-US" dirty="0" err="1"/>
              <a:t>dopodomani</a:t>
            </a:r>
            <a:r>
              <a:rPr lang="en-US" dirty="0"/>
              <a:t> il </a:t>
            </a:r>
            <a:r>
              <a:rPr lang="en-US" dirty="0" err="1"/>
              <a:t>sistema</a:t>
            </a:r>
            <a:r>
              <a:rPr lang="en-US" dirty="0"/>
              <a:t> lo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rimuovere</a:t>
            </a:r>
            <a:r>
              <a:rPr lang="en-US" dirty="0"/>
              <a:t> per </a:t>
            </a:r>
            <a:r>
              <a:rPr lang="en-US" dirty="0" err="1"/>
              <a:t>liberare</a:t>
            </a:r>
            <a:r>
              <a:rPr lang="en-US" dirty="0"/>
              <a:t> </a:t>
            </a:r>
            <a:r>
              <a:rPr lang="en-US" dirty="0" err="1"/>
              <a:t>spazio</a:t>
            </a:r>
            <a:r>
              <a:rPr lang="en-US" dirty="0"/>
              <a:t>.</a:t>
            </a:r>
          </a:p>
          <a:p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quel</a:t>
            </a:r>
            <a:r>
              <a:rPr lang="en-US" dirty="0"/>
              <a:t> check non </a:t>
            </a:r>
            <a:r>
              <a:rPr lang="en-US" dirty="0" err="1"/>
              <a:t>si</a:t>
            </a:r>
            <a:r>
              <a:rPr lang="en-US" dirty="0"/>
              <a:t> fa </a:t>
            </a:r>
            <a:r>
              <a:rPr lang="en-US" dirty="0" err="1"/>
              <a:t>una</a:t>
            </a:r>
            <a:r>
              <a:rPr lang="en-US" dirty="0"/>
              <a:t> volta </a:t>
            </a:r>
            <a:r>
              <a:rPr lang="en-US" dirty="0" err="1"/>
              <a:t>all’avvio</a:t>
            </a:r>
            <a:r>
              <a:rPr lang="en-US" dirty="0"/>
              <a:t>: </a:t>
            </a:r>
            <a:r>
              <a:rPr lang="en-US" dirty="0" err="1"/>
              <a:t>si</a:t>
            </a:r>
            <a:r>
              <a:rPr lang="en-US" dirty="0"/>
              <a:t> fa ogni volta.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Bene. Qui Nano </a:t>
            </a:r>
            <a:r>
              <a:rPr lang="en-US" dirty="0" err="1"/>
              <a:t>risolve</a:t>
            </a:r>
            <a:r>
              <a:rPr lang="en-US" dirty="0"/>
              <a:t> il </a:t>
            </a:r>
            <a:r>
              <a:rPr lang="en-US" dirty="0" err="1"/>
              <a:t>problema</a:t>
            </a:r>
            <a:r>
              <a:rPr lang="en-US" dirty="0"/>
              <a:t> sui flagship.</a:t>
            </a:r>
          </a:p>
          <a:p>
            <a:r>
              <a:rPr lang="en-US" dirty="0"/>
              <a:t>Ma non per tutti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altri</a:t>
            </a:r>
            <a:r>
              <a:rPr lang="en-US" dirty="0"/>
              <a:t>. 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torniamo</a:t>
            </a:r>
            <a:r>
              <a:rPr lang="en-US" dirty="0"/>
              <a:t> al nostro piano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STEFANO</a:t>
            </a:r>
            <a:r>
              <a:rPr b="1" dirty="0"/>
              <a:t>:</a:t>
            </a:r>
          </a:p>
          <a:p>
            <a:r>
              <a:rPr dirty="0" err="1"/>
              <a:t>Capitolo</a:t>
            </a:r>
            <a:r>
              <a:rPr dirty="0"/>
              <a:t> due. Il </a:t>
            </a:r>
            <a:r>
              <a:rPr dirty="0" err="1"/>
              <a:t>protagonista</a:t>
            </a:r>
            <a:r>
              <a:rPr dirty="0"/>
              <a:t>: Gemma 4 E2B.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Gemma </a:t>
            </a:r>
            <a:r>
              <a:rPr dirty="0" err="1"/>
              <a:t>è</a:t>
            </a:r>
            <a:r>
              <a:rPr dirty="0"/>
              <a:t> la </a:t>
            </a:r>
            <a:r>
              <a:rPr dirty="0" err="1"/>
              <a:t>famiglia</a:t>
            </a:r>
            <a:r>
              <a:rPr dirty="0"/>
              <a:t> open-weights di Google.</a:t>
            </a:r>
            <a:endParaRPr lang="it-IT" dirty="0"/>
          </a:p>
          <a:p>
            <a:r>
              <a:rPr dirty="0" err="1"/>
              <a:t>Potete</a:t>
            </a:r>
            <a:r>
              <a:rPr dirty="0"/>
              <a:t> </a:t>
            </a:r>
            <a:r>
              <a:rPr dirty="0" err="1"/>
              <a:t>pensarla</a:t>
            </a:r>
            <a:r>
              <a:rPr dirty="0"/>
              <a:t> come il </a:t>
            </a:r>
            <a:r>
              <a:rPr dirty="0" err="1"/>
              <a:t>fratello</a:t>
            </a:r>
            <a:r>
              <a:rPr dirty="0"/>
              <a:t> </a:t>
            </a:r>
            <a:r>
              <a:rPr dirty="0" err="1"/>
              <a:t>scaricabile</a:t>
            </a:r>
            <a:r>
              <a:rPr dirty="0"/>
              <a:t> di Gemini.</a:t>
            </a:r>
            <a:endParaRPr lang="it-IT" dirty="0"/>
          </a:p>
          <a:p>
            <a:r>
              <a:rPr dirty="0"/>
              <a:t>I </a:t>
            </a:r>
            <a:r>
              <a:rPr dirty="0" err="1"/>
              <a:t>pesi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vostri</a:t>
            </a:r>
            <a:r>
              <a:rPr dirty="0"/>
              <a:t>: li </a:t>
            </a:r>
            <a:r>
              <a:rPr dirty="0" err="1"/>
              <a:t>includete</a:t>
            </a:r>
            <a:r>
              <a:rPr dirty="0"/>
              <a:t> e li </a:t>
            </a:r>
            <a:r>
              <a:rPr dirty="0" err="1"/>
              <a:t>distribuite</a:t>
            </a:r>
            <a:r>
              <a:rPr dirty="0"/>
              <a:t> con la </a:t>
            </a:r>
            <a:r>
              <a:rPr dirty="0" err="1"/>
              <a:t>vostra</a:t>
            </a:r>
            <a:r>
              <a:rPr dirty="0"/>
              <a:t> app.</a:t>
            </a:r>
            <a:endParaRPr lang="it-IT" dirty="0"/>
          </a:p>
          <a:p>
            <a:r>
              <a:rPr dirty="0" err="1"/>
              <a:t>Nessuna</a:t>
            </a:r>
            <a:r>
              <a:rPr dirty="0"/>
              <a:t> </a:t>
            </a:r>
            <a:r>
              <a:rPr dirty="0" err="1"/>
              <a:t>fatturazione</a:t>
            </a:r>
            <a:r>
              <a:rPr dirty="0"/>
              <a:t> per </a:t>
            </a:r>
            <a:r>
              <a:rPr dirty="0" err="1"/>
              <a:t>chiamata</a:t>
            </a:r>
            <a:r>
              <a:rPr dirty="0"/>
              <a:t>, </a:t>
            </a:r>
            <a:r>
              <a:rPr dirty="0" err="1"/>
              <a:t>nessun</a:t>
            </a:r>
            <a:r>
              <a:rPr dirty="0"/>
              <a:t> server.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Cosa </a:t>
            </a:r>
            <a:r>
              <a:rPr dirty="0" err="1"/>
              <a:t>vuol</a:t>
            </a:r>
            <a:r>
              <a:rPr dirty="0"/>
              <a:t> dire “4 E2B”? Quarta </a:t>
            </a:r>
            <a:r>
              <a:rPr dirty="0" err="1"/>
              <a:t>generazione</a:t>
            </a:r>
            <a:r>
              <a:rPr dirty="0"/>
              <a:t>, e 2 </a:t>
            </a:r>
            <a:r>
              <a:rPr dirty="0" err="1"/>
              <a:t>miliardi</a:t>
            </a:r>
            <a:r>
              <a:rPr dirty="0"/>
              <a:t> di </a:t>
            </a:r>
            <a:r>
              <a:rPr dirty="0" err="1"/>
              <a:t>parametri</a:t>
            </a:r>
            <a:r>
              <a:rPr dirty="0"/>
              <a:t> </a:t>
            </a:r>
            <a:r>
              <a:rPr dirty="0" err="1"/>
              <a:t>effettivi</a:t>
            </a:r>
            <a:r>
              <a:rPr dirty="0"/>
              <a:t>.</a:t>
            </a:r>
            <a:endParaRPr lang="it-IT" dirty="0"/>
          </a:p>
          <a:p>
            <a:r>
              <a:rPr dirty="0"/>
              <a:t>Quella “E” </a:t>
            </a:r>
            <a:r>
              <a:rPr dirty="0" err="1"/>
              <a:t>sta</a:t>
            </a:r>
            <a:r>
              <a:rPr dirty="0"/>
              <a:t> per effective: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progettato</a:t>
            </a:r>
            <a:r>
              <a:rPr dirty="0"/>
              <a:t> </a:t>
            </a:r>
            <a:r>
              <a:rPr dirty="0" err="1"/>
              <a:t>apposta</a:t>
            </a:r>
            <a:r>
              <a:rPr dirty="0"/>
              <a:t> per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telefoni</a:t>
            </a:r>
            <a:r>
              <a:rPr dirty="0"/>
              <a:t>, con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trucchi</a:t>
            </a:r>
            <a:r>
              <a:rPr dirty="0"/>
              <a:t> di memoria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danno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qualità</a:t>
            </a:r>
            <a:r>
              <a:rPr dirty="0"/>
              <a:t> da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grande, ma con </a:t>
            </a:r>
            <a:r>
              <a:rPr dirty="0" err="1"/>
              <a:t>un’impronta</a:t>
            </a:r>
            <a:r>
              <a:rPr dirty="0"/>
              <a:t> di RAM da </a:t>
            </a:r>
            <a:r>
              <a:rPr dirty="0" err="1"/>
              <a:t>telefono</a:t>
            </a:r>
            <a:r>
              <a:rPr dirty="0"/>
              <a:t>.</a:t>
            </a:r>
            <a:endParaRPr lang="it-IT" dirty="0"/>
          </a:p>
          <a:p>
            <a:r>
              <a:rPr dirty="0"/>
              <a:t>Ed </a:t>
            </a:r>
            <a:r>
              <a:rPr dirty="0" err="1"/>
              <a:t>è</a:t>
            </a:r>
            <a:r>
              <a:rPr dirty="0"/>
              <a:t> instruction-tuned, </a:t>
            </a:r>
            <a:r>
              <a:rPr dirty="0" err="1"/>
              <a:t>quindi</a:t>
            </a:r>
            <a:r>
              <a:rPr dirty="0"/>
              <a:t> segue bene le </a:t>
            </a:r>
            <a:r>
              <a:rPr dirty="0" err="1"/>
              <a:t>istruzioni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multimodale</a:t>
            </a:r>
            <a:r>
              <a:rPr dirty="0"/>
              <a:t>: </a:t>
            </a:r>
            <a:r>
              <a:rPr dirty="0" err="1"/>
              <a:t>c’è</a:t>
            </a:r>
            <a:r>
              <a:rPr dirty="0"/>
              <a:t> un vision encoder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alimenta</a:t>
            </a:r>
            <a:r>
              <a:rPr dirty="0"/>
              <a:t> il language model.</a:t>
            </a:r>
            <a:endParaRPr lang="it-IT" dirty="0"/>
          </a:p>
          <a:p>
            <a:r>
              <a:rPr dirty="0" err="1"/>
              <a:t>Quindi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guardare</a:t>
            </a:r>
            <a:r>
              <a:rPr dirty="0"/>
              <a:t> e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scrivere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Esattamente</a:t>
            </a:r>
            <a:r>
              <a:rPr dirty="0"/>
              <a:t> </a:t>
            </a:r>
            <a:r>
              <a:rPr dirty="0" err="1"/>
              <a:t>quello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serve a uno scanner per il </a:t>
            </a:r>
            <a:r>
              <a:rPr dirty="0" err="1"/>
              <a:t>frigo</a:t>
            </a:r>
            <a:r>
              <a:rPr dirty="0"/>
              <a:t>, e in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può</a:t>
            </a:r>
            <a:r>
              <a:rPr dirty="0"/>
              <a:t> </a:t>
            </a:r>
            <a:r>
              <a:rPr dirty="0" err="1"/>
              <a:t>generare</a:t>
            </a:r>
            <a:r>
              <a:rPr dirty="0"/>
              <a:t> </a:t>
            </a:r>
            <a:r>
              <a:rPr dirty="0" err="1"/>
              <a:t>anche</a:t>
            </a:r>
            <a:r>
              <a:rPr dirty="0"/>
              <a:t> le </a:t>
            </a:r>
            <a:r>
              <a:rPr dirty="0" err="1"/>
              <a:t>ricette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E </a:t>
            </a:r>
            <a:r>
              <a:rPr dirty="0" err="1"/>
              <a:t>gira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</a:t>
            </a:r>
            <a:r>
              <a:rPr dirty="0" err="1"/>
              <a:t>LiteRT</a:t>
            </a:r>
            <a:r>
              <a:rPr dirty="0"/>
              <a:t>-LM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qualsiasi</a:t>
            </a:r>
            <a:r>
              <a:rPr dirty="0"/>
              <a:t> Android.</a:t>
            </a:r>
            <a:endParaRPr lang="it-IT" dirty="0"/>
          </a:p>
          <a:p>
            <a:r>
              <a:rPr lang="it-IT" dirty="0"/>
              <a:t>Non </a:t>
            </a:r>
            <a:r>
              <a:rPr dirty="0" err="1"/>
              <a:t>dipende</a:t>
            </a:r>
            <a:r>
              <a:rPr dirty="0"/>
              <a:t> da quale chip ha </a:t>
            </a:r>
            <a:r>
              <a:rPr dirty="0" err="1"/>
              <a:t>l’utente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Un </a:t>
            </a:r>
            <a:r>
              <a:rPr dirty="0" err="1"/>
              <a:t>modello</a:t>
            </a:r>
            <a:r>
              <a:rPr dirty="0"/>
              <a:t>, </a:t>
            </a:r>
            <a:r>
              <a:rPr dirty="0" err="1"/>
              <a:t>un’integrazione</a:t>
            </a:r>
            <a:r>
              <a:rPr dirty="0"/>
              <a:t>, due </a:t>
            </a:r>
            <a:r>
              <a:rPr dirty="0" err="1"/>
              <a:t>compiti</a:t>
            </a:r>
            <a:r>
              <a:rPr dirty="0"/>
              <a:t>: </a:t>
            </a:r>
            <a:r>
              <a:rPr dirty="0" err="1"/>
              <a:t>rilevamento</a:t>
            </a:r>
            <a:r>
              <a:rPr dirty="0"/>
              <a:t> e </a:t>
            </a:r>
            <a:r>
              <a:rPr dirty="0" err="1"/>
              <a:t>ricette</a:t>
            </a:r>
            <a:r>
              <a:rPr dirty="0"/>
              <a:t>.</a:t>
            </a:r>
            <a:endParaRPr lang="it-IT" dirty="0"/>
          </a:p>
          <a:p>
            <a:r>
              <a:rPr dirty="0"/>
              <a:t>Per chi non lo </a:t>
            </a:r>
            <a:r>
              <a:rPr dirty="0" err="1"/>
              <a:t>conosce</a:t>
            </a:r>
            <a:r>
              <a:rPr dirty="0"/>
              <a:t>, </a:t>
            </a:r>
            <a:r>
              <a:rPr dirty="0" err="1"/>
              <a:t>LiteRT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il nuovo </a:t>
            </a:r>
            <a:r>
              <a:rPr dirty="0" err="1"/>
              <a:t>nome</a:t>
            </a:r>
            <a:r>
              <a:rPr dirty="0"/>
              <a:t> di TensorFlow Lite, e </a:t>
            </a:r>
            <a:r>
              <a:rPr dirty="0" err="1"/>
              <a:t>LiteRT</a:t>
            </a:r>
            <a:r>
              <a:rPr dirty="0"/>
              <a:t>-LM </a:t>
            </a:r>
            <a:r>
              <a:rPr dirty="0" err="1"/>
              <a:t>è</a:t>
            </a:r>
            <a:r>
              <a:rPr dirty="0"/>
              <a:t> la </a:t>
            </a:r>
            <a:r>
              <a:rPr dirty="0" err="1"/>
              <a:t>sua</a:t>
            </a:r>
            <a:r>
              <a:rPr dirty="0"/>
              <a:t> </a:t>
            </a:r>
            <a:r>
              <a:rPr dirty="0" err="1"/>
              <a:t>estensione</a:t>
            </a:r>
            <a:r>
              <a:rPr dirty="0"/>
              <a:t> </a:t>
            </a:r>
            <a:r>
              <a:rPr dirty="0" err="1"/>
              <a:t>pensata</a:t>
            </a:r>
            <a:r>
              <a:rPr dirty="0"/>
              <a:t> </a:t>
            </a:r>
            <a:r>
              <a:rPr dirty="0" err="1"/>
              <a:t>apposta</a:t>
            </a:r>
            <a:r>
              <a:rPr dirty="0"/>
              <a:t> per far </a:t>
            </a:r>
            <a:r>
              <a:rPr dirty="0" err="1"/>
              <a:t>girare</a:t>
            </a:r>
            <a:r>
              <a:rPr dirty="0"/>
              <a:t> language model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dispositivo</a:t>
            </a:r>
            <a:r>
              <a:rPr dirty="0"/>
              <a:t>: </a:t>
            </a:r>
            <a:r>
              <a:rPr dirty="0" err="1"/>
              <a:t>gestisce</a:t>
            </a:r>
            <a:r>
              <a:rPr dirty="0"/>
              <a:t> </a:t>
            </a:r>
            <a:r>
              <a:rPr dirty="0" err="1"/>
              <a:t>tokenizzazione</a:t>
            </a:r>
            <a:r>
              <a:rPr dirty="0"/>
              <a:t>, cache, </a:t>
            </a:r>
            <a:r>
              <a:rPr dirty="0" err="1"/>
              <a:t>sessioni</a:t>
            </a:r>
            <a:r>
              <a:rPr dirty="0"/>
              <a:t> di conversazione, e </a:t>
            </a:r>
            <a:r>
              <a:rPr dirty="0" err="1"/>
              <a:t>sceglie</a:t>
            </a:r>
            <a:r>
              <a:rPr dirty="0"/>
              <a:t> CPU o GPU.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 err="1"/>
              <a:t>Sembrava</a:t>
            </a:r>
            <a:r>
              <a:rPr dirty="0"/>
              <a:t> </a:t>
            </a:r>
            <a:r>
              <a:rPr dirty="0" err="1"/>
              <a:t>l’architettura</a:t>
            </a:r>
            <a:r>
              <a:rPr dirty="0"/>
              <a:t> </a:t>
            </a:r>
            <a:r>
              <a:rPr dirty="0" err="1"/>
              <a:t>perfetta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Vediamo</a:t>
            </a:r>
            <a:r>
              <a:rPr dirty="0"/>
              <a:t> come </a:t>
            </a:r>
            <a:r>
              <a:rPr dirty="0" err="1"/>
              <a:t>l’abbiamo</a:t>
            </a:r>
            <a:r>
              <a:rPr dirty="0"/>
              <a:t> </a:t>
            </a:r>
            <a:r>
              <a:rPr dirty="0" err="1"/>
              <a:t>usato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L’approccio</a:t>
            </a:r>
            <a:r>
              <a:rPr lang="en-US" dirty="0"/>
              <a:t> era: </a:t>
            </a:r>
            <a:r>
              <a:rPr lang="en-US" dirty="0" err="1"/>
              <a:t>chiedi</a:t>
            </a:r>
            <a:r>
              <a:rPr lang="en-US" dirty="0"/>
              <a:t> </a:t>
            </a:r>
            <a:r>
              <a:rPr lang="en-US" dirty="0" err="1"/>
              <a:t>all’LLM</a:t>
            </a:r>
            <a:r>
              <a:rPr lang="en-US" dirty="0"/>
              <a:t> di </a:t>
            </a:r>
            <a:r>
              <a:rPr lang="en-US" dirty="0" err="1"/>
              <a:t>guardare</a:t>
            </a:r>
            <a:r>
              <a:rPr lang="en-US" dirty="0"/>
              <a:t>, e poi di </a:t>
            </a:r>
            <a:r>
              <a:rPr lang="en-US" dirty="0" err="1"/>
              <a:t>scrivere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, </a:t>
            </a:r>
            <a:r>
              <a:rPr lang="en-US" dirty="0" err="1"/>
              <a:t>più</a:t>
            </a:r>
            <a:r>
              <a:rPr lang="en-US" dirty="0"/>
              <a:t> o </a:t>
            </a:r>
            <a:r>
              <a:rPr lang="en-US" dirty="0" err="1"/>
              <a:t>meno</a:t>
            </a:r>
            <a:r>
              <a:rPr lang="en-US" dirty="0"/>
              <a:t>, il prompt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usavamo</a:t>
            </a:r>
            <a:r>
              <a:rPr lang="en-US" dirty="0"/>
              <a:t>. </a:t>
            </a:r>
          </a:p>
          <a:p>
            <a:r>
              <a:rPr lang="en-US" dirty="0"/>
              <a:t>“Questa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</a:t>
            </a:r>
            <a:r>
              <a:rPr lang="en-US" dirty="0" err="1"/>
              <a:t>dell’interno</a:t>
            </a:r>
            <a:r>
              <a:rPr lang="en-US" dirty="0"/>
              <a:t> di un </a:t>
            </a:r>
            <a:r>
              <a:rPr lang="en-US" dirty="0" err="1"/>
              <a:t>frigorifero</a:t>
            </a:r>
            <a:r>
              <a:rPr lang="en-US" dirty="0"/>
              <a:t>. </a:t>
            </a:r>
            <a:r>
              <a:rPr lang="en-US" dirty="0" err="1"/>
              <a:t>Identifica</a:t>
            </a:r>
            <a:r>
              <a:rPr lang="en-US" dirty="0"/>
              <a:t>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ingredienti</a:t>
            </a:r>
            <a:r>
              <a:rPr lang="en-US" dirty="0"/>
              <a:t> </a:t>
            </a:r>
            <a:r>
              <a:rPr lang="en-US" dirty="0" err="1"/>
              <a:t>alimentari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vedi</a:t>
            </a:r>
            <a:r>
              <a:rPr lang="en-US" dirty="0"/>
              <a:t>, al </a:t>
            </a:r>
            <a:r>
              <a:rPr lang="en-US" dirty="0" err="1"/>
              <a:t>massimo</a:t>
            </a:r>
            <a:r>
              <a:rPr lang="en-US" dirty="0"/>
              <a:t> 15.</a:t>
            </a:r>
          </a:p>
          <a:p>
            <a:r>
              <a:rPr lang="en-US" dirty="0" err="1"/>
              <a:t>Rispondi</a:t>
            </a:r>
            <a:r>
              <a:rPr lang="en-US" dirty="0"/>
              <a:t> solo con un array JSON, niente markdown, </a:t>
            </a:r>
            <a:r>
              <a:rPr lang="en-US" dirty="0" err="1"/>
              <a:t>nessun</a:t>
            </a:r>
            <a:r>
              <a:rPr lang="en-US" dirty="0"/>
              <a:t> testo extra.” </a:t>
            </a:r>
          </a:p>
          <a:p>
            <a:endParaRPr lang="en-US" dirty="0"/>
          </a:p>
          <a:p>
            <a:r>
              <a:rPr lang="en-US" dirty="0"/>
              <a:t>E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diamo</a:t>
            </a:r>
            <a:r>
              <a:rPr lang="en-US" dirty="0"/>
              <a:t> lo schema: </a:t>
            </a:r>
            <a:r>
              <a:rPr lang="en-US" dirty="0" err="1"/>
              <a:t>nome</a:t>
            </a:r>
            <a:r>
              <a:rPr lang="en-US" dirty="0"/>
              <a:t> e </a:t>
            </a:r>
            <a:r>
              <a:rPr lang="en-US" dirty="0" err="1"/>
              <a:t>quantità</a:t>
            </a:r>
            <a:r>
              <a:rPr lang="en-US" dirty="0"/>
              <a:t> </a:t>
            </a:r>
            <a:r>
              <a:rPr lang="en-US" dirty="0" err="1"/>
              <a:t>approssimativa</a:t>
            </a:r>
            <a:r>
              <a:rPr lang="en-US" dirty="0"/>
              <a:t>. E </a:t>
            </a:r>
            <a:r>
              <a:rPr lang="en-US" dirty="0" err="1"/>
              <a:t>infine</a:t>
            </a:r>
            <a:r>
              <a:rPr lang="en-US" dirty="0"/>
              <a:t>: “</a:t>
            </a:r>
            <a:r>
              <a:rPr lang="en-US" dirty="0" err="1"/>
              <a:t>includi</a:t>
            </a:r>
            <a:r>
              <a:rPr lang="en-US" dirty="0"/>
              <a:t> solo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elementi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vedi</a:t>
            </a:r>
            <a:r>
              <a:rPr lang="en-US" dirty="0"/>
              <a:t> </a:t>
            </a:r>
            <a:r>
              <a:rPr lang="en-US" dirty="0" err="1"/>
              <a:t>davvero</a:t>
            </a:r>
            <a:r>
              <a:rPr lang="en-US" dirty="0"/>
              <a:t>”, per </a:t>
            </a:r>
            <a:r>
              <a:rPr lang="en-US" dirty="0" err="1"/>
              <a:t>limitare</a:t>
            </a:r>
            <a:r>
              <a:rPr lang="en-US" dirty="0"/>
              <a:t> le </a:t>
            </a:r>
            <a:r>
              <a:rPr lang="en-US" dirty="0" err="1"/>
              <a:t>allucinazioni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Poi </a:t>
            </a:r>
            <a:r>
              <a:rPr lang="en-US" dirty="0" err="1"/>
              <a:t>mandiamo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e prompt </a:t>
            </a:r>
            <a:r>
              <a:rPr lang="en-US" dirty="0" err="1"/>
              <a:t>nella</a:t>
            </a:r>
            <a:r>
              <a:rPr lang="en-US" dirty="0"/>
              <a:t> conversazione, </a:t>
            </a:r>
            <a:r>
              <a:rPr lang="en-US" dirty="0" err="1"/>
              <a:t>prendiamo</a:t>
            </a:r>
            <a:r>
              <a:rPr lang="en-US" dirty="0"/>
              <a:t> il testo, </a:t>
            </a:r>
            <a:r>
              <a:rPr lang="en-US" dirty="0" err="1"/>
              <a:t>facciamo</a:t>
            </a:r>
            <a:r>
              <a:rPr lang="en-US" dirty="0"/>
              <a:t> il parsing del JSON, e se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malformato</a:t>
            </a:r>
            <a:r>
              <a:rPr lang="en-US" dirty="0"/>
              <a:t> </a:t>
            </a:r>
            <a:r>
              <a:rPr lang="en-US" dirty="0" err="1"/>
              <a:t>riproviamo</a:t>
            </a:r>
            <a:r>
              <a:rPr lang="en-US" dirty="0"/>
              <a:t> in </a:t>
            </a:r>
            <a:r>
              <a:rPr lang="en-US" dirty="0" err="1"/>
              <a:t>silenzio</a:t>
            </a:r>
            <a:r>
              <a:rPr lang="en-US" dirty="0"/>
              <a:t>. Ci </a:t>
            </a:r>
            <a:r>
              <a:rPr lang="en-US" dirty="0" err="1"/>
              <a:t>torneremo</a:t>
            </a:r>
            <a:r>
              <a:rPr lang="en-US" dirty="0"/>
              <a:t>,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questo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 </a:t>
            </a:r>
            <a:r>
              <a:rPr lang="en-US" dirty="0" err="1"/>
              <a:t>notare</a:t>
            </a:r>
            <a:r>
              <a:rPr lang="en-US" dirty="0"/>
              <a:t> </a:t>
            </a:r>
            <a:r>
              <a:rPr lang="en-US" dirty="0" err="1"/>
              <a:t>anche</a:t>
            </a:r>
            <a:r>
              <a:rPr lang="en-US" dirty="0"/>
              <a:t> il </a:t>
            </a:r>
            <a:r>
              <a:rPr lang="en-US" dirty="0" err="1"/>
              <a:t>limite</a:t>
            </a:r>
            <a:r>
              <a:rPr lang="en-US" dirty="0"/>
              <a:t> di </a:t>
            </a:r>
            <a:r>
              <a:rPr lang="en-US" dirty="0" err="1"/>
              <a:t>quindici</a:t>
            </a:r>
            <a:r>
              <a:rPr lang="en-US" dirty="0"/>
              <a:t> </a:t>
            </a:r>
            <a:r>
              <a:rPr lang="en-US" dirty="0" err="1"/>
              <a:t>elementi</a:t>
            </a:r>
            <a:r>
              <a:rPr lang="en-US" dirty="0"/>
              <a:t>: non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casuale</a:t>
            </a:r>
            <a:r>
              <a:rPr lang="en-US" dirty="0"/>
              <a:t>.</a:t>
            </a:r>
          </a:p>
          <a:p>
            <a:r>
              <a:rPr lang="en-US" dirty="0"/>
              <a:t>Ogni </a:t>
            </a:r>
            <a:r>
              <a:rPr lang="en-US" dirty="0" err="1"/>
              <a:t>ingrediente</a:t>
            </a:r>
            <a:r>
              <a:rPr lang="en-US" dirty="0"/>
              <a:t> in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risposta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token in </a:t>
            </a:r>
            <a:r>
              <a:rPr lang="en-US" dirty="0" err="1"/>
              <a:t>più</a:t>
            </a:r>
            <a:r>
              <a:rPr lang="en-US" dirty="0"/>
              <a:t> da </a:t>
            </a:r>
            <a:r>
              <a:rPr lang="en-US" dirty="0" err="1"/>
              <a:t>generare</a:t>
            </a:r>
            <a:r>
              <a:rPr lang="en-US" dirty="0"/>
              <a:t>, e, come </a:t>
            </a:r>
            <a:r>
              <a:rPr lang="en-US" dirty="0" err="1"/>
              <a:t>vedremo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un </a:t>
            </a:r>
            <a:r>
              <a:rPr lang="en-US" dirty="0" err="1"/>
              <a:t>attimo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token in </a:t>
            </a:r>
            <a:r>
              <a:rPr lang="en-US" dirty="0" err="1"/>
              <a:t>uscita</a:t>
            </a:r>
            <a:r>
              <a:rPr lang="en-US" dirty="0"/>
              <a:t> </a:t>
            </a:r>
            <a:r>
              <a:rPr lang="en-US" dirty="0" err="1"/>
              <a:t>costano</a:t>
            </a:r>
            <a:r>
              <a:rPr lang="en-US" dirty="0"/>
              <a:t> molto.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la </a:t>
            </a:r>
            <a:r>
              <a:rPr lang="en-US" dirty="0" err="1"/>
              <a:t>cosa</a:t>
            </a:r>
            <a:r>
              <a:rPr lang="en-US" dirty="0"/>
              <a:t> </a:t>
            </a:r>
            <a:r>
              <a:rPr lang="en-US" dirty="0" err="1"/>
              <a:t>affascinante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la nota in basso: il </a:t>
            </a:r>
            <a:r>
              <a:rPr lang="en-US" dirty="0" err="1"/>
              <a:t>rilevamento</a:t>
            </a:r>
            <a:r>
              <a:rPr lang="en-US" dirty="0"/>
              <a:t> </a:t>
            </a:r>
            <a:r>
              <a:rPr lang="en-US" dirty="0" err="1"/>
              <a:t>diventa</a:t>
            </a:r>
            <a:r>
              <a:rPr lang="en-US" dirty="0"/>
              <a:t> un </a:t>
            </a:r>
            <a:r>
              <a:rPr lang="en-US" dirty="0" err="1"/>
              <a:t>problema</a:t>
            </a:r>
            <a:r>
              <a:rPr lang="en-US" dirty="0"/>
              <a:t> di prompting.</a:t>
            </a:r>
          </a:p>
          <a:p>
            <a:r>
              <a:rPr lang="en-US" dirty="0"/>
              <a:t>Nessun dataset da </a:t>
            </a:r>
            <a:r>
              <a:rPr lang="en-US" dirty="0" err="1"/>
              <a:t>raccogliere</a:t>
            </a:r>
            <a:r>
              <a:rPr lang="en-US" dirty="0"/>
              <a:t>, </a:t>
            </a:r>
            <a:r>
              <a:rPr lang="en-US" dirty="0" err="1"/>
              <a:t>nessun</a:t>
            </a:r>
            <a:r>
              <a:rPr lang="en-US" dirty="0"/>
              <a:t> training, </a:t>
            </a:r>
            <a:r>
              <a:rPr lang="en-US" dirty="0" err="1"/>
              <a:t>nessuna</a:t>
            </a:r>
            <a:r>
              <a:rPr lang="en-US" dirty="0"/>
              <a:t> </a:t>
            </a:r>
            <a:r>
              <a:rPr lang="en-US" dirty="0" err="1"/>
              <a:t>etichettatura</a:t>
            </a:r>
            <a:r>
              <a:rPr lang="en-US" dirty="0"/>
              <a:t>. Basta </a:t>
            </a:r>
            <a:r>
              <a:rPr lang="en-US" dirty="0" err="1"/>
              <a:t>chiedere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i="1" dirty="0"/>
              <a:t>[pausa]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Cosa </a:t>
            </a:r>
            <a:r>
              <a:rPr lang="en-US" dirty="0" err="1"/>
              <a:t>potrebbe</a:t>
            </a:r>
            <a:r>
              <a:rPr lang="en-US" dirty="0"/>
              <a:t> </a:t>
            </a:r>
            <a:r>
              <a:rPr lang="en-US" dirty="0" err="1"/>
              <a:t>andare</a:t>
            </a:r>
            <a:r>
              <a:rPr lang="en-US" dirty="0"/>
              <a:t> </a:t>
            </a:r>
            <a:r>
              <a:rPr lang="en-US" dirty="0" err="1"/>
              <a:t>storto</a:t>
            </a:r>
            <a:r>
              <a:rPr lang="en-US" dirty="0"/>
              <a:t>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[pausa]</a:t>
            </a:r>
          </a:p>
          <a:p>
            <a:endParaRPr lang="en-US" i="1" dirty="0"/>
          </a:p>
          <a:p>
            <a:endParaRPr lang="en-US" dirty="0"/>
          </a:p>
          <a:p>
            <a:r>
              <a:rPr lang="en-US" dirty="0"/>
              <a:t>Beh, lo </a:t>
            </a:r>
            <a:r>
              <a:rPr lang="en-US" dirty="0" err="1"/>
              <a:t>sapete</a:t>
            </a:r>
            <a:r>
              <a:rPr lang="en-US" dirty="0"/>
              <a:t> </a:t>
            </a:r>
            <a:r>
              <a:rPr lang="en-US" dirty="0" err="1"/>
              <a:t>già</a:t>
            </a:r>
            <a:r>
              <a:rPr lang="en-US" dirty="0"/>
              <a:t>: 5-10 </a:t>
            </a:r>
            <a:r>
              <a:rPr lang="en-US" dirty="0" err="1"/>
              <a:t>minuti</a:t>
            </a:r>
            <a:r>
              <a:rPr lang="en-US" dirty="0"/>
              <a:t> per </a:t>
            </a:r>
            <a:r>
              <a:rPr lang="en-US" dirty="0" err="1"/>
              <a:t>scansione</a:t>
            </a:r>
            <a:r>
              <a:rPr lang="en-US" dirty="0"/>
              <a:t>. La </a:t>
            </a:r>
            <a:r>
              <a:rPr lang="en-US" dirty="0" err="1"/>
              <a:t>domanda</a:t>
            </a:r>
            <a:r>
              <a:rPr lang="en-US" dirty="0"/>
              <a:t> </a:t>
            </a:r>
            <a:r>
              <a:rPr lang="en-US" dirty="0" err="1"/>
              <a:t>interessante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: </a:t>
            </a:r>
            <a:r>
              <a:rPr lang="en-US" dirty="0" err="1"/>
              <a:t>perché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Perché</a:t>
            </a:r>
            <a:r>
              <a:rPr dirty="0"/>
              <a:t> </a:t>
            </a:r>
            <a:r>
              <a:rPr dirty="0" err="1"/>
              <a:t>andava</a:t>
            </a:r>
            <a:r>
              <a:rPr dirty="0"/>
              <a:t> </a:t>
            </a:r>
            <a:r>
              <a:rPr lang="it-IT" dirty="0"/>
              <a:t>così lento?</a:t>
            </a:r>
          </a:p>
          <a:p>
            <a:r>
              <a:rPr dirty="0"/>
              <a:t>Qui </a:t>
            </a:r>
            <a:r>
              <a:rPr dirty="0" err="1"/>
              <a:t>c’è</a:t>
            </a:r>
            <a:r>
              <a:rPr dirty="0"/>
              <a:t> il </a:t>
            </a:r>
            <a:r>
              <a:rPr dirty="0" err="1"/>
              <a:t>concetto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importante</a:t>
            </a:r>
            <a:r>
              <a:rPr dirty="0"/>
              <a:t> di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capitolo</a:t>
            </a:r>
            <a:r>
              <a:rPr dirty="0"/>
              <a:t>: il </a:t>
            </a:r>
            <a:r>
              <a:rPr dirty="0" err="1"/>
              <a:t>costo</a:t>
            </a:r>
            <a:r>
              <a:rPr dirty="0"/>
              <a:t> a due </a:t>
            </a:r>
            <a:r>
              <a:rPr dirty="0" err="1"/>
              <a:t>fasi</a:t>
            </a:r>
            <a:r>
              <a:rPr dirty="0"/>
              <a:t> degli LLM </a:t>
            </a:r>
            <a:r>
              <a:rPr dirty="0" err="1"/>
              <a:t>multimodali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Fase uno: il prefill.</a:t>
            </a:r>
            <a:endParaRPr lang="it-IT" dirty="0"/>
          </a:p>
          <a:p>
            <a:r>
              <a:rPr dirty="0"/>
              <a:t>Prima di </a:t>
            </a:r>
            <a:r>
              <a:rPr dirty="0" err="1"/>
              <a:t>scrivere</a:t>
            </a:r>
            <a:r>
              <a:rPr dirty="0"/>
              <a:t> </a:t>
            </a:r>
            <a:r>
              <a:rPr dirty="0" err="1"/>
              <a:t>anche</a:t>
            </a:r>
            <a:r>
              <a:rPr dirty="0"/>
              <a:t> solo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parola</a:t>
            </a:r>
            <a:r>
              <a:rPr dirty="0"/>
              <a:t>, il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deve</a:t>
            </a:r>
            <a:r>
              <a:rPr dirty="0"/>
              <a:t> </a:t>
            </a:r>
            <a:r>
              <a:rPr dirty="0" err="1"/>
              <a:t>leggere</a:t>
            </a:r>
            <a:r>
              <a:rPr dirty="0"/>
              <a:t> </a:t>
            </a:r>
            <a:r>
              <a:rPr dirty="0" err="1"/>
              <a:t>tutto</a:t>
            </a:r>
            <a:r>
              <a:rPr dirty="0"/>
              <a:t> </a:t>
            </a:r>
            <a:r>
              <a:rPr dirty="0" err="1"/>
              <a:t>l’input</a:t>
            </a:r>
            <a:r>
              <a:rPr dirty="0"/>
              <a:t>.</a:t>
            </a:r>
            <a:endParaRPr lang="it-IT" dirty="0"/>
          </a:p>
          <a:p>
            <a:r>
              <a:rPr dirty="0"/>
              <a:t>E la nostra </a:t>
            </a:r>
            <a:r>
              <a:rPr dirty="0" err="1"/>
              <a:t>foto</a:t>
            </a:r>
            <a:r>
              <a:rPr dirty="0"/>
              <a:t> non </a:t>
            </a:r>
            <a:r>
              <a:rPr dirty="0" err="1"/>
              <a:t>è</a:t>
            </a:r>
            <a:r>
              <a:rPr dirty="0"/>
              <a:t> “</a:t>
            </a:r>
            <a:r>
              <a:rPr dirty="0" err="1"/>
              <a:t>un’immagine</a:t>
            </a:r>
            <a:r>
              <a:rPr dirty="0"/>
              <a:t>”: per il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diventa</a:t>
            </a:r>
            <a:r>
              <a:rPr dirty="0"/>
              <a:t> qualche centinaio di token immagine.</a:t>
            </a:r>
            <a:endParaRPr lang="it-IT" dirty="0"/>
          </a:p>
          <a:p>
            <a:r>
              <a:rPr dirty="0"/>
              <a:t>Token che vanno elaborati tutti, prima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compaia</a:t>
            </a:r>
            <a:r>
              <a:rPr dirty="0"/>
              <a:t> </a:t>
            </a:r>
            <a:r>
              <a:rPr dirty="0" err="1"/>
              <a:t>qualsiasi</a:t>
            </a:r>
            <a:r>
              <a:rPr dirty="0"/>
              <a:t> output.</a:t>
            </a:r>
            <a:endParaRPr lang="it-IT" dirty="0"/>
          </a:p>
          <a:p>
            <a:r>
              <a:rPr dirty="0"/>
              <a:t>Su un </a:t>
            </a:r>
            <a:r>
              <a:rPr dirty="0" err="1"/>
              <a:t>telefono</a:t>
            </a:r>
            <a:r>
              <a:rPr dirty="0"/>
              <a:t> di fascia media, </a:t>
            </a:r>
            <a:r>
              <a:rPr dirty="0" err="1"/>
              <a:t>già</a:t>
            </a:r>
            <a:r>
              <a:rPr dirty="0"/>
              <a:t> </a:t>
            </a:r>
            <a:r>
              <a:rPr dirty="0" err="1"/>
              <a:t>questo</a:t>
            </a:r>
            <a:r>
              <a:rPr dirty="0"/>
              <a:t> da solo </a:t>
            </a:r>
            <a:r>
              <a:rPr dirty="0" err="1"/>
              <a:t>è</a:t>
            </a:r>
            <a:r>
              <a:rPr dirty="0"/>
              <a:t> pesante.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Fase due: il decode. La </a:t>
            </a:r>
            <a:r>
              <a:rPr dirty="0" err="1"/>
              <a:t>risposta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generata</a:t>
            </a:r>
            <a:r>
              <a:rPr dirty="0"/>
              <a:t> un token alla volta.</a:t>
            </a:r>
            <a:endParaRPr lang="it-IT" dirty="0"/>
          </a:p>
          <a:p>
            <a:r>
              <a:rPr dirty="0"/>
              <a:t>E ogni </a:t>
            </a:r>
            <a:r>
              <a:rPr dirty="0" err="1"/>
              <a:t>singolo</a:t>
            </a:r>
            <a:r>
              <a:rPr dirty="0"/>
              <a:t> token </a:t>
            </a:r>
            <a:r>
              <a:rPr dirty="0" err="1"/>
              <a:t>passa</a:t>
            </a:r>
            <a:r>
              <a:rPr dirty="0"/>
              <a:t> </a:t>
            </a:r>
            <a:r>
              <a:rPr dirty="0" err="1"/>
              <a:t>attraverso</a:t>
            </a:r>
            <a:r>
              <a:rPr dirty="0"/>
              <a:t> un </a:t>
            </a:r>
            <a:r>
              <a:rPr dirty="0" err="1"/>
              <a:t>modello</a:t>
            </a:r>
            <a:r>
              <a:rPr dirty="0"/>
              <a:t> da due </a:t>
            </a:r>
            <a:r>
              <a:rPr dirty="0" err="1"/>
              <a:t>miliardi</a:t>
            </a:r>
            <a:r>
              <a:rPr dirty="0"/>
              <a:t> di </a:t>
            </a:r>
            <a:r>
              <a:rPr dirty="0" err="1"/>
              <a:t>parametri</a:t>
            </a:r>
            <a:r>
              <a:rPr dirty="0"/>
              <a:t>.</a:t>
            </a:r>
            <a:endParaRPr lang="it-IT" dirty="0"/>
          </a:p>
          <a:p>
            <a:r>
              <a:rPr dirty="0"/>
              <a:t>Un JSON con </a:t>
            </a:r>
            <a:r>
              <a:rPr dirty="0" err="1"/>
              <a:t>quindici</a:t>
            </a:r>
            <a:r>
              <a:rPr dirty="0"/>
              <a:t> </a:t>
            </a:r>
            <a:r>
              <a:rPr dirty="0" err="1"/>
              <a:t>ingredienti</a:t>
            </a:r>
            <a:r>
              <a:rPr dirty="0"/>
              <a:t> e </a:t>
            </a:r>
            <a:r>
              <a:rPr dirty="0" err="1"/>
              <a:t>quantità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tanti token, e </a:t>
            </a:r>
            <a:r>
              <a:rPr dirty="0" err="1"/>
              <a:t>ognuno</a:t>
            </a:r>
            <a:r>
              <a:rPr dirty="0"/>
              <a:t> costa un passaggio </a:t>
            </a:r>
            <a:r>
              <a:rPr dirty="0" err="1"/>
              <a:t>completo</a:t>
            </a:r>
            <a:r>
              <a:rPr dirty="0"/>
              <a:t> del </a:t>
            </a:r>
            <a:r>
              <a:rPr dirty="0" err="1"/>
              <a:t>modello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Per </a:t>
            </a:r>
            <a:r>
              <a:rPr dirty="0" err="1"/>
              <a:t>darvi</a:t>
            </a:r>
            <a:r>
              <a:rPr dirty="0"/>
              <a:t> </a:t>
            </a:r>
            <a:r>
              <a:rPr dirty="0" err="1"/>
              <a:t>un’idea</a:t>
            </a:r>
            <a:r>
              <a:rPr dirty="0"/>
              <a:t>: </a:t>
            </a:r>
            <a:r>
              <a:rPr dirty="0" err="1"/>
              <a:t>sul</a:t>
            </a:r>
            <a:r>
              <a:rPr dirty="0"/>
              <a:t> cloud, </a:t>
            </a:r>
            <a:r>
              <a:rPr dirty="0" err="1"/>
              <a:t>su</a:t>
            </a:r>
            <a:r>
              <a:rPr dirty="0"/>
              <a:t> GPU da data center, </a:t>
            </a:r>
            <a:r>
              <a:rPr dirty="0" err="1"/>
              <a:t>entrambe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talmente</a:t>
            </a:r>
            <a:r>
              <a:rPr dirty="0"/>
              <a:t> </a:t>
            </a:r>
            <a:r>
              <a:rPr dirty="0" err="1"/>
              <a:t>veloci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non ci </a:t>
            </a:r>
            <a:r>
              <a:rPr dirty="0" err="1"/>
              <a:t>pensate</a:t>
            </a:r>
            <a:r>
              <a:rPr dirty="0"/>
              <a:t> </a:t>
            </a:r>
            <a:r>
              <a:rPr dirty="0" err="1"/>
              <a:t>nemmeno</a:t>
            </a:r>
            <a:r>
              <a:rPr dirty="0"/>
              <a:t>.</a:t>
            </a:r>
            <a:endParaRPr lang="it-IT" dirty="0"/>
          </a:p>
          <a:p>
            <a:r>
              <a:rPr dirty="0"/>
              <a:t>Sul </a:t>
            </a:r>
            <a:r>
              <a:rPr dirty="0" err="1"/>
              <a:t>telefono</a:t>
            </a:r>
            <a:r>
              <a:rPr dirty="0"/>
              <a:t>, con memoria </a:t>
            </a:r>
            <a:r>
              <a:rPr dirty="0" err="1"/>
              <a:t>condivisa</a:t>
            </a:r>
            <a:r>
              <a:rPr dirty="0"/>
              <a:t>, </a:t>
            </a:r>
            <a:r>
              <a:rPr dirty="0" err="1"/>
              <a:t>limiti</a:t>
            </a:r>
            <a:r>
              <a:rPr dirty="0"/>
              <a:t> </a:t>
            </a:r>
            <a:r>
              <a:rPr dirty="0" err="1"/>
              <a:t>termici</a:t>
            </a:r>
            <a:r>
              <a:rPr dirty="0"/>
              <a:t> e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batteria</a:t>
            </a:r>
            <a:r>
              <a:rPr dirty="0"/>
              <a:t> da non </a:t>
            </a:r>
            <a:r>
              <a:rPr dirty="0" err="1"/>
              <a:t>prosciugare</a:t>
            </a:r>
            <a:r>
              <a:rPr dirty="0"/>
              <a:t>, ogni token </a:t>
            </a:r>
            <a:r>
              <a:rPr dirty="0" err="1"/>
              <a:t>si</a:t>
            </a:r>
            <a:r>
              <a:rPr dirty="0"/>
              <a:t> sente.</a:t>
            </a:r>
          </a:p>
          <a:p>
            <a:endParaRPr lang="it-IT" dirty="0"/>
          </a:p>
          <a:p>
            <a:endParaRPr dirty="0"/>
          </a:p>
          <a:p>
            <a:r>
              <a:rPr dirty="0" err="1"/>
              <a:t>Mettete</a:t>
            </a:r>
            <a:r>
              <a:rPr dirty="0"/>
              <a:t> </a:t>
            </a:r>
            <a:r>
              <a:rPr dirty="0" err="1"/>
              <a:t>insieme</a:t>
            </a:r>
            <a:r>
              <a:rPr dirty="0"/>
              <a:t> le due </a:t>
            </a:r>
            <a:r>
              <a:rPr dirty="0" err="1"/>
              <a:t>fasi</a:t>
            </a:r>
            <a:r>
              <a:rPr dirty="0"/>
              <a:t>, e </a:t>
            </a:r>
            <a:r>
              <a:rPr dirty="0" err="1"/>
              <a:t>su</a:t>
            </a:r>
            <a:r>
              <a:rPr dirty="0"/>
              <a:t> un </a:t>
            </a:r>
            <a:r>
              <a:rPr dirty="0" err="1"/>
              <a:t>telefono</a:t>
            </a:r>
            <a:r>
              <a:rPr dirty="0"/>
              <a:t> di fascia media </a:t>
            </a:r>
            <a:r>
              <a:rPr dirty="0" err="1"/>
              <a:t>ottenete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scansione</a:t>
            </a:r>
            <a:r>
              <a:rPr dirty="0"/>
              <a:t> da </a:t>
            </a:r>
            <a:r>
              <a:rPr lang="it-IT" dirty="0"/>
              <a:t>5-10</a:t>
            </a:r>
            <a:r>
              <a:rPr dirty="0"/>
              <a:t> </a:t>
            </a:r>
            <a:r>
              <a:rPr dirty="0" err="1"/>
              <a:t>minuti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notate: non </a:t>
            </a:r>
            <a:r>
              <a:rPr dirty="0" err="1"/>
              <a:t>è</a:t>
            </a:r>
            <a:r>
              <a:rPr dirty="0"/>
              <a:t> un </a:t>
            </a:r>
            <a:r>
              <a:rPr dirty="0" err="1"/>
              <a:t>problema</a:t>
            </a:r>
            <a:r>
              <a:rPr dirty="0"/>
              <a:t> di </a:t>
            </a:r>
            <a:r>
              <a:rPr dirty="0" err="1"/>
              <a:t>qualità</a:t>
            </a:r>
            <a:r>
              <a:rPr dirty="0"/>
              <a:t> del </a:t>
            </a:r>
            <a:r>
              <a:rPr dirty="0" err="1"/>
              <a:t>modello</a:t>
            </a:r>
            <a:r>
              <a:rPr dirty="0"/>
              <a:t>. Le </a:t>
            </a:r>
            <a:r>
              <a:rPr dirty="0" err="1"/>
              <a:t>risposte</a:t>
            </a:r>
            <a:r>
              <a:rPr dirty="0"/>
              <a:t> </a:t>
            </a:r>
            <a:r>
              <a:rPr dirty="0" err="1"/>
              <a:t>erano</a:t>
            </a:r>
            <a:r>
              <a:rPr dirty="0"/>
              <a:t> </a:t>
            </a:r>
            <a:r>
              <a:rPr dirty="0" err="1"/>
              <a:t>giuste</a:t>
            </a:r>
            <a:r>
              <a:rPr dirty="0"/>
              <a:t>.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l’aritmetica</a:t>
            </a:r>
            <a:r>
              <a:rPr dirty="0"/>
              <a:t> a </a:t>
            </a:r>
            <a:r>
              <a:rPr dirty="0" err="1"/>
              <a:t>decidere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secondi e </a:t>
            </a:r>
            <a:r>
              <a:rPr dirty="0" err="1"/>
              <a:t>minuti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 err="1"/>
              <a:t>Quindi</a:t>
            </a:r>
            <a:r>
              <a:rPr dirty="0"/>
              <a:t>, il </a:t>
            </a:r>
            <a:r>
              <a:rPr dirty="0" err="1"/>
              <a:t>consiglio</a:t>
            </a:r>
            <a:r>
              <a:rPr dirty="0"/>
              <a:t>: </a:t>
            </a:r>
            <a:r>
              <a:rPr dirty="0" err="1"/>
              <a:t>conoscete</a:t>
            </a:r>
            <a:r>
              <a:rPr dirty="0"/>
              <a:t>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modello</a:t>
            </a:r>
            <a:r>
              <a:rPr dirty="0"/>
              <a:t> di </a:t>
            </a:r>
            <a:r>
              <a:rPr dirty="0" err="1"/>
              <a:t>costo</a:t>
            </a:r>
            <a:r>
              <a:rPr dirty="0"/>
              <a:t> prima di </a:t>
            </a:r>
            <a:r>
              <a:rPr dirty="0" err="1"/>
              <a:t>promettere</a:t>
            </a:r>
            <a:r>
              <a:rPr dirty="0"/>
              <a:t> </a:t>
            </a:r>
            <a:r>
              <a:rPr dirty="0" err="1"/>
              <a:t>qualsiasi</a:t>
            </a:r>
            <a:r>
              <a:rPr dirty="0"/>
              <a:t> UX </a:t>
            </a:r>
            <a:r>
              <a:rPr dirty="0" err="1"/>
              <a:t>multimodale</a:t>
            </a:r>
            <a:r>
              <a:rPr dirty="0"/>
              <a:t>.</a:t>
            </a:r>
            <a:endParaRPr lang="it-IT" dirty="0"/>
          </a:p>
          <a:p>
            <a:r>
              <a:rPr dirty="0"/>
              <a:t>Prima di dire al product owner “</a:t>
            </a:r>
            <a:r>
              <a:rPr dirty="0" err="1"/>
              <a:t>facciamo</a:t>
            </a:r>
            <a:r>
              <a:rPr dirty="0"/>
              <a:t> </a:t>
            </a:r>
            <a:r>
              <a:rPr dirty="0" err="1"/>
              <a:t>scattare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foto</a:t>
            </a:r>
            <a:r>
              <a:rPr dirty="0"/>
              <a:t> e </a:t>
            </a:r>
            <a:r>
              <a:rPr dirty="0" err="1"/>
              <a:t>l’AI</a:t>
            </a:r>
            <a:r>
              <a:rPr dirty="0"/>
              <a:t> capisce </a:t>
            </a:r>
            <a:r>
              <a:rPr dirty="0" err="1"/>
              <a:t>tutto</a:t>
            </a:r>
            <a:r>
              <a:rPr dirty="0"/>
              <a:t>”, fate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conto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a </a:t>
            </a:r>
            <a:r>
              <a:rPr dirty="0" err="1"/>
              <a:t>quel</a:t>
            </a:r>
            <a:r>
              <a:rPr dirty="0"/>
              <a:t> punto ci </a:t>
            </a:r>
            <a:r>
              <a:rPr dirty="0" err="1"/>
              <a:t>siamo</a:t>
            </a:r>
            <a:r>
              <a:rPr dirty="0"/>
              <a:t> </a:t>
            </a:r>
            <a:r>
              <a:rPr dirty="0" err="1"/>
              <a:t>fatti</a:t>
            </a:r>
            <a:r>
              <a:rPr dirty="0"/>
              <a:t> la </a:t>
            </a:r>
            <a:r>
              <a:rPr dirty="0" err="1"/>
              <a:t>domanda</a:t>
            </a:r>
            <a:r>
              <a:rPr dirty="0"/>
              <a:t> </a:t>
            </a:r>
            <a:r>
              <a:rPr dirty="0" err="1"/>
              <a:t>giusta</a:t>
            </a:r>
            <a:r>
              <a:rPr lang="it-IT" dirty="0"/>
              <a:t>:</a:t>
            </a:r>
            <a:endParaRPr dirty="0"/>
          </a:p>
          <a:p>
            <a:r>
              <a:rPr dirty="0"/>
              <a:t>Ci serve </a:t>
            </a:r>
            <a:r>
              <a:rPr dirty="0" err="1"/>
              <a:t>davvero</a:t>
            </a:r>
            <a:r>
              <a:rPr dirty="0"/>
              <a:t> 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scrive, per </a:t>
            </a:r>
            <a:r>
              <a:rPr dirty="0" err="1"/>
              <a:t>riconoscere</a:t>
            </a:r>
            <a:r>
              <a:rPr dirty="0"/>
              <a:t> </a:t>
            </a:r>
            <a:r>
              <a:rPr lang="it-IT" dirty="0"/>
              <a:t>un’arancia</a:t>
            </a:r>
            <a:r>
              <a:rPr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Capitolo</a:t>
            </a:r>
            <a:r>
              <a:rPr lang="en-US" dirty="0"/>
              <a:t> </a:t>
            </a:r>
            <a:r>
              <a:rPr lang="en-US" dirty="0" err="1"/>
              <a:t>tre</a:t>
            </a:r>
            <a:r>
              <a:rPr lang="en-US" dirty="0"/>
              <a:t>. Il </a:t>
            </a:r>
            <a:r>
              <a:rPr lang="en-US" dirty="0" err="1"/>
              <a:t>protagonista</a:t>
            </a:r>
            <a:r>
              <a:rPr lang="en-US" dirty="0"/>
              <a:t>: MobileCLIP-S2.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Prima </a:t>
            </a:r>
            <a:r>
              <a:rPr lang="en-US" dirty="0" err="1"/>
              <a:t>cosa</a:t>
            </a:r>
            <a:r>
              <a:rPr lang="en-US" dirty="0"/>
              <a:t> da </a:t>
            </a:r>
            <a:r>
              <a:rPr lang="en-US" dirty="0" err="1"/>
              <a:t>capire</a:t>
            </a:r>
            <a:r>
              <a:rPr lang="en-US" dirty="0"/>
              <a:t>: non </a:t>
            </a:r>
            <a:r>
              <a:rPr lang="en-US" dirty="0" err="1"/>
              <a:t>è</a:t>
            </a:r>
            <a:r>
              <a:rPr lang="en-US" dirty="0"/>
              <a:t> un LLM.</a:t>
            </a:r>
          </a:p>
          <a:p>
            <a:r>
              <a:rPr lang="en-US" dirty="0"/>
              <a:t>Non genera </a:t>
            </a:r>
            <a:r>
              <a:rPr lang="en-US" dirty="0" err="1"/>
              <a:t>nulla</a:t>
            </a:r>
            <a:r>
              <a:rPr lang="en-US" dirty="0"/>
              <a:t>. Misura.</a:t>
            </a:r>
          </a:p>
          <a:p>
            <a:r>
              <a:rPr lang="en-US" dirty="0"/>
              <a:t>Misura </a:t>
            </a:r>
            <a:r>
              <a:rPr lang="en-US" dirty="0" err="1"/>
              <a:t>quanto</a:t>
            </a:r>
            <a:r>
              <a:rPr lang="en-US" dirty="0"/>
              <a:t> </a:t>
            </a:r>
            <a:r>
              <a:rPr lang="en-US" dirty="0" err="1"/>
              <a:t>un’immagine</a:t>
            </a:r>
            <a:r>
              <a:rPr lang="en-US" dirty="0"/>
              <a:t> </a:t>
            </a:r>
            <a:r>
              <a:rPr lang="en-US" dirty="0" err="1"/>
              <a:t>corrisponde</a:t>
            </a:r>
            <a:r>
              <a:rPr lang="en-US" dirty="0"/>
              <a:t> 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frase</a:t>
            </a:r>
            <a:r>
              <a:rPr lang="en-US" dirty="0"/>
              <a:t>.</a:t>
            </a:r>
          </a:p>
          <a:p>
            <a:r>
              <a:rPr lang="en-US" dirty="0" err="1"/>
              <a:t>È</a:t>
            </a:r>
            <a:r>
              <a:rPr lang="en-US" dirty="0"/>
              <a:t> un </a:t>
            </a:r>
            <a:r>
              <a:rPr lang="en-US" dirty="0" err="1"/>
              <a:t>modello</a:t>
            </a:r>
            <a:r>
              <a:rPr lang="en-US" dirty="0"/>
              <a:t> della </a:t>
            </a:r>
            <a:r>
              <a:rPr lang="en-US" dirty="0" err="1"/>
              <a:t>famiglia</a:t>
            </a:r>
            <a:r>
              <a:rPr lang="en-US" dirty="0"/>
              <a:t> CLIP,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sta</a:t>
            </a:r>
            <a:r>
              <a:rPr lang="en-US" dirty="0"/>
              <a:t> per Contrastive Language–Image Pre-training.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MobileCLIP </a:t>
            </a:r>
            <a:r>
              <a:rPr lang="en-US" dirty="0" err="1"/>
              <a:t>è</a:t>
            </a:r>
            <a:r>
              <a:rPr lang="en-US" dirty="0"/>
              <a:t> la </a:t>
            </a:r>
            <a:r>
              <a:rPr lang="en-US" dirty="0" err="1"/>
              <a:t>versione</a:t>
            </a:r>
            <a:r>
              <a:rPr lang="en-US" dirty="0"/>
              <a:t> mobile di CLIP, </a:t>
            </a:r>
            <a:r>
              <a:rPr lang="en-US" dirty="0" err="1"/>
              <a:t>realizzata</a:t>
            </a:r>
            <a:r>
              <a:rPr lang="en-US" dirty="0"/>
              <a:t> da Apple.</a:t>
            </a:r>
          </a:p>
          <a:p>
            <a:r>
              <a:rPr lang="en-US" dirty="0" err="1"/>
              <a:t>Sì</a:t>
            </a:r>
            <a:r>
              <a:rPr lang="en-US" dirty="0"/>
              <a:t>, in un talk Android 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DevFest</a:t>
            </a:r>
            <a:r>
              <a:rPr lang="en-US" dirty="0"/>
              <a:t> </a:t>
            </a:r>
            <a:r>
              <a:rPr lang="en-US" dirty="0" err="1"/>
              <a:t>usiamo</a:t>
            </a:r>
            <a:r>
              <a:rPr lang="en-US" dirty="0"/>
              <a:t> un </a:t>
            </a:r>
            <a:r>
              <a:rPr lang="en-US" dirty="0" err="1"/>
              <a:t>modello</a:t>
            </a:r>
            <a:r>
              <a:rPr lang="en-US" dirty="0"/>
              <a:t> di Apple: </a:t>
            </a:r>
            <a:r>
              <a:rPr lang="en-US" dirty="0" err="1"/>
              <a:t>l’open</a:t>
            </a:r>
            <a:r>
              <a:rPr lang="en-US" dirty="0"/>
              <a:t> source </a:t>
            </a:r>
            <a:r>
              <a:rPr lang="en-US" dirty="0" err="1"/>
              <a:t>è</a:t>
            </a:r>
            <a:r>
              <a:rPr lang="en-US" dirty="0"/>
              <a:t> bello </a:t>
            </a:r>
            <a:r>
              <a:rPr lang="en-US" dirty="0" err="1"/>
              <a:t>anche</a:t>
            </a:r>
            <a:r>
              <a:rPr lang="en-US" dirty="0"/>
              <a:t> per </a:t>
            </a:r>
            <a:r>
              <a:rPr lang="en-US" dirty="0" err="1"/>
              <a:t>questo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distillato</a:t>
            </a:r>
            <a:r>
              <a:rPr lang="en-US" dirty="0"/>
              <a:t> da </a:t>
            </a:r>
            <a:r>
              <a:rPr lang="en-US" dirty="0" err="1"/>
              <a:t>modelli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grandi</a:t>
            </a:r>
            <a:r>
              <a:rPr lang="en-US" dirty="0"/>
              <a:t>, e la </a:t>
            </a:r>
            <a:r>
              <a:rPr lang="en-US" dirty="0" err="1"/>
              <a:t>variante</a:t>
            </a:r>
            <a:r>
              <a:rPr lang="en-US" dirty="0"/>
              <a:t> S2 </a:t>
            </a:r>
            <a:r>
              <a:rPr lang="en-US" dirty="0" err="1"/>
              <a:t>è</a:t>
            </a:r>
            <a:r>
              <a:rPr lang="en-US" dirty="0"/>
              <a:t> il giusto </a:t>
            </a:r>
            <a:r>
              <a:rPr lang="en-US" dirty="0" err="1"/>
              <a:t>compromesso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accuratezza</a:t>
            </a:r>
            <a:r>
              <a:rPr lang="en-US" dirty="0"/>
              <a:t> e </a:t>
            </a:r>
            <a:r>
              <a:rPr lang="en-US" dirty="0" err="1"/>
              <a:t>velocità</a:t>
            </a:r>
            <a:r>
              <a:rPr lang="en-US" dirty="0"/>
              <a:t>: in zero-shot è accurato come modelli più grandi, ma con una latenza da telefono.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 numeri: circa 140 megabyte, input a 256 per 256 pixel, embedding a 512 </a:t>
            </a:r>
            <a:r>
              <a:rPr lang="en-US" dirty="0" err="1"/>
              <a:t>dimensioni</a:t>
            </a:r>
            <a:r>
              <a:rPr lang="en-US" dirty="0"/>
              <a:t>.</a:t>
            </a:r>
          </a:p>
          <a:p>
            <a:r>
              <a:rPr lang="en-US" dirty="0" err="1"/>
              <a:t>Minuscolo</a:t>
            </a:r>
            <a:r>
              <a:rPr lang="en-US" dirty="0"/>
              <a:t>, </a:t>
            </a:r>
            <a:r>
              <a:rPr lang="en-US" dirty="0" err="1"/>
              <a:t>accanto</a:t>
            </a:r>
            <a:r>
              <a:rPr lang="en-US" dirty="0"/>
              <a:t> a un LLM da 2 </a:t>
            </a:r>
            <a:r>
              <a:rPr lang="en-US" dirty="0" err="1"/>
              <a:t>miliardi</a:t>
            </a:r>
            <a:r>
              <a:rPr lang="en-US" dirty="0"/>
              <a:t> di </a:t>
            </a:r>
            <a:r>
              <a:rPr lang="en-US" dirty="0" err="1"/>
              <a:t>parametri</a:t>
            </a:r>
            <a:r>
              <a:rPr lang="en-US" dirty="0"/>
              <a:t>, e </a:t>
            </a:r>
            <a:r>
              <a:rPr lang="en-US" dirty="0" err="1"/>
              <a:t>soprattutto</a:t>
            </a:r>
            <a:r>
              <a:rPr lang="en-US" dirty="0"/>
              <a:t> con un </a:t>
            </a:r>
            <a:r>
              <a:rPr lang="en-US" dirty="0" err="1"/>
              <a:t>profilo</a:t>
            </a:r>
            <a:r>
              <a:rPr lang="en-US" dirty="0"/>
              <a:t> di </a:t>
            </a:r>
            <a:r>
              <a:rPr lang="en-US" dirty="0" err="1"/>
              <a:t>costo</a:t>
            </a:r>
            <a:r>
              <a:rPr lang="en-US" dirty="0"/>
              <a:t> </a:t>
            </a:r>
            <a:r>
              <a:rPr lang="en-US" dirty="0" err="1"/>
              <a:t>completamente</a:t>
            </a:r>
            <a:r>
              <a:rPr lang="en-US" dirty="0"/>
              <a:t> </a:t>
            </a:r>
            <a:r>
              <a:rPr lang="en-US" dirty="0" err="1"/>
              <a:t>diverso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“zero-shot” </a:t>
            </a:r>
            <a:r>
              <a:rPr lang="en-US" dirty="0" err="1"/>
              <a:t>è</a:t>
            </a:r>
            <a:r>
              <a:rPr lang="en-US" dirty="0"/>
              <a:t> la </a:t>
            </a:r>
            <a:r>
              <a:rPr lang="en-US" dirty="0" err="1"/>
              <a:t>parola</a:t>
            </a:r>
            <a:r>
              <a:rPr lang="en-US" dirty="0"/>
              <a:t> </a:t>
            </a:r>
            <a:r>
              <a:rPr lang="en-US" dirty="0" err="1"/>
              <a:t>chiave</a:t>
            </a:r>
            <a:r>
              <a:rPr lang="en-US" dirty="0"/>
              <a:t>: </a:t>
            </a:r>
            <a:r>
              <a:rPr lang="en-US" dirty="0" err="1"/>
              <a:t>significa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il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riconosce</a:t>
            </a:r>
            <a:r>
              <a:rPr lang="en-US" dirty="0"/>
              <a:t> </a:t>
            </a:r>
            <a:r>
              <a:rPr lang="en-US" dirty="0" err="1"/>
              <a:t>categorie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cui non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stato</a:t>
            </a:r>
            <a:r>
              <a:rPr lang="en-US" dirty="0"/>
              <a:t> </a:t>
            </a:r>
            <a:r>
              <a:rPr lang="en-US" dirty="0" err="1"/>
              <a:t>addestrato</a:t>
            </a:r>
            <a:r>
              <a:rPr lang="en-US" dirty="0"/>
              <a:t> </a:t>
            </a:r>
            <a:r>
              <a:rPr lang="en-US" dirty="0" err="1"/>
              <a:t>esplicitamente</a:t>
            </a:r>
            <a:r>
              <a:rPr lang="en-US" dirty="0"/>
              <a:t>.</a:t>
            </a:r>
          </a:p>
          <a:p>
            <a:r>
              <a:rPr lang="en-US" dirty="0"/>
              <a:t>Non </a:t>
            </a:r>
            <a:r>
              <a:rPr lang="en-US" dirty="0" err="1"/>
              <a:t>abbiamo</a:t>
            </a:r>
            <a:r>
              <a:rPr lang="en-US" dirty="0"/>
              <a:t> </a:t>
            </a:r>
            <a:r>
              <a:rPr lang="en-US" dirty="0" err="1"/>
              <a:t>fatto</a:t>
            </a:r>
            <a:r>
              <a:rPr lang="en-US" dirty="0"/>
              <a:t> </a:t>
            </a:r>
            <a:r>
              <a:rPr lang="en-US" dirty="0" err="1"/>
              <a:t>nessun</a:t>
            </a:r>
            <a:r>
              <a:rPr lang="en-US" dirty="0"/>
              <a:t> fine-tuning </a:t>
            </a:r>
            <a:r>
              <a:rPr lang="en-US" dirty="0" err="1"/>
              <a:t>sugli</a:t>
            </a:r>
            <a:r>
              <a:rPr lang="en-US" dirty="0"/>
              <a:t> </a:t>
            </a:r>
            <a:r>
              <a:rPr lang="en-US" dirty="0" err="1"/>
              <a:t>ingredienti</a:t>
            </a:r>
            <a:r>
              <a:rPr lang="en-US" dirty="0"/>
              <a:t>.</a:t>
            </a:r>
          </a:p>
          <a:p>
            <a:r>
              <a:rPr lang="en-US" dirty="0"/>
              <a:t>Non </a:t>
            </a:r>
            <a:r>
              <a:rPr lang="en-US" dirty="0" err="1"/>
              <a:t>abbiamo</a:t>
            </a:r>
            <a:r>
              <a:rPr lang="en-US" dirty="0"/>
              <a:t> </a:t>
            </a:r>
            <a:r>
              <a:rPr lang="en-US" dirty="0" err="1"/>
              <a:t>raccolto</a:t>
            </a:r>
            <a:r>
              <a:rPr lang="en-US" dirty="0"/>
              <a:t> </a:t>
            </a:r>
            <a:r>
              <a:rPr lang="en-US" dirty="0" err="1"/>
              <a:t>nemmeno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di </a:t>
            </a:r>
            <a:r>
              <a:rPr lang="en-US" dirty="0" err="1"/>
              <a:t>frigo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Pesi</a:t>
            </a:r>
            <a:r>
              <a:rPr lang="en-US" dirty="0"/>
              <a:t> </a:t>
            </a:r>
            <a:r>
              <a:rPr lang="en-US" dirty="0" err="1"/>
              <a:t>aperti</a:t>
            </a:r>
            <a:r>
              <a:rPr lang="en-US" dirty="0"/>
              <a:t>,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esporta</a:t>
            </a:r>
            <a:r>
              <a:rPr lang="en-US" dirty="0"/>
              <a:t> senza </a:t>
            </a:r>
            <a:r>
              <a:rPr lang="en-US" dirty="0" err="1"/>
              <a:t>problemi</a:t>
            </a:r>
            <a:r>
              <a:rPr lang="en-US" dirty="0"/>
              <a:t> in </a:t>
            </a:r>
            <a:r>
              <a:rPr lang="en-US" dirty="0" err="1"/>
              <a:t>LiteRT</a:t>
            </a:r>
            <a:r>
              <a:rPr lang="en-US" dirty="0"/>
              <a:t>, e </a:t>
            </a:r>
            <a:r>
              <a:rPr lang="en-US" dirty="0" err="1"/>
              <a:t>gira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qualsiasi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 Android.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sì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la base della nostra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L’intuizione</a:t>
            </a:r>
            <a:r>
              <a:rPr dirty="0"/>
              <a:t> </a:t>
            </a:r>
            <a:r>
              <a:rPr dirty="0" err="1"/>
              <a:t>chiave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questa</a:t>
            </a:r>
            <a:r>
              <a:rPr dirty="0"/>
              <a:t>: il </a:t>
            </a:r>
            <a:r>
              <a:rPr dirty="0" err="1"/>
              <a:t>riconoscimento</a:t>
            </a:r>
            <a:r>
              <a:rPr dirty="0"/>
              <a:t> non </a:t>
            </a:r>
            <a:r>
              <a:rPr dirty="0" err="1"/>
              <a:t>richiede</a:t>
            </a:r>
            <a:r>
              <a:rPr dirty="0"/>
              <a:t> 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scrive, ma 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confronta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Come </a:t>
            </a:r>
            <a:r>
              <a:rPr dirty="0" err="1"/>
              <a:t>funziona</a:t>
            </a:r>
            <a:r>
              <a:rPr dirty="0"/>
              <a:t> CLIP?</a:t>
            </a:r>
            <a:endParaRPr lang="it-IT" dirty="0"/>
          </a:p>
          <a:p>
            <a:r>
              <a:rPr dirty="0"/>
              <a:t>Sono due </a:t>
            </a:r>
            <a:r>
              <a:rPr dirty="0" err="1"/>
              <a:t>piccoli</a:t>
            </a:r>
            <a:r>
              <a:rPr dirty="0"/>
              <a:t> encoder: uno per le </a:t>
            </a:r>
            <a:r>
              <a:rPr dirty="0" err="1"/>
              <a:t>immagini</a:t>
            </a:r>
            <a:r>
              <a:rPr dirty="0"/>
              <a:t>, uno per il testo.</a:t>
            </a:r>
            <a:endParaRPr lang="it-IT" dirty="0"/>
          </a:p>
          <a:p>
            <a:r>
              <a:rPr dirty="0"/>
              <a:t>Sono </a:t>
            </a:r>
            <a:r>
              <a:rPr dirty="0" err="1"/>
              <a:t>stati</a:t>
            </a:r>
            <a:r>
              <a:rPr dirty="0"/>
              <a:t> </a:t>
            </a:r>
            <a:r>
              <a:rPr dirty="0" err="1"/>
              <a:t>addestrati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milioni</a:t>
            </a:r>
            <a:r>
              <a:rPr dirty="0"/>
              <a:t> di </a:t>
            </a:r>
            <a:r>
              <a:rPr dirty="0" err="1"/>
              <a:t>coppie</a:t>
            </a:r>
            <a:r>
              <a:rPr dirty="0"/>
              <a:t> </a:t>
            </a:r>
            <a:r>
              <a:rPr dirty="0" err="1"/>
              <a:t>immagine</a:t>
            </a:r>
            <a:r>
              <a:rPr dirty="0"/>
              <a:t>–</a:t>
            </a:r>
            <a:r>
              <a:rPr dirty="0" err="1"/>
              <a:t>didascalia</a:t>
            </a:r>
            <a:r>
              <a:rPr dirty="0"/>
              <a:t>, in modo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foto</a:t>
            </a:r>
            <a:r>
              <a:rPr dirty="0"/>
              <a:t> e la </a:t>
            </a:r>
            <a:r>
              <a:rPr dirty="0" err="1"/>
              <a:t>frase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la </a:t>
            </a:r>
            <a:r>
              <a:rPr dirty="0" err="1"/>
              <a:t>descrive</a:t>
            </a:r>
            <a:r>
              <a:rPr dirty="0"/>
              <a:t> </a:t>
            </a:r>
            <a:r>
              <a:rPr dirty="0" err="1"/>
              <a:t>finiscano</a:t>
            </a:r>
            <a:r>
              <a:rPr dirty="0"/>
              <a:t> vicine </a:t>
            </a:r>
            <a:r>
              <a:rPr dirty="0" err="1"/>
              <a:t>nello</a:t>
            </a:r>
            <a:r>
              <a:rPr dirty="0"/>
              <a:t> </a:t>
            </a:r>
            <a:r>
              <a:rPr dirty="0" err="1"/>
              <a:t>stesso</a:t>
            </a:r>
            <a:r>
              <a:rPr dirty="0"/>
              <a:t> </a:t>
            </a:r>
            <a:r>
              <a:rPr dirty="0" err="1"/>
              <a:t>spazio</a:t>
            </a:r>
            <a:r>
              <a:rPr dirty="0"/>
              <a:t> </a:t>
            </a:r>
            <a:r>
              <a:rPr dirty="0" err="1"/>
              <a:t>vettoriale</a:t>
            </a:r>
            <a:r>
              <a:rPr dirty="0"/>
              <a:t>.</a:t>
            </a:r>
            <a:endParaRPr lang="it-IT" dirty="0"/>
          </a:p>
          <a:p>
            <a:r>
              <a:rPr dirty="0"/>
              <a:t>La </a:t>
            </a:r>
            <a:r>
              <a:rPr dirty="0" err="1"/>
              <a:t>foto</a:t>
            </a:r>
            <a:r>
              <a:rPr dirty="0"/>
              <a:t> di </a:t>
            </a:r>
            <a:r>
              <a:rPr lang="it-IT" dirty="0"/>
              <a:t>un’arancia</a:t>
            </a:r>
            <a:r>
              <a:rPr dirty="0"/>
              <a:t> e la </a:t>
            </a:r>
            <a:r>
              <a:rPr dirty="0" err="1"/>
              <a:t>frase</a:t>
            </a:r>
            <a:r>
              <a:rPr dirty="0"/>
              <a:t> “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foto</a:t>
            </a:r>
            <a:r>
              <a:rPr dirty="0"/>
              <a:t> di </a:t>
            </a:r>
            <a:r>
              <a:rPr dirty="0" err="1"/>
              <a:t>un’a</a:t>
            </a:r>
            <a:r>
              <a:rPr lang="it-IT" dirty="0"/>
              <a:t>rancia</a:t>
            </a:r>
            <a:r>
              <a:rPr dirty="0"/>
              <a:t>” </a:t>
            </a:r>
            <a:r>
              <a:rPr dirty="0" err="1"/>
              <a:t>diventano</a:t>
            </a:r>
            <a:r>
              <a:rPr dirty="0"/>
              <a:t> due </a:t>
            </a:r>
            <a:r>
              <a:rPr dirty="0" err="1"/>
              <a:t>vettori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puntano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o </a:t>
            </a:r>
            <a:r>
              <a:rPr dirty="0" err="1"/>
              <a:t>meno</a:t>
            </a:r>
            <a:r>
              <a:rPr dirty="0"/>
              <a:t> </a:t>
            </a:r>
            <a:r>
              <a:rPr dirty="0" err="1"/>
              <a:t>nella</a:t>
            </a:r>
            <a:r>
              <a:rPr dirty="0"/>
              <a:t> </a:t>
            </a:r>
            <a:r>
              <a:rPr dirty="0" err="1"/>
              <a:t>stessa</a:t>
            </a:r>
            <a:r>
              <a:rPr dirty="0"/>
              <a:t> </a:t>
            </a:r>
            <a:r>
              <a:rPr dirty="0" err="1"/>
              <a:t>direzione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</a:t>
            </a:r>
            <a:r>
              <a:rPr dirty="0" err="1"/>
              <a:t>quindi</a:t>
            </a:r>
            <a:r>
              <a:rPr dirty="0"/>
              <a:t> la </a:t>
            </a:r>
            <a:r>
              <a:rPr dirty="0" err="1"/>
              <a:t>domanda</a:t>
            </a:r>
            <a:r>
              <a:rPr dirty="0"/>
              <a:t> “</a:t>
            </a:r>
            <a:r>
              <a:rPr dirty="0" err="1"/>
              <a:t>è</a:t>
            </a:r>
            <a:r>
              <a:rPr dirty="0"/>
              <a:t> </a:t>
            </a:r>
            <a:r>
              <a:rPr lang="it-IT" dirty="0"/>
              <a:t>un’arancia</a:t>
            </a:r>
            <a:r>
              <a:rPr dirty="0"/>
              <a:t>?” </a:t>
            </a:r>
            <a:r>
              <a:rPr dirty="0" err="1"/>
              <a:t>diventa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similarità</a:t>
            </a:r>
            <a:r>
              <a:rPr dirty="0"/>
              <a:t> del </a:t>
            </a:r>
            <a:r>
              <a:rPr dirty="0" err="1"/>
              <a:t>coseno</a:t>
            </a:r>
            <a:r>
              <a:rPr dirty="0"/>
              <a:t>.</a:t>
            </a:r>
            <a:endParaRPr lang="it-IT" dirty="0"/>
          </a:p>
          <a:p>
            <a:r>
              <a:rPr dirty="0"/>
              <a:t>Prendo il </a:t>
            </a:r>
            <a:r>
              <a:rPr dirty="0" err="1"/>
              <a:t>vettore</a:t>
            </a:r>
            <a:r>
              <a:rPr dirty="0"/>
              <a:t> </a:t>
            </a:r>
            <a:r>
              <a:rPr dirty="0" err="1"/>
              <a:t>dell’immagine</a:t>
            </a:r>
            <a:r>
              <a:rPr dirty="0"/>
              <a:t>, </a:t>
            </a:r>
            <a:r>
              <a:rPr dirty="0" err="1"/>
              <a:t>prendo</a:t>
            </a:r>
            <a:r>
              <a:rPr dirty="0"/>
              <a:t> il </a:t>
            </a:r>
            <a:r>
              <a:rPr dirty="0" err="1"/>
              <a:t>vettore</a:t>
            </a:r>
            <a:r>
              <a:rPr dirty="0"/>
              <a:t> della </a:t>
            </a:r>
            <a:r>
              <a:rPr dirty="0" err="1"/>
              <a:t>frase</a:t>
            </a:r>
            <a:r>
              <a:rPr dirty="0"/>
              <a:t>, </a:t>
            </a:r>
            <a:r>
              <a:rPr dirty="0" err="1"/>
              <a:t>faccio</a:t>
            </a:r>
            <a:r>
              <a:rPr dirty="0"/>
              <a:t> un </a:t>
            </a:r>
            <a:r>
              <a:rPr dirty="0" err="1"/>
              <a:t>prodotto</a:t>
            </a:r>
            <a:r>
              <a:rPr dirty="0"/>
              <a:t> </a:t>
            </a:r>
            <a:r>
              <a:rPr dirty="0" err="1"/>
              <a:t>scalare</a:t>
            </a:r>
            <a:r>
              <a:rPr dirty="0"/>
              <a:t>.</a:t>
            </a:r>
            <a:endParaRPr lang="it-IT" dirty="0"/>
          </a:p>
          <a:p>
            <a:r>
              <a:rPr dirty="0"/>
              <a:t>Il </a:t>
            </a:r>
            <a:r>
              <a:rPr dirty="0" err="1"/>
              <a:t>riconoscimento</a:t>
            </a:r>
            <a:r>
              <a:rPr dirty="0"/>
              <a:t> </a:t>
            </a:r>
            <a:r>
              <a:rPr dirty="0" err="1"/>
              <a:t>diventa</a:t>
            </a:r>
            <a:r>
              <a:rPr dirty="0"/>
              <a:t> </a:t>
            </a:r>
            <a:r>
              <a:rPr dirty="0" err="1"/>
              <a:t>geometria</a:t>
            </a:r>
            <a:r>
              <a:rPr dirty="0"/>
              <a:t>.</a:t>
            </a:r>
            <a:endParaRPr lang="it-IT" dirty="0"/>
          </a:p>
          <a:p>
            <a:r>
              <a:rPr dirty="0"/>
              <a:t>Un </a:t>
            </a:r>
            <a:r>
              <a:rPr dirty="0" err="1"/>
              <a:t>prodotto</a:t>
            </a:r>
            <a:r>
              <a:rPr dirty="0"/>
              <a:t> </a:t>
            </a:r>
            <a:r>
              <a:rPr dirty="0" err="1"/>
              <a:t>scalare</a:t>
            </a:r>
            <a:r>
              <a:rPr dirty="0"/>
              <a:t>, </a:t>
            </a:r>
            <a:r>
              <a:rPr lang="it-IT" dirty="0"/>
              <a:t>e </a:t>
            </a:r>
            <a:r>
              <a:rPr dirty="0"/>
              <a:t>non un </a:t>
            </a:r>
            <a:r>
              <a:rPr dirty="0" err="1"/>
              <a:t>paragrafo</a:t>
            </a:r>
            <a:r>
              <a:rPr dirty="0"/>
              <a:t> </a:t>
            </a:r>
            <a:r>
              <a:rPr dirty="0" err="1"/>
              <a:t>generato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il bello della </a:t>
            </a:r>
            <a:r>
              <a:rPr dirty="0" err="1"/>
              <a:t>similarità</a:t>
            </a:r>
            <a:r>
              <a:rPr dirty="0"/>
              <a:t> del </a:t>
            </a:r>
            <a:r>
              <a:rPr dirty="0" err="1"/>
              <a:t>coseno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un </a:t>
            </a:r>
            <a:r>
              <a:rPr dirty="0" err="1"/>
              <a:t>numero</a:t>
            </a:r>
            <a:r>
              <a:rPr dirty="0"/>
              <a:t>: da </a:t>
            </a:r>
            <a:r>
              <a:rPr dirty="0" err="1"/>
              <a:t>meno</a:t>
            </a:r>
            <a:r>
              <a:rPr dirty="0"/>
              <a:t> uno a uno.</a:t>
            </a:r>
            <a:endParaRPr lang="it-IT" dirty="0"/>
          </a:p>
          <a:p>
            <a:r>
              <a:rPr dirty="0" err="1"/>
              <a:t>Possiamo</a:t>
            </a:r>
            <a:r>
              <a:rPr dirty="0"/>
              <a:t> </a:t>
            </a:r>
            <a:r>
              <a:rPr dirty="0" err="1"/>
              <a:t>mettere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soglia</a:t>
            </a:r>
            <a:r>
              <a:rPr dirty="0"/>
              <a:t>, </a:t>
            </a:r>
            <a:r>
              <a:rPr dirty="0" err="1"/>
              <a:t>ordinare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risultati</a:t>
            </a:r>
            <a:r>
              <a:rPr dirty="0"/>
              <a:t>, </a:t>
            </a:r>
            <a:r>
              <a:rPr dirty="0" err="1"/>
              <a:t>scartare</a:t>
            </a:r>
            <a:r>
              <a:rPr dirty="0"/>
              <a:t> </a:t>
            </a:r>
            <a:r>
              <a:rPr dirty="0" err="1"/>
              <a:t>quelli</a:t>
            </a:r>
            <a:r>
              <a:rPr dirty="0"/>
              <a:t> poco </a:t>
            </a:r>
            <a:r>
              <a:rPr dirty="0" err="1"/>
              <a:t>convinti</a:t>
            </a:r>
            <a:r>
              <a:rPr dirty="0"/>
              <a:t>.</a:t>
            </a:r>
            <a:endParaRPr lang="it-IT" dirty="0"/>
          </a:p>
          <a:p>
            <a:r>
              <a:rPr dirty="0"/>
              <a:t>Niente JSON da </a:t>
            </a:r>
            <a:r>
              <a:rPr dirty="0" err="1"/>
              <a:t>parsare</a:t>
            </a:r>
            <a:r>
              <a:rPr dirty="0"/>
              <a:t>, niente </a:t>
            </a:r>
            <a:r>
              <a:rPr dirty="0" err="1"/>
              <a:t>allucinazioni</a:t>
            </a:r>
            <a:r>
              <a:rPr dirty="0"/>
              <a:t> in forma di testo: al </a:t>
            </a:r>
            <a:r>
              <a:rPr dirty="0" err="1"/>
              <a:t>massimo</a:t>
            </a:r>
            <a:r>
              <a:rPr dirty="0"/>
              <a:t> un </a:t>
            </a:r>
            <a:r>
              <a:rPr dirty="0" err="1"/>
              <a:t>punteggio</a:t>
            </a:r>
            <a:r>
              <a:rPr dirty="0"/>
              <a:t> basso.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Ora </a:t>
            </a:r>
            <a:r>
              <a:rPr dirty="0" err="1"/>
              <a:t>ripensate</a:t>
            </a:r>
            <a:r>
              <a:rPr dirty="0"/>
              <a:t> alle due </a:t>
            </a:r>
            <a:r>
              <a:rPr dirty="0" err="1"/>
              <a:t>fasi</a:t>
            </a:r>
            <a:r>
              <a:rPr dirty="0"/>
              <a:t> di prima.</a:t>
            </a:r>
            <a:endParaRPr lang="it-IT" dirty="0"/>
          </a:p>
          <a:p>
            <a:r>
              <a:rPr dirty="0"/>
              <a:t>Qui non </a:t>
            </a:r>
            <a:r>
              <a:rPr dirty="0" err="1"/>
              <a:t>c’è</a:t>
            </a:r>
            <a:r>
              <a:rPr dirty="0"/>
              <a:t> decode: non </a:t>
            </a:r>
            <a:r>
              <a:rPr dirty="0" err="1"/>
              <a:t>genero</a:t>
            </a:r>
            <a:r>
              <a:rPr dirty="0"/>
              <a:t> </a:t>
            </a:r>
            <a:r>
              <a:rPr dirty="0" err="1"/>
              <a:t>nessun</a:t>
            </a:r>
            <a:r>
              <a:rPr dirty="0"/>
              <a:t> token.</a:t>
            </a:r>
            <a:endParaRPr lang="it-IT" dirty="0"/>
          </a:p>
          <a:p>
            <a:r>
              <a:rPr dirty="0"/>
              <a:t>Non </a:t>
            </a:r>
            <a:r>
              <a:rPr dirty="0" err="1"/>
              <a:t>c’è</a:t>
            </a:r>
            <a:r>
              <a:rPr dirty="0"/>
              <a:t> un prefill da centinaia di token </a:t>
            </a:r>
            <a:r>
              <a:rPr dirty="0" err="1"/>
              <a:t>attraverso</a:t>
            </a:r>
            <a:r>
              <a:rPr dirty="0"/>
              <a:t> due </a:t>
            </a:r>
            <a:r>
              <a:rPr dirty="0" err="1"/>
              <a:t>miliardi</a:t>
            </a:r>
            <a:r>
              <a:rPr dirty="0"/>
              <a:t> di </a:t>
            </a:r>
            <a:r>
              <a:rPr dirty="0" err="1"/>
              <a:t>parametri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C’è solo un encoder da circa 140 mega che guarda la foto.</a:t>
            </a:r>
            <a:r>
              <a:rPr dirty="0"/>
              <a:t> Fine.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MobileCLIP-S2 </a:t>
            </a:r>
            <a:r>
              <a:rPr dirty="0" err="1"/>
              <a:t>gira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LiteRT</a:t>
            </a:r>
            <a:r>
              <a:rPr dirty="0"/>
              <a:t>,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qualsiasi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 Android, senza </a:t>
            </a:r>
            <a:r>
              <a:rPr dirty="0" err="1"/>
              <a:t>nessun</a:t>
            </a:r>
            <a:r>
              <a:rPr dirty="0"/>
              <a:t> </a:t>
            </a:r>
            <a:r>
              <a:rPr dirty="0" err="1"/>
              <a:t>ciclo</a:t>
            </a:r>
            <a:r>
              <a:rPr dirty="0"/>
              <a:t> di decode.</a:t>
            </a:r>
          </a:p>
          <a:p>
            <a:endParaRPr lang="it-IT" dirty="0"/>
          </a:p>
          <a:p>
            <a:endParaRPr dirty="0"/>
          </a:p>
          <a:p>
            <a:r>
              <a:rPr dirty="0" err="1"/>
              <a:t>C’è</a:t>
            </a:r>
            <a:r>
              <a:rPr dirty="0"/>
              <a:t> </a:t>
            </a:r>
            <a:r>
              <a:rPr dirty="0" err="1"/>
              <a:t>però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domanda</a:t>
            </a:r>
            <a:r>
              <a:rPr dirty="0"/>
              <a:t> </a:t>
            </a:r>
            <a:r>
              <a:rPr dirty="0" err="1"/>
              <a:t>ovvia</a:t>
            </a:r>
            <a:r>
              <a:rPr dirty="0"/>
              <a:t>: se il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confronta</a:t>
            </a:r>
            <a:r>
              <a:rPr dirty="0"/>
              <a:t> </a:t>
            </a:r>
            <a:r>
              <a:rPr dirty="0" err="1"/>
              <a:t>un’immagine</a:t>
            </a:r>
            <a:r>
              <a:rPr dirty="0"/>
              <a:t> con delle </a:t>
            </a:r>
            <a:r>
              <a:rPr dirty="0" err="1"/>
              <a:t>frasi</a:t>
            </a:r>
            <a:r>
              <a:rPr dirty="0"/>
              <a:t>… </a:t>
            </a:r>
            <a:r>
              <a:rPr dirty="0" err="1"/>
              <a:t>quali</a:t>
            </a:r>
            <a:r>
              <a:rPr dirty="0"/>
              <a:t> </a:t>
            </a:r>
            <a:r>
              <a:rPr dirty="0" err="1"/>
              <a:t>frasi</a:t>
            </a:r>
            <a:r>
              <a:rPr dirty="0"/>
              <a:t>? Da dove </a:t>
            </a:r>
            <a:r>
              <a:rPr dirty="0" err="1"/>
              <a:t>arrivano</a:t>
            </a:r>
            <a:r>
              <a:rPr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 </a:t>
            </a:r>
            <a:r>
              <a:rPr lang="en-US" dirty="0" err="1"/>
              <a:t>ecco</a:t>
            </a:r>
            <a:r>
              <a:rPr lang="en-US" dirty="0"/>
              <a:t> il trucco: il </a:t>
            </a:r>
            <a:r>
              <a:rPr lang="en-US" dirty="0" err="1"/>
              <a:t>vocabolario</a:t>
            </a:r>
            <a:r>
              <a:rPr lang="en-US" dirty="0"/>
              <a:t> </a:t>
            </a:r>
            <a:r>
              <a:rPr lang="en-US" dirty="0" err="1"/>
              <a:t>l’abbiamo</a:t>
            </a:r>
            <a:r>
              <a:rPr lang="en-US" dirty="0"/>
              <a:t> </a:t>
            </a:r>
            <a:r>
              <a:rPr lang="en-US" dirty="0" err="1"/>
              <a:t>costruito</a:t>
            </a:r>
            <a:r>
              <a:rPr lang="en-US" dirty="0"/>
              <a:t> </a:t>
            </a:r>
            <a:r>
              <a:rPr lang="en-US" dirty="0" err="1"/>
              <a:t>noi</a:t>
            </a:r>
            <a:r>
              <a:rPr lang="en-US" dirty="0"/>
              <a:t>.</a:t>
            </a:r>
          </a:p>
          <a:p>
            <a:r>
              <a:rPr lang="en-US" dirty="0"/>
              <a:t>Ed </a:t>
            </a:r>
            <a:r>
              <a:rPr lang="en-US" dirty="0" err="1"/>
              <a:t>è</a:t>
            </a:r>
            <a:r>
              <a:rPr lang="en-US" dirty="0"/>
              <a:t> un file di testo.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 </a:t>
            </a:r>
            <a:r>
              <a:rPr lang="en-US" dirty="0" err="1"/>
              <a:t>chiama</a:t>
            </a:r>
            <a:r>
              <a:rPr lang="en-US" dirty="0"/>
              <a:t> </a:t>
            </a:r>
            <a:r>
              <a:rPr lang="en-US" dirty="0" err="1"/>
              <a:t>ingredient_labels.txt</a:t>
            </a:r>
            <a:r>
              <a:rPr lang="en-US" dirty="0"/>
              <a:t>, e </a:t>
            </a:r>
            <a:r>
              <a:rPr lang="en-US" dirty="0" err="1"/>
              <a:t>contiene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di ottocento </a:t>
            </a:r>
            <a:r>
              <a:rPr lang="en-US" dirty="0" err="1"/>
              <a:t>etichette</a:t>
            </a:r>
            <a:r>
              <a:rPr lang="en-US" dirty="0"/>
              <a:t> di </a:t>
            </a:r>
            <a:r>
              <a:rPr lang="en-US" dirty="0" err="1"/>
              <a:t>ingredienti</a:t>
            </a:r>
            <a:r>
              <a:rPr lang="en-US" dirty="0"/>
              <a:t>, curate a mano.</a:t>
            </a:r>
          </a:p>
          <a:p>
            <a:r>
              <a:rPr lang="en-US" dirty="0"/>
              <a:t>Arancia. Fragola. Banana.</a:t>
            </a:r>
          </a:p>
          <a:p>
            <a:r>
              <a:rPr lang="en-US" dirty="0"/>
              <a:t>E </a:t>
            </a:r>
            <a:r>
              <a:rPr lang="en-US" dirty="0" err="1"/>
              <a:t>guardate</a:t>
            </a:r>
            <a:r>
              <a:rPr lang="en-US" dirty="0"/>
              <a:t> la terza </a:t>
            </a:r>
            <a:r>
              <a:rPr lang="en-US" dirty="0" err="1"/>
              <a:t>riga</a:t>
            </a:r>
            <a:r>
              <a:rPr lang="en-US" dirty="0"/>
              <a:t>: “latte senza </a:t>
            </a:r>
            <a:r>
              <a:rPr lang="en-US" dirty="0" err="1"/>
              <a:t>lattosio</a:t>
            </a:r>
            <a:r>
              <a:rPr lang="en-US" dirty="0"/>
              <a:t>, pipe, latte”. A sinistra </a:t>
            </a:r>
            <a:r>
              <a:rPr lang="en-US" dirty="0" err="1"/>
              <a:t>c’è</a:t>
            </a:r>
            <a:r>
              <a:rPr lang="en-US" dirty="0"/>
              <a:t> </a:t>
            </a:r>
            <a:r>
              <a:rPr lang="en-US" dirty="0" err="1"/>
              <a:t>l’etichetta</a:t>
            </a:r>
            <a:r>
              <a:rPr lang="en-US" dirty="0"/>
              <a:t> </a:t>
            </a:r>
            <a:r>
              <a:rPr lang="en-US" dirty="0" err="1"/>
              <a:t>specifica</a:t>
            </a:r>
            <a:r>
              <a:rPr lang="en-US" dirty="0"/>
              <a:t>, </a:t>
            </a:r>
            <a:r>
              <a:rPr lang="en-US" dirty="0" err="1"/>
              <a:t>quella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usiamo</a:t>
            </a:r>
            <a:r>
              <a:rPr lang="en-US" dirty="0"/>
              <a:t> per il match; a </a:t>
            </a:r>
            <a:r>
              <a:rPr lang="en-US" dirty="0" err="1"/>
              <a:t>destra</a:t>
            </a:r>
            <a:r>
              <a:rPr lang="en-US" dirty="0"/>
              <a:t> </a:t>
            </a:r>
            <a:r>
              <a:rPr lang="en-US" dirty="0" err="1"/>
              <a:t>quella</a:t>
            </a:r>
            <a:r>
              <a:rPr lang="en-US" dirty="0"/>
              <a:t> semplice,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mostriamo</a:t>
            </a:r>
            <a:r>
              <a:rPr lang="en-US" dirty="0"/>
              <a:t> </a:t>
            </a:r>
            <a:r>
              <a:rPr lang="en-US" dirty="0" err="1"/>
              <a:t>all’utente</a:t>
            </a:r>
            <a:r>
              <a:rPr lang="en-US" dirty="0"/>
              <a:t>. </a:t>
            </a:r>
            <a:r>
              <a:rPr lang="en-US" dirty="0" err="1"/>
              <a:t>Così</a:t>
            </a:r>
            <a:r>
              <a:rPr lang="en-US" dirty="0"/>
              <a:t> il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riconosce</a:t>
            </a:r>
            <a:r>
              <a:rPr lang="en-US" dirty="0"/>
              <a:t> il </a:t>
            </a:r>
            <a:r>
              <a:rPr lang="en-US" dirty="0" err="1"/>
              <a:t>cartone</a:t>
            </a:r>
            <a:r>
              <a:rPr lang="en-US" dirty="0"/>
              <a:t> di latte </a:t>
            </a:r>
            <a:r>
              <a:rPr lang="en-US" dirty="0" err="1"/>
              <a:t>intero</a:t>
            </a:r>
            <a:r>
              <a:rPr lang="en-US" dirty="0"/>
              <a:t>, ma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dispensa</a:t>
            </a:r>
            <a:r>
              <a:rPr lang="en-US" dirty="0"/>
              <a:t> </a:t>
            </a:r>
            <a:r>
              <a:rPr lang="en-US" dirty="0" err="1"/>
              <a:t>vedete</a:t>
            </a:r>
            <a:r>
              <a:rPr lang="en-US" dirty="0"/>
              <a:t> solo “latte”.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Questo</a:t>
            </a:r>
            <a:r>
              <a:rPr lang="en-US" dirty="0"/>
              <a:t> trucco </a:t>
            </a:r>
            <a:r>
              <a:rPr lang="en-US" dirty="0" err="1"/>
              <a:t>risolve</a:t>
            </a:r>
            <a:r>
              <a:rPr lang="en-US" dirty="0"/>
              <a:t> un </a:t>
            </a:r>
            <a:r>
              <a:rPr lang="en-US" dirty="0" err="1"/>
              <a:t>problema</a:t>
            </a:r>
            <a:r>
              <a:rPr lang="en-US" dirty="0"/>
              <a:t> molto </a:t>
            </a:r>
            <a:r>
              <a:rPr lang="en-US" dirty="0" err="1"/>
              <a:t>concreto</a:t>
            </a:r>
            <a:r>
              <a:rPr lang="en-US" dirty="0"/>
              <a:t>: CLIP </a:t>
            </a:r>
            <a:r>
              <a:rPr lang="en-US" dirty="0" err="1"/>
              <a:t>ragiona</a:t>
            </a:r>
            <a:r>
              <a:rPr lang="en-US" dirty="0"/>
              <a:t> </a:t>
            </a:r>
            <a:r>
              <a:rPr lang="en-US" dirty="0" err="1"/>
              <a:t>meglio</a:t>
            </a:r>
            <a:r>
              <a:rPr lang="en-US" dirty="0"/>
              <a:t> con </a:t>
            </a:r>
            <a:r>
              <a:rPr lang="en-US" dirty="0" err="1"/>
              <a:t>descrizioni</a:t>
            </a:r>
            <a:r>
              <a:rPr lang="en-US" dirty="0"/>
              <a:t> </a:t>
            </a:r>
            <a:r>
              <a:rPr lang="en-US" dirty="0" err="1"/>
              <a:t>specifiche</a:t>
            </a:r>
            <a:r>
              <a:rPr lang="en-US" dirty="0"/>
              <a:t>, ma per le </a:t>
            </a:r>
            <a:r>
              <a:rPr lang="en-US" dirty="0" err="1"/>
              <a:t>ricette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meglio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dispensa</a:t>
            </a:r>
            <a:r>
              <a:rPr lang="en-US" dirty="0"/>
              <a:t> </a:t>
            </a:r>
            <a:r>
              <a:rPr lang="en-US" dirty="0" err="1"/>
              <a:t>pulita</a:t>
            </a:r>
            <a:r>
              <a:rPr lang="en-US" dirty="0"/>
              <a:t>, non “</a:t>
            </a:r>
            <a:r>
              <a:rPr lang="en-US" dirty="0" err="1"/>
              <a:t>cartone</a:t>
            </a:r>
            <a:r>
              <a:rPr lang="en-US" dirty="0"/>
              <a:t> di latte </a:t>
            </a:r>
            <a:r>
              <a:rPr lang="en-US" dirty="0" err="1"/>
              <a:t>intero</a:t>
            </a:r>
            <a:r>
              <a:rPr lang="en-US" dirty="0"/>
              <a:t> </a:t>
            </a:r>
            <a:r>
              <a:rPr lang="en-US" dirty="0" err="1"/>
              <a:t>parzialmente</a:t>
            </a:r>
            <a:r>
              <a:rPr lang="en-US" dirty="0"/>
              <a:t> </a:t>
            </a:r>
            <a:r>
              <a:rPr lang="en-US" dirty="0" err="1"/>
              <a:t>scremato</a:t>
            </a:r>
            <a:r>
              <a:rPr lang="en-US" dirty="0"/>
              <a:t>”.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Poi: </a:t>
            </a:r>
            <a:r>
              <a:rPr lang="en-US" dirty="0" err="1"/>
              <a:t>gli</a:t>
            </a:r>
            <a:r>
              <a:rPr lang="en-US" dirty="0"/>
              <a:t> embedding del testo li </a:t>
            </a:r>
            <a:r>
              <a:rPr lang="en-US" dirty="0" err="1"/>
              <a:t>calcoliamo</a:t>
            </a:r>
            <a:r>
              <a:rPr lang="en-US" dirty="0"/>
              <a:t> offline, </a:t>
            </a:r>
            <a:r>
              <a:rPr lang="en-US" dirty="0" err="1"/>
              <a:t>su</a:t>
            </a:r>
            <a:r>
              <a:rPr lang="en-US" dirty="0"/>
              <a:t> un laptop, </a:t>
            </a:r>
            <a:r>
              <a:rPr lang="en-US" dirty="0" err="1"/>
              <a:t>una</a:t>
            </a:r>
            <a:r>
              <a:rPr lang="en-US" dirty="0"/>
              <a:t> volta sola.</a:t>
            </a:r>
          </a:p>
          <a:p>
            <a:r>
              <a:rPr lang="en-US" dirty="0"/>
              <a:t>Per ogni </a:t>
            </a:r>
            <a:r>
              <a:rPr lang="en-US" dirty="0" err="1"/>
              <a:t>etichetta</a:t>
            </a:r>
            <a:r>
              <a:rPr lang="en-US" dirty="0"/>
              <a:t> </a:t>
            </a:r>
            <a:r>
              <a:rPr lang="en-US" dirty="0" err="1"/>
              <a:t>usiamo</a:t>
            </a:r>
            <a:r>
              <a:rPr lang="en-US" dirty="0"/>
              <a:t> quattro template, </a:t>
            </a:r>
            <a:r>
              <a:rPr lang="en-US" dirty="0" err="1"/>
              <a:t>tipo</a:t>
            </a:r>
            <a:r>
              <a:rPr lang="en-US" dirty="0"/>
              <a:t> “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di </a:t>
            </a:r>
            <a:r>
              <a:rPr lang="en-US" dirty="0" err="1"/>
              <a:t>un’arancia</a:t>
            </a:r>
            <a:r>
              <a:rPr lang="en-US" dirty="0"/>
              <a:t>”, e </a:t>
            </a:r>
            <a:r>
              <a:rPr lang="en-US" dirty="0" err="1"/>
              <a:t>facciamo</a:t>
            </a:r>
            <a:r>
              <a:rPr lang="en-US" dirty="0"/>
              <a:t> la media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vettori</a:t>
            </a:r>
            <a:r>
              <a:rPr lang="en-US" dirty="0"/>
              <a:t>,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rende</a:t>
            </a:r>
            <a:r>
              <a:rPr lang="en-US" dirty="0"/>
              <a:t> il </a:t>
            </a:r>
            <a:r>
              <a:rPr lang="en-US" dirty="0" err="1"/>
              <a:t>risultato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Il </a:t>
            </a:r>
            <a:r>
              <a:rPr lang="en-US" dirty="0" err="1"/>
              <a:t>risultato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circa 4,5 megabyte di </a:t>
            </a:r>
            <a:r>
              <a:rPr lang="en-US" dirty="0" err="1"/>
              <a:t>vettori</a:t>
            </a:r>
            <a:r>
              <a:rPr lang="en-US" dirty="0"/>
              <a:t>, </a:t>
            </a:r>
            <a:r>
              <a:rPr lang="en-US" dirty="0" err="1"/>
              <a:t>inclusi</a:t>
            </a:r>
            <a:r>
              <a:rPr lang="en-US" dirty="0"/>
              <a:t> </a:t>
            </a:r>
            <a:r>
              <a:rPr lang="en-US" dirty="0" err="1"/>
              <a:t>nell’APK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qui </a:t>
            </a:r>
            <a:r>
              <a:rPr lang="en-US" dirty="0" err="1"/>
              <a:t>c’è</a:t>
            </a:r>
            <a:r>
              <a:rPr lang="en-US" dirty="0"/>
              <a:t> il punto </a:t>
            </a:r>
            <a:r>
              <a:rPr lang="en-US" dirty="0" err="1"/>
              <a:t>chiave</a:t>
            </a:r>
            <a:r>
              <a:rPr lang="en-US" dirty="0"/>
              <a:t>: </a:t>
            </a:r>
            <a:r>
              <a:rPr lang="en-US" dirty="0" err="1"/>
              <a:t>siccome</a:t>
            </a:r>
            <a:r>
              <a:rPr lang="en-US" dirty="0"/>
              <a:t> le </a:t>
            </a:r>
            <a:r>
              <a:rPr lang="en-US" dirty="0" err="1"/>
              <a:t>etichette</a:t>
            </a:r>
            <a:r>
              <a:rPr lang="en-US" dirty="0"/>
              <a:t> non </a:t>
            </a:r>
            <a:r>
              <a:rPr lang="en-US" dirty="0" err="1"/>
              <a:t>cambiano</a:t>
            </a:r>
            <a:r>
              <a:rPr lang="en-US" dirty="0"/>
              <a:t> a runtime, non ha senso far </a:t>
            </a:r>
            <a:r>
              <a:rPr lang="en-US" dirty="0" err="1"/>
              <a:t>girare</a:t>
            </a:r>
            <a:r>
              <a:rPr lang="en-US" dirty="0"/>
              <a:t> il text encoder </a:t>
            </a:r>
            <a:r>
              <a:rPr lang="en-US" dirty="0" err="1"/>
              <a:t>sul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. Lo </a:t>
            </a:r>
            <a:r>
              <a:rPr lang="en-US" dirty="0" err="1"/>
              <a:t>lasciamo</a:t>
            </a:r>
            <a:r>
              <a:rPr lang="en-US" dirty="0"/>
              <a:t> </a:t>
            </a:r>
            <a:r>
              <a:rPr lang="en-US" dirty="0" err="1"/>
              <a:t>sul</a:t>
            </a:r>
            <a:r>
              <a:rPr lang="en-US" dirty="0"/>
              <a:t> laptop.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sul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 </a:t>
            </a:r>
            <a:r>
              <a:rPr lang="en-US" dirty="0" err="1"/>
              <a:t>gira</a:t>
            </a:r>
            <a:r>
              <a:rPr lang="en-US" dirty="0"/>
              <a:t> solo </a:t>
            </a:r>
            <a:r>
              <a:rPr lang="en-US" dirty="0" err="1"/>
              <a:t>l’image</a:t>
            </a:r>
            <a:r>
              <a:rPr lang="en-US" dirty="0"/>
              <a:t> encoder.</a:t>
            </a:r>
          </a:p>
          <a:p>
            <a:r>
              <a:rPr lang="en-US" dirty="0"/>
              <a:t>Il </a:t>
            </a:r>
            <a:r>
              <a:rPr lang="en-US" dirty="0" err="1"/>
              <a:t>flusso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: </a:t>
            </a:r>
            <a:r>
              <a:rPr lang="en-US" dirty="0" err="1"/>
              <a:t>ritagliamo</a:t>
            </a:r>
            <a:r>
              <a:rPr lang="en-US" dirty="0"/>
              <a:t> la </a:t>
            </a:r>
            <a:r>
              <a:rPr lang="en-US" dirty="0" err="1"/>
              <a:t>foto</a:t>
            </a:r>
            <a:r>
              <a:rPr lang="en-US" dirty="0"/>
              <a:t> in tanti crop, a due scale diverse, </a:t>
            </a:r>
            <a:r>
              <a:rPr lang="en-US" dirty="0" err="1"/>
              <a:t>calcoliamo</a:t>
            </a:r>
            <a:r>
              <a:rPr lang="en-US" dirty="0"/>
              <a:t> </a:t>
            </a:r>
            <a:r>
              <a:rPr lang="en-US" dirty="0" err="1"/>
              <a:t>l’embedding</a:t>
            </a:r>
            <a:r>
              <a:rPr lang="en-US" dirty="0"/>
              <a:t> di ogni crop, </a:t>
            </a:r>
            <a:r>
              <a:rPr lang="en-US" dirty="0" err="1"/>
              <a:t>confrontiamo</a:t>
            </a:r>
            <a:r>
              <a:rPr lang="en-US" dirty="0"/>
              <a:t> col </a:t>
            </a:r>
            <a:r>
              <a:rPr lang="en-US" dirty="0" err="1"/>
              <a:t>coseno</a:t>
            </a:r>
            <a:r>
              <a:rPr lang="en-US" dirty="0"/>
              <a:t> </a:t>
            </a:r>
            <a:r>
              <a:rPr lang="en-US" dirty="0" err="1"/>
              <a:t>contro</a:t>
            </a:r>
            <a:r>
              <a:rPr lang="en-US" dirty="0"/>
              <a:t> tutte le </a:t>
            </a:r>
            <a:r>
              <a:rPr lang="en-US" dirty="0" err="1"/>
              <a:t>etichette</a:t>
            </a:r>
            <a:r>
              <a:rPr lang="en-US" dirty="0"/>
              <a:t>, e </a:t>
            </a:r>
            <a:r>
              <a:rPr lang="en-US" dirty="0" err="1"/>
              <a:t>vincono</a:t>
            </a:r>
            <a:r>
              <a:rPr lang="en-US" dirty="0"/>
              <a:t> le </a:t>
            </a:r>
            <a:r>
              <a:rPr lang="en-US" dirty="0" err="1"/>
              <a:t>corrispondenze</a:t>
            </a:r>
            <a:r>
              <a:rPr lang="en-US" dirty="0"/>
              <a:t> </a:t>
            </a:r>
            <a:r>
              <a:rPr lang="en-US" dirty="0" err="1"/>
              <a:t>migliori</a:t>
            </a:r>
            <a:r>
              <a:rPr lang="en-US" dirty="0"/>
              <a:t>, sopra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soglia</a:t>
            </a:r>
            <a:r>
              <a:rPr lang="en-US" dirty="0"/>
              <a:t> di </a:t>
            </a:r>
            <a:r>
              <a:rPr lang="en-US" dirty="0" err="1"/>
              <a:t>confidenza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un </a:t>
            </a:r>
            <a:r>
              <a:rPr lang="en-US" dirty="0" err="1"/>
              <a:t>dettaglio</a:t>
            </a:r>
            <a:r>
              <a:rPr lang="en-US" dirty="0"/>
              <a:t> </a:t>
            </a:r>
            <a:r>
              <a:rPr lang="en-US" dirty="0" err="1"/>
              <a:t>furbo</a:t>
            </a:r>
            <a:r>
              <a:rPr lang="en-US" dirty="0"/>
              <a:t>: </a:t>
            </a:r>
            <a:r>
              <a:rPr lang="en-US" dirty="0" err="1"/>
              <a:t>nel</a:t>
            </a:r>
            <a:r>
              <a:rPr lang="en-US" dirty="0"/>
              <a:t> file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anche</a:t>
            </a:r>
            <a:r>
              <a:rPr lang="en-US" dirty="0"/>
              <a:t> </a:t>
            </a:r>
            <a:r>
              <a:rPr lang="en-US" dirty="0" err="1"/>
              <a:t>alcune</a:t>
            </a:r>
            <a:r>
              <a:rPr lang="en-US" dirty="0"/>
              <a:t> </a:t>
            </a:r>
            <a:r>
              <a:rPr lang="en-US" dirty="0" err="1"/>
              <a:t>etichette</a:t>
            </a:r>
            <a:r>
              <a:rPr lang="en-US" dirty="0"/>
              <a:t> “</a:t>
            </a:r>
            <a:r>
              <a:rPr lang="en-US" dirty="0" err="1"/>
              <a:t>distrattore</a:t>
            </a:r>
            <a:r>
              <a:rPr lang="en-US" dirty="0"/>
              <a:t>”,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cibo</a:t>
            </a:r>
            <a:r>
              <a:rPr lang="en-US" dirty="0"/>
              <a:t>.</a:t>
            </a:r>
          </a:p>
          <a:p>
            <a:r>
              <a:rPr lang="en-US" dirty="0" err="1"/>
              <a:t>Servono</a:t>
            </a:r>
            <a:r>
              <a:rPr lang="en-US" dirty="0"/>
              <a:t> ad </a:t>
            </a:r>
            <a:r>
              <a:rPr lang="en-US" dirty="0" err="1"/>
              <a:t>assorbire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crop </a:t>
            </a:r>
            <a:r>
              <a:rPr lang="en-US" dirty="0" err="1"/>
              <a:t>vuoti</a:t>
            </a:r>
            <a:r>
              <a:rPr lang="en-US" dirty="0"/>
              <a:t>, lo </a:t>
            </a:r>
            <a:r>
              <a:rPr lang="en-US" dirty="0" err="1"/>
              <a:t>scaffale</a:t>
            </a:r>
            <a:r>
              <a:rPr lang="en-US" dirty="0"/>
              <a:t>, la </a:t>
            </a:r>
            <a:r>
              <a:rPr lang="en-US" dirty="0" err="1"/>
              <a:t>mensola</a:t>
            </a:r>
            <a:r>
              <a:rPr lang="en-US" dirty="0"/>
              <a:t>, </a:t>
            </a:r>
            <a:r>
              <a:rPr lang="en-US" dirty="0" err="1"/>
              <a:t>così</a:t>
            </a:r>
            <a:r>
              <a:rPr lang="en-US" dirty="0"/>
              <a:t> non </a:t>
            </a:r>
            <a:r>
              <a:rPr lang="en-US" dirty="0" err="1"/>
              <a:t>diventano</a:t>
            </a:r>
            <a:r>
              <a:rPr lang="en-US" dirty="0"/>
              <a:t> un </a:t>
            </a:r>
            <a:r>
              <a:rPr lang="en-US" dirty="0" err="1"/>
              <a:t>ingrediente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la </a:t>
            </a:r>
            <a:r>
              <a:rPr lang="en-US" dirty="0" err="1"/>
              <a:t>cosa</a:t>
            </a:r>
            <a:r>
              <a:rPr lang="en-US" dirty="0"/>
              <a:t> </a:t>
            </a:r>
            <a:r>
              <a:rPr lang="en-US" dirty="0" err="1"/>
              <a:t>bella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questa</a:t>
            </a:r>
            <a:r>
              <a:rPr lang="en-US" dirty="0"/>
              <a:t>: il “</a:t>
            </a:r>
            <a:r>
              <a:rPr lang="en-US" dirty="0" err="1"/>
              <a:t>classificatore</a:t>
            </a:r>
            <a:r>
              <a:rPr lang="en-US" dirty="0"/>
              <a:t>” </a:t>
            </a:r>
            <a:r>
              <a:rPr lang="en-US" dirty="0" err="1"/>
              <a:t>è</a:t>
            </a:r>
            <a:r>
              <a:rPr lang="en-US" dirty="0"/>
              <a:t> un file di testo </a:t>
            </a:r>
            <a:r>
              <a:rPr lang="en-US" dirty="0" err="1"/>
              <a:t>modificabile</a:t>
            </a:r>
            <a:r>
              <a:rPr lang="en-US" dirty="0"/>
              <a:t>.</a:t>
            </a:r>
          </a:p>
          <a:p>
            <a:r>
              <a:rPr lang="en-US" dirty="0" err="1"/>
              <a:t>Vuoi</a:t>
            </a:r>
            <a:r>
              <a:rPr lang="en-US" dirty="0"/>
              <a:t> </a:t>
            </a:r>
            <a:r>
              <a:rPr lang="en-US" dirty="0" err="1"/>
              <a:t>aggiungere</a:t>
            </a:r>
            <a:r>
              <a:rPr lang="en-US" dirty="0"/>
              <a:t> un </a:t>
            </a:r>
            <a:r>
              <a:rPr lang="en-US" dirty="0" err="1"/>
              <a:t>ingrediente</a:t>
            </a:r>
            <a:r>
              <a:rPr lang="en-US" dirty="0"/>
              <a:t>? </a:t>
            </a:r>
            <a:r>
              <a:rPr lang="en-US" dirty="0" err="1"/>
              <a:t>Aggiungi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riga</a:t>
            </a:r>
            <a:r>
              <a:rPr lang="en-US" dirty="0"/>
              <a:t>, </a:t>
            </a:r>
            <a:r>
              <a:rPr lang="en-US" dirty="0" err="1"/>
              <a:t>rigeneri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vettori</a:t>
            </a:r>
            <a:r>
              <a:rPr lang="en-US" dirty="0"/>
              <a:t>, </a:t>
            </a:r>
            <a:r>
              <a:rPr lang="en-US" dirty="0" err="1"/>
              <a:t>fatto</a:t>
            </a:r>
            <a:r>
              <a:rPr lang="en-US" dirty="0"/>
              <a:t>. Nessun dataset, </a:t>
            </a:r>
            <a:r>
              <a:rPr lang="en-US" dirty="0" err="1"/>
              <a:t>nessun</a:t>
            </a:r>
            <a:r>
              <a:rPr lang="en-US" dirty="0"/>
              <a:t> training.</a:t>
            </a:r>
          </a:p>
          <a:p>
            <a:endParaRPr lang="en-US" dirty="0"/>
          </a:p>
          <a:p>
            <a:r>
              <a:rPr lang="en-US" dirty="0"/>
              <a:t>E il </a:t>
            </a:r>
            <a:r>
              <a:rPr lang="en-US" dirty="0" err="1"/>
              <a:t>risultato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Stesso </a:t>
            </a:r>
            <a:r>
              <a:rPr dirty="0" err="1"/>
              <a:t>telefono</a:t>
            </a:r>
            <a:r>
              <a:rPr dirty="0"/>
              <a:t>. </a:t>
            </a:r>
            <a:r>
              <a:rPr dirty="0" err="1"/>
              <a:t>Stessa</a:t>
            </a:r>
            <a:r>
              <a:rPr dirty="0"/>
              <a:t> </a:t>
            </a:r>
            <a:r>
              <a:rPr dirty="0" err="1"/>
              <a:t>foto</a:t>
            </a:r>
            <a:r>
              <a:rPr dirty="0"/>
              <a:t> del </a:t>
            </a:r>
            <a:r>
              <a:rPr dirty="0" err="1"/>
              <a:t>frigo</a:t>
            </a:r>
            <a:r>
              <a:rPr dirty="0"/>
              <a:t>.</a:t>
            </a:r>
          </a:p>
          <a:p>
            <a:endParaRPr dirty="0"/>
          </a:p>
          <a:p>
            <a:r>
              <a:rPr i="1" dirty="0"/>
              <a:t>[pausa]</a:t>
            </a:r>
          </a:p>
          <a:p>
            <a:endParaRPr dirty="0"/>
          </a:p>
          <a:p>
            <a:r>
              <a:rPr dirty="0"/>
              <a:t>Minuti… </a:t>
            </a:r>
            <a:r>
              <a:rPr dirty="0" err="1"/>
              <a:t>diventano</a:t>
            </a:r>
            <a:r>
              <a:rPr dirty="0"/>
              <a:t> secondi.</a:t>
            </a:r>
          </a:p>
          <a:p>
            <a:endParaRPr dirty="0"/>
          </a:p>
          <a:p>
            <a:r>
              <a:rPr i="1" dirty="0"/>
              <a:t>[pausa]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Non 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cambiato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. Non 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comprato</a:t>
            </a:r>
            <a:r>
              <a:rPr dirty="0"/>
              <a:t> un chip nuovo.</a:t>
            </a:r>
            <a:endParaRPr lang="it-IT" dirty="0"/>
          </a:p>
          <a:p>
            <a:r>
              <a:rPr dirty="0"/>
              <a:t>Non 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quantizzato</a:t>
            </a:r>
            <a:r>
              <a:rPr dirty="0"/>
              <a:t> </a:t>
            </a:r>
            <a:r>
              <a:rPr dirty="0" err="1"/>
              <a:t>fino</a:t>
            </a:r>
            <a:r>
              <a:rPr dirty="0"/>
              <a:t> </a:t>
            </a:r>
            <a:r>
              <a:rPr dirty="0" err="1"/>
              <a:t>all’osso</a:t>
            </a:r>
            <a:r>
              <a:rPr dirty="0"/>
              <a:t> </a:t>
            </a:r>
            <a:r>
              <a:rPr dirty="0" err="1"/>
              <a:t>l’LLM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cambiato</a:t>
            </a:r>
            <a:r>
              <a:rPr dirty="0"/>
              <a:t> la </a:t>
            </a:r>
            <a:r>
              <a:rPr dirty="0" err="1"/>
              <a:t>classe</a:t>
            </a:r>
            <a:r>
              <a:rPr dirty="0"/>
              <a:t> di </a:t>
            </a:r>
            <a:r>
              <a:rPr dirty="0" err="1"/>
              <a:t>modello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smesso</a:t>
            </a:r>
            <a:r>
              <a:rPr dirty="0"/>
              <a:t> di </a:t>
            </a:r>
            <a:r>
              <a:rPr dirty="0" err="1"/>
              <a:t>chiedere</a:t>
            </a:r>
            <a:r>
              <a:rPr dirty="0"/>
              <a:t> a 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generativo</a:t>
            </a:r>
            <a:r>
              <a:rPr dirty="0"/>
              <a:t> di fare un </a:t>
            </a:r>
            <a:r>
              <a:rPr dirty="0" err="1"/>
              <a:t>lavoro</a:t>
            </a:r>
            <a:r>
              <a:rPr dirty="0"/>
              <a:t> di </a:t>
            </a:r>
            <a:r>
              <a:rPr dirty="0" err="1"/>
              <a:t>confronto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E il bello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il </a:t>
            </a:r>
            <a:r>
              <a:rPr dirty="0" err="1"/>
              <a:t>vecchio</a:t>
            </a:r>
            <a:r>
              <a:rPr dirty="0"/>
              <a:t> </a:t>
            </a:r>
            <a:r>
              <a:rPr dirty="0" err="1"/>
              <a:t>approccio</a:t>
            </a:r>
            <a:r>
              <a:rPr dirty="0"/>
              <a:t> non </a:t>
            </a:r>
            <a:r>
              <a:rPr dirty="0" err="1"/>
              <a:t>l’abbiamo</a:t>
            </a:r>
            <a:r>
              <a:rPr dirty="0"/>
              <a:t> </a:t>
            </a:r>
            <a:r>
              <a:rPr dirty="0" err="1"/>
              <a:t>buttato</a:t>
            </a:r>
            <a:r>
              <a:rPr dirty="0"/>
              <a:t>: la </a:t>
            </a:r>
            <a:r>
              <a:rPr dirty="0" err="1"/>
              <a:t>qualità</a:t>
            </a:r>
            <a:r>
              <a:rPr dirty="0"/>
              <a:t> </a:t>
            </a:r>
            <a:r>
              <a:rPr dirty="0" err="1"/>
              <a:t>dell’LLM</a:t>
            </a:r>
            <a:r>
              <a:rPr dirty="0"/>
              <a:t> per il </a:t>
            </a:r>
            <a:r>
              <a:rPr dirty="0" err="1"/>
              <a:t>rilevamento</a:t>
            </a:r>
            <a:r>
              <a:rPr dirty="0"/>
              <a:t> era </a:t>
            </a:r>
            <a:r>
              <a:rPr dirty="0" err="1"/>
              <a:t>ottima</a:t>
            </a:r>
            <a:r>
              <a:rPr dirty="0"/>
              <a:t>, ma MobileCLIP ci </a:t>
            </a:r>
            <a:r>
              <a:rPr dirty="0" err="1"/>
              <a:t>dà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qualità</a:t>
            </a:r>
            <a:r>
              <a:rPr dirty="0"/>
              <a:t> </a:t>
            </a:r>
            <a:r>
              <a:rPr dirty="0" err="1"/>
              <a:t>comparabile</a:t>
            </a:r>
            <a:r>
              <a:rPr dirty="0"/>
              <a:t> in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frazione</a:t>
            </a:r>
            <a:r>
              <a:rPr dirty="0"/>
              <a:t> del tempo,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qualsiasi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Ed </a:t>
            </a:r>
            <a:r>
              <a:rPr dirty="0" err="1"/>
              <a:t>è</a:t>
            </a:r>
            <a:r>
              <a:rPr dirty="0"/>
              <a:t> la </a:t>
            </a:r>
            <a:r>
              <a:rPr dirty="0" err="1"/>
              <a:t>lezione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importante</a:t>
            </a:r>
            <a:r>
              <a:rPr dirty="0"/>
              <a:t> di </a:t>
            </a:r>
            <a:r>
              <a:rPr dirty="0" err="1"/>
              <a:t>tutto</a:t>
            </a:r>
            <a:r>
              <a:rPr dirty="0"/>
              <a:t> il talk: prima di </a:t>
            </a:r>
            <a:r>
              <a:rPr dirty="0" err="1"/>
              <a:t>ottimizzare</a:t>
            </a:r>
            <a:r>
              <a:rPr dirty="0"/>
              <a:t> il </a:t>
            </a:r>
            <a:r>
              <a:rPr dirty="0" err="1"/>
              <a:t>modello</a:t>
            </a:r>
            <a:r>
              <a:rPr dirty="0"/>
              <a:t>, </a:t>
            </a:r>
            <a:r>
              <a:rPr dirty="0" err="1"/>
              <a:t>chiedetevi</a:t>
            </a:r>
            <a:r>
              <a:rPr dirty="0"/>
              <a:t> se </a:t>
            </a:r>
            <a:r>
              <a:rPr dirty="0" err="1"/>
              <a:t>è</a:t>
            </a:r>
            <a:r>
              <a:rPr dirty="0"/>
              <a:t> il </a:t>
            </a:r>
            <a:r>
              <a:rPr dirty="0" err="1"/>
              <a:t>modello</a:t>
            </a:r>
            <a:r>
              <a:rPr dirty="0"/>
              <a:t> giusto per </a:t>
            </a:r>
            <a:r>
              <a:rPr dirty="0" err="1"/>
              <a:t>quel</a:t>
            </a:r>
            <a:r>
              <a:rPr dirty="0"/>
              <a:t> </a:t>
            </a:r>
            <a:r>
              <a:rPr dirty="0" err="1"/>
              <a:t>compito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Ma a </a:t>
            </a:r>
            <a:r>
              <a:rPr dirty="0" err="1"/>
              <a:t>questo</a:t>
            </a:r>
            <a:r>
              <a:rPr dirty="0"/>
              <a:t> punto </a:t>
            </a:r>
            <a:r>
              <a:rPr dirty="0" err="1"/>
              <a:t>avevamo</a:t>
            </a:r>
            <a:r>
              <a:rPr dirty="0"/>
              <a:t> 2,6 gigabyte di Gemma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, e </a:t>
            </a:r>
            <a:r>
              <a:rPr dirty="0" err="1"/>
              <a:t>nessun</a:t>
            </a:r>
            <a:r>
              <a:rPr dirty="0"/>
              <a:t> </a:t>
            </a:r>
            <a:r>
              <a:rPr dirty="0" err="1"/>
              <a:t>lavoro</a:t>
            </a:r>
            <a:r>
              <a:rPr dirty="0"/>
              <a:t> da </a:t>
            </a:r>
            <a:r>
              <a:rPr dirty="0" err="1"/>
              <a:t>fargli</a:t>
            </a:r>
            <a:r>
              <a:rPr dirty="0"/>
              <a:t> fare.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Capitolo</a:t>
            </a:r>
            <a:r>
              <a:rPr dirty="0"/>
              <a:t> quattro. Il </a:t>
            </a:r>
            <a:r>
              <a:rPr dirty="0" err="1"/>
              <a:t>protagonista</a:t>
            </a:r>
            <a:r>
              <a:rPr dirty="0"/>
              <a:t>: Gemma, il </a:t>
            </a:r>
            <a:r>
              <a:rPr dirty="0" err="1"/>
              <a:t>ritorno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Sono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stessi</a:t>
            </a:r>
            <a:r>
              <a:rPr dirty="0"/>
              <a:t> 2,6 gigabyte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avevamo</a:t>
            </a:r>
            <a:r>
              <a:rPr dirty="0"/>
              <a:t> </a:t>
            </a:r>
            <a:r>
              <a:rPr dirty="0" err="1"/>
              <a:t>già</a:t>
            </a:r>
            <a:r>
              <a:rPr dirty="0"/>
              <a:t>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.</a:t>
            </a:r>
            <a:endParaRPr lang="it-IT" dirty="0"/>
          </a:p>
          <a:p>
            <a:r>
              <a:rPr dirty="0"/>
              <a:t>Ma ora fa il </a:t>
            </a:r>
            <a:r>
              <a:rPr dirty="0" err="1"/>
              <a:t>lavoro</a:t>
            </a:r>
            <a:r>
              <a:rPr dirty="0"/>
              <a:t> per cui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stato</a:t>
            </a:r>
            <a:r>
              <a:rPr dirty="0"/>
              <a:t> </a:t>
            </a:r>
            <a:r>
              <a:rPr dirty="0" err="1"/>
              <a:t>costruito</a:t>
            </a:r>
            <a:r>
              <a:rPr dirty="0"/>
              <a:t>.</a:t>
            </a:r>
            <a:endParaRPr lang="it-IT" dirty="0"/>
          </a:p>
          <a:p>
            <a:r>
              <a:rPr dirty="0"/>
              <a:t>Lo </a:t>
            </a:r>
            <a:r>
              <a:rPr dirty="0" err="1"/>
              <a:t>avevamo</a:t>
            </a:r>
            <a:r>
              <a:rPr dirty="0"/>
              <a:t> </a:t>
            </a:r>
            <a:r>
              <a:rPr dirty="0" err="1"/>
              <a:t>messo</a:t>
            </a:r>
            <a:r>
              <a:rPr dirty="0"/>
              <a:t> in </a:t>
            </a:r>
            <a:r>
              <a:rPr dirty="0" err="1"/>
              <a:t>panchina</a:t>
            </a:r>
            <a:r>
              <a:rPr dirty="0"/>
              <a:t> per la </a:t>
            </a:r>
            <a:r>
              <a:rPr dirty="0" err="1"/>
              <a:t>percezione</a:t>
            </a:r>
            <a:r>
              <a:rPr dirty="0"/>
              <a:t>, ma non </a:t>
            </a:r>
            <a:r>
              <a:rPr dirty="0" err="1"/>
              <a:t>l’abbiamo</a:t>
            </a:r>
            <a:r>
              <a:rPr dirty="0"/>
              <a:t> </a:t>
            </a:r>
            <a:r>
              <a:rPr dirty="0" err="1"/>
              <a:t>mai</a:t>
            </a:r>
            <a:r>
              <a:rPr dirty="0"/>
              <a:t> </a:t>
            </a:r>
            <a:r>
              <a:rPr dirty="0" err="1"/>
              <a:t>disinstallato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La </a:t>
            </a:r>
            <a:r>
              <a:rPr dirty="0" err="1"/>
              <a:t>differenza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stavolta</a:t>
            </a:r>
            <a:r>
              <a:rPr dirty="0"/>
              <a:t> </a:t>
            </a:r>
            <a:r>
              <a:rPr dirty="0" err="1"/>
              <a:t>lavora</a:t>
            </a:r>
            <a:r>
              <a:rPr dirty="0"/>
              <a:t> solo con il testo.</a:t>
            </a:r>
            <a:endParaRPr lang="it-IT" dirty="0"/>
          </a:p>
          <a:p>
            <a:r>
              <a:rPr dirty="0"/>
              <a:t>Niente </a:t>
            </a:r>
            <a:r>
              <a:rPr dirty="0" err="1"/>
              <a:t>foto</a:t>
            </a:r>
            <a:r>
              <a:rPr dirty="0"/>
              <a:t>, niente token immagine, niente prefill </a:t>
            </a:r>
            <a:r>
              <a:rPr dirty="0" err="1"/>
              <a:t>enorme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L’input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breve </a:t>
            </a:r>
            <a:r>
              <a:rPr dirty="0" err="1"/>
              <a:t>lista</a:t>
            </a:r>
            <a:r>
              <a:rPr dirty="0"/>
              <a:t> di </a:t>
            </a:r>
            <a:r>
              <a:rPr dirty="0" err="1"/>
              <a:t>ingredienti</a:t>
            </a:r>
            <a:r>
              <a:rPr dirty="0"/>
              <a:t>: “</a:t>
            </a:r>
            <a:r>
              <a:rPr dirty="0" err="1"/>
              <a:t>uova</a:t>
            </a:r>
            <a:r>
              <a:rPr dirty="0"/>
              <a:t>, </a:t>
            </a:r>
            <a:r>
              <a:rPr dirty="0" err="1"/>
              <a:t>zucchine</a:t>
            </a:r>
            <a:r>
              <a:rPr dirty="0"/>
              <a:t>, </a:t>
            </a:r>
            <a:r>
              <a:rPr dirty="0" err="1"/>
              <a:t>pomodori</a:t>
            </a:r>
            <a:r>
              <a:rPr dirty="0"/>
              <a:t>, </a:t>
            </a:r>
            <a:r>
              <a:rPr lang="it-IT" dirty="0" err="1"/>
              <a:t>P</a:t>
            </a:r>
            <a:r>
              <a:rPr dirty="0" err="1"/>
              <a:t>armigiano</a:t>
            </a:r>
            <a:r>
              <a:rPr dirty="0"/>
              <a:t>”.</a:t>
            </a:r>
            <a:endParaRPr lang="it-IT" dirty="0"/>
          </a:p>
          <a:p>
            <a:r>
              <a:rPr dirty="0" err="1"/>
              <a:t>Quindi</a:t>
            </a:r>
            <a:r>
              <a:rPr dirty="0"/>
              <a:t> il </a:t>
            </a:r>
            <a:r>
              <a:rPr dirty="0" err="1"/>
              <a:t>costo</a:t>
            </a:r>
            <a:r>
              <a:rPr dirty="0"/>
              <a:t> a due </a:t>
            </a:r>
            <a:r>
              <a:rPr dirty="0" err="1"/>
              <a:t>fasi</a:t>
            </a:r>
            <a:r>
              <a:rPr dirty="0"/>
              <a:t>, </a:t>
            </a:r>
            <a:r>
              <a:rPr dirty="0" err="1"/>
              <a:t>che</a:t>
            </a:r>
            <a:r>
              <a:rPr dirty="0"/>
              <a:t> prima ci </a:t>
            </a:r>
            <a:r>
              <a:rPr dirty="0" err="1"/>
              <a:t>aveva</a:t>
            </a:r>
            <a:r>
              <a:rPr dirty="0"/>
              <a:t> </a:t>
            </a:r>
            <a:r>
              <a:rPr dirty="0" err="1"/>
              <a:t>ucciso</a:t>
            </a:r>
            <a:r>
              <a:rPr dirty="0"/>
              <a:t>, </a:t>
            </a:r>
            <a:r>
              <a:rPr dirty="0" err="1"/>
              <a:t>adesso</a:t>
            </a:r>
            <a:r>
              <a:rPr dirty="0"/>
              <a:t> </a:t>
            </a:r>
            <a:r>
              <a:rPr dirty="0" err="1"/>
              <a:t>gioca</a:t>
            </a:r>
            <a:r>
              <a:rPr dirty="0"/>
              <a:t> a nostro </a:t>
            </a:r>
            <a:r>
              <a:rPr dirty="0" err="1"/>
              <a:t>favore</a:t>
            </a:r>
            <a:r>
              <a:rPr dirty="0"/>
              <a:t>: prefill </a:t>
            </a:r>
            <a:r>
              <a:rPr dirty="0" err="1"/>
              <a:t>minuscolo</a:t>
            </a:r>
            <a:r>
              <a:rPr dirty="0"/>
              <a:t>, e decode </a:t>
            </a:r>
            <a:r>
              <a:rPr dirty="0" err="1"/>
              <a:t>che</a:t>
            </a:r>
            <a:r>
              <a:rPr dirty="0"/>
              <a:t> produce proprio </a:t>
            </a:r>
            <a:r>
              <a:rPr dirty="0" err="1"/>
              <a:t>quello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vogliamo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E qui la </a:t>
            </a:r>
            <a:r>
              <a:rPr dirty="0" err="1"/>
              <a:t>generazione</a:t>
            </a:r>
            <a:r>
              <a:rPr dirty="0"/>
              <a:t> instruction-tuned ha senso, </a:t>
            </a:r>
            <a:r>
              <a:rPr dirty="0" err="1"/>
              <a:t>perché</a:t>
            </a:r>
            <a:r>
              <a:rPr dirty="0"/>
              <a:t> le </a:t>
            </a:r>
            <a:r>
              <a:rPr dirty="0" err="1"/>
              <a:t>ricette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testo nuovo.</a:t>
            </a:r>
            <a:endParaRPr lang="it-IT" dirty="0"/>
          </a:p>
          <a:p>
            <a:r>
              <a:rPr dirty="0"/>
              <a:t>Sono </a:t>
            </a:r>
            <a:r>
              <a:rPr dirty="0" err="1"/>
              <a:t>inventate</a:t>
            </a:r>
            <a:r>
              <a:rPr dirty="0"/>
              <a:t>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momento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l’unico</a:t>
            </a:r>
            <a:r>
              <a:rPr dirty="0"/>
              <a:t> </a:t>
            </a:r>
            <a:r>
              <a:rPr dirty="0" err="1"/>
              <a:t>compito</a:t>
            </a:r>
            <a:r>
              <a:rPr dirty="0"/>
              <a:t> </a:t>
            </a:r>
            <a:r>
              <a:rPr dirty="0" err="1"/>
              <a:t>nell’app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nessun</a:t>
            </a:r>
            <a:r>
              <a:rPr dirty="0"/>
              <a:t> </a:t>
            </a:r>
            <a:r>
              <a:rPr dirty="0" err="1"/>
              <a:t>confronto</a:t>
            </a:r>
            <a:r>
              <a:rPr dirty="0"/>
              <a:t>, </a:t>
            </a:r>
            <a:r>
              <a:rPr dirty="0" err="1"/>
              <a:t>nessun</a:t>
            </a:r>
            <a:r>
              <a:rPr dirty="0"/>
              <a:t> </a:t>
            </a:r>
            <a:r>
              <a:rPr dirty="0" err="1"/>
              <a:t>vocabolario</a:t>
            </a:r>
            <a:r>
              <a:rPr dirty="0"/>
              <a:t>, </a:t>
            </a:r>
            <a:r>
              <a:rPr dirty="0" err="1"/>
              <a:t>nessun</a:t>
            </a:r>
            <a:r>
              <a:rPr dirty="0"/>
              <a:t> lookup </a:t>
            </a:r>
            <a:r>
              <a:rPr dirty="0" err="1"/>
              <a:t>potrebbe</a:t>
            </a:r>
            <a:r>
              <a:rPr dirty="0"/>
              <a:t> </a:t>
            </a:r>
            <a:r>
              <a:rPr dirty="0" err="1"/>
              <a:t>mai</a:t>
            </a:r>
            <a:r>
              <a:rPr dirty="0"/>
              <a:t> </a:t>
            </a:r>
            <a:r>
              <a:rPr dirty="0" err="1"/>
              <a:t>svolgere</a:t>
            </a:r>
            <a:r>
              <a:rPr dirty="0"/>
              <a:t>.</a:t>
            </a:r>
            <a:endParaRPr lang="it-IT" dirty="0"/>
          </a:p>
          <a:p>
            <a:r>
              <a:rPr lang="it-IT" dirty="0"/>
              <a:t>Ma per cui serve necessariamente un LLM.</a:t>
            </a:r>
            <a:endParaRPr dirty="0"/>
          </a:p>
          <a:p>
            <a:endParaRPr lang="it-IT" dirty="0"/>
          </a:p>
          <a:p>
            <a:endParaRPr dirty="0"/>
          </a:p>
          <a:p>
            <a:r>
              <a:rPr dirty="0"/>
              <a:t>E </a:t>
            </a:r>
            <a:r>
              <a:rPr dirty="0" err="1"/>
              <a:t>c’è</a:t>
            </a:r>
            <a:r>
              <a:rPr dirty="0"/>
              <a:t> un </a:t>
            </a:r>
            <a:r>
              <a:rPr dirty="0" err="1"/>
              <a:t>altro</a:t>
            </a:r>
            <a:r>
              <a:rPr dirty="0"/>
              <a:t> </a:t>
            </a:r>
            <a:r>
              <a:rPr dirty="0" err="1"/>
              <a:t>vantaggio</a:t>
            </a:r>
            <a:r>
              <a:rPr dirty="0"/>
              <a:t>: per le </a:t>
            </a:r>
            <a:r>
              <a:rPr dirty="0" err="1"/>
              <a:t>ricette</a:t>
            </a:r>
            <a:r>
              <a:rPr dirty="0"/>
              <a:t> la </a:t>
            </a:r>
            <a:r>
              <a:rPr dirty="0" err="1"/>
              <a:t>creatività</a:t>
            </a:r>
            <a:r>
              <a:rPr dirty="0"/>
              <a:t> serve.</a:t>
            </a:r>
            <a:endParaRPr lang="it-IT" dirty="0"/>
          </a:p>
          <a:p>
            <a:r>
              <a:rPr dirty="0"/>
              <a:t>Qui </a:t>
            </a:r>
            <a:r>
              <a:rPr dirty="0" err="1"/>
              <a:t>possiamo</a:t>
            </a:r>
            <a:r>
              <a:rPr dirty="0"/>
              <a:t> </a:t>
            </a:r>
            <a:r>
              <a:rPr dirty="0" err="1"/>
              <a:t>alzare</a:t>
            </a:r>
            <a:r>
              <a:rPr dirty="0"/>
              <a:t> un po’ la </a:t>
            </a:r>
            <a:r>
              <a:rPr dirty="0" err="1"/>
              <a:t>temperatura</a:t>
            </a:r>
            <a:r>
              <a:rPr dirty="0"/>
              <a:t>, </a:t>
            </a:r>
            <a:r>
              <a:rPr dirty="0" err="1"/>
              <a:t>lasciare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il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proponga</a:t>
            </a:r>
            <a:r>
              <a:rPr dirty="0"/>
              <a:t> </a:t>
            </a:r>
            <a:r>
              <a:rPr dirty="0" err="1"/>
              <a:t>abbinamenti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non ci </a:t>
            </a:r>
            <a:r>
              <a:rPr dirty="0" err="1"/>
              <a:t>aspettavamo</a:t>
            </a:r>
            <a:r>
              <a:rPr dirty="0"/>
              <a:t>.</a:t>
            </a:r>
            <a:endParaRPr lang="it-IT" dirty="0"/>
          </a:p>
          <a:p>
            <a:r>
              <a:rPr dirty="0"/>
              <a:t>Nel </a:t>
            </a:r>
            <a:r>
              <a:rPr dirty="0" err="1"/>
              <a:t>rilevamento</a:t>
            </a:r>
            <a:r>
              <a:rPr dirty="0"/>
              <a:t> la </a:t>
            </a:r>
            <a:r>
              <a:rPr dirty="0" err="1"/>
              <a:t>creatività</a:t>
            </a:r>
            <a:r>
              <a:rPr dirty="0"/>
              <a:t> era un </a:t>
            </a:r>
            <a:r>
              <a:rPr dirty="0" err="1"/>
              <a:t>difetto</a:t>
            </a:r>
            <a:r>
              <a:rPr dirty="0"/>
              <a:t>; qui </a:t>
            </a:r>
            <a:r>
              <a:rPr dirty="0" err="1"/>
              <a:t>diventa</a:t>
            </a:r>
            <a:r>
              <a:rPr dirty="0"/>
              <a:t> il </a:t>
            </a:r>
            <a:r>
              <a:rPr dirty="0" err="1"/>
              <a:t>prodotto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Gira </a:t>
            </a:r>
            <a:r>
              <a:rPr dirty="0" err="1"/>
              <a:t>tramite</a:t>
            </a:r>
            <a:r>
              <a:rPr dirty="0"/>
              <a:t> </a:t>
            </a:r>
            <a:r>
              <a:rPr dirty="0" err="1"/>
              <a:t>LiteRT</a:t>
            </a:r>
            <a:r>
              <a:rPr dirty="0"/>
              <a:t>-LM, con la GPU come prima </a:t>
            </a:r>
            <a:r>
              <a:rPr dirty="0" err="1"/>
              <a:t>scelta</a:t>
            </a:r>
            <a:r>
              <a:rPr dirty="0"/>
              <a:t>.</a:t>
            </a:r>
            <a:endParaRPr lang="it-IT" dirty="0"/>
          </a:p>
          <a:p>
            <a:r>
              <a:rPr dirty="0"/>
              <a:t>E </a:t>
            </a:r>
            <a:r>
              <a:rPr dirty="0" err="1"/>
              <a:t>siccome</a:t>
            </a:r>
            <a:r>
              <a:rPr dirty="0"/>
              <a:t> le GPU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telefoni</a:t>
            </a:r>
            <a:r>
              <a:rPr dirty="0"/>
              <a:t> Android </a:t>
            </a:r>
            <a:r>
              <a:rPr dirty="0" err="1"/>
              <a:t>sono</a:t>
            </a:r>
            <a:r>
              <a:rPr dirty="0"/>
              <a:t> un mondo </a:t>
            </a:r>
            <a:r>
              <a:rPr dirty="0" err="1"/>
              <a:t>variegato</a:t>
            </a:r>
            <a:r>
              <a:rPr dirty="0"/>
              <a:t>, se la GPU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blocca</a:t>
            </a:r>
            <a:r>
              <a:rPr dirty="0"/>
              <a:t> o </a:t>
            </a:r>
            <a:r>
              <a:rPr dirty="0" err="1"/>
              <a:t>dà</a:t>
            </a:r>
            <a:r>
              <a:rPr dirty="0"/>
              <a:t> </a:t>
            </a:r>
            <a:r>
              <a:rPr dirty="0" err="1"/>
              <a:t>errore</a:t>
            </a:r>
            <a:r>
              <a:rPr dirty="0"/>
              <a:t>, </a:t>
            </a:r>
            <a:r>
              <a:rPr dirty="0" err="1"/>
              <a:t>l’app</a:t>
            </a:r>
            <a:r>
              <a:rPr dirty="0"/>
              <a:t> se ne </a:t>
            </a:r>
            <a:r>
              <a:rPr dirty="0" err="1"/>
              <a:t>accorge</a:t>
            </a:r>
            <a:r>
              <a:rPr dirty="0"/>
              <a:t>, </a:t>
            </a:r>
            <a:r>
              <a:rPr dirty="0" err="1"/>
              <a:t>passa</a:t>
            </a:r>
            <a:r>
              <a:rPr dirty="0"/>
              <a:t> alla CPU e se lo </a:t>
            </a:r>
            <a:r>
              <a:rPr dirty="0" err="1"/>
              <a:t>ricorda</a:t>
            </a:r>
            <a:r>
              <a:rPr dirty="0"/>
              <a:t> per le volte successive.</a:t>
            </a:r>
            <a:endParaRPr lang="it-IT" dirty="0"/>
          </a:p>
          <a:p>
            <a:r>
              <a:rPr lang="en-US" dirty="0"/>
              <a:t>E </a:t>
            </a:r>
            <a:r>
              <a:rPr lang="en-US" dirty="0" err="1"/>
              <a:t>LiteRT</a:t>
            </a:r>
            <a:r>
              <a:rPr lang="en-US" dirty="0"/>
              <a:t>-LM </a:t>
            </a:r>
            <a:r>
              <a:rPr lang="en-US" dirty="0" err="1"/>
              <a:t>supporta</a:t>
            </a:r>
            <a:r>
              <a:rPr lang="en-US" dirty="0"/>
              <a:t> </a:t>
            </a:r>
            <a:r>
              <a:rPr lang="en-US" dirty="0" err="1"/>
              <a:t>anche</a:t>
            </a:r>
            <a:r>
              <a:rPr lang="en-US" dirty="0"/>
              <a:t> lo streaming della </a:t>
            </a:r>
            <a:r>
              <a:rPr lang="en-US" dirty="0" err="1"/>
              <a:t>risposta</a:t>
            </a:r>
            <a:r>
              <a:rPr lang="en-US" dirty="0"/>
              <a:t>, token per token.</a:t>
            </a:r>
          </a:p>
          <a:p>
            <a:r>
              <a:rPr lang="en-US" dirty="0"/>
              <a:t>Lato UX, </a:t>
            </a:r>
            <a:r>
              <a:rPr lang="en-US" dirty="0" err="1"/>
              <a:t>questo</a:t>
            </a:r>
            <a:r>
              <a:rPr lang="en-US" dirty="0"/>
              <a:t> cambia </a:t>
            </a:r>
            <a:r>
              <a:rPr lang="en-US" dirty="0" err="1"/>
              <a:t>tutto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Le </a:t>
            </a:r>
            <a:r>
              <a:rPr dirty="0" err="1"/>
              <a:t>ricette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creazione</a:t>
            </a:r>
            <a:r>
              <a:rPr dirty="0"/>
              <a:t>, non </a:t>
            </a:r>
            <a:r>
              <a:rPr dirty="0" err="1"/>
              <a:t>riconoscimento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 err="1"/>
              <a:t>Passare</a:t>
            </a:r>
            <a:r>
              <a:rPr dirty="0"/>
              <a:t> da un </a:t>
            </a:r>
            <a:r>
              <a:rPr dirty="0" err="1"/>
              <a:t>inventario</a:t>
            </a:r>
            <a:r>
              <a:rPr dirty="0"/>
              <a:t> a delle idee per la </a:t>
            </a:r>
            <a:r>
              <a:rPr dirty="0" err="1"/>
              <a:t>cena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esattamente</a:t>
            </a:r>
            <a:r>
              <a:rPr dirty="0"/>
              <a:t> il </a:t>
            </a:r>
            <a:r>
              <a:rPr dirty="0" err="1"/>
              <a:t>motivo</a:t>
            </a:r>
            <a:r>
              <a:rPr dirty="0"/>
              <a:t> per cui </a:t>
            </a:r>
            <a:r>
              <a:rPr dirty="0" err="1"/>
              <a:t>esistono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modelli</a:t>
            </a:r>
            <a:r>
              <a:rPr dirty="0"/>
              <a:t> </a:t>
            </a:r>
            <a:r>
              <a:rPr dirty="0" err="1"/>
              <a:t>generativi</a:t>
            </a:r>
            <a:r>
              <a:rPr dirty="0"/>
              <a:t>.</a:t>
            </a:r>
            <a:endParaRPr lang="it-IT" dirty="0"/>
          </a:p>
          <a:p>
            <a:r>
              <a:rPr dirty="0"/>
              <a:t>Nessun </a:t>
            </a:r>
            <a:r>
              <a:rPr dirty="0" err="1"/>
              <a:t>vocabolario</a:t>
            </a:r>
            <a:r>
              <a:rPr dirty="0"/>
              <a:t> </a:t>
            </a:r>
            <a:r>
              <a:rPr dirty="0" err="1"/>
              <a:t>chiuso</a:t>
            </a:r>
            <a:r>
              <a:rPr dirty="0"/>
              <a:t> </a:t>
            </a:r>
            <a:r>
              <a:rPr dirty="0" err="1"/>
              <a:t>può</a:t>
            </a:r>
            <a:r>
              <a:rPr dirty="0"/>
              <a:t> </a:t>
            </a:r>
            <a:r>
              <a:rPr dirty="0" err="1"/>
              <a:t>farlo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Tre </a:t>
            </a:r>
            <a:r>
              <a:rPr dirty="0" err="1"/>
              <a:t>accorgimenti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ci </a:t>
            </a:r>
            <a:r>
              <a:rPr dirty="0" err="1"/>
              <a:t>hanno</a:t>
            </a:r>
            <a:r>
              <a:rPr dirty="0"/>
              <a:t> </a:t>
            </a:r>
            <a:r>
              <a:rPr dirty="0" err="1"/>
              <a:t>salvato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Primo: prompting a due </a:t>
            </a:r>
            <a:r>
              <a:rPr dirty="0" err="1"/>
              <a:t>stadi</a:t>
            </a:r>
            <a:r>
              <a:rPr dirty="0"/>
              <a:t>.</a:t>
            </a:r>
            <a:endParaRPr lang="it-IT" dirty="0"/>
          </a:p>
          <a:p>
            <a:r>
              <a:rPr dirty="0"/>
              <a:t>Prima </a:t>
            </a:r>
            <a:r>
              <a:rPr dirty="0" err="1"/>
              <a:t>chiediamo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lista</a:t>
            </a:r>
            <a:r>
              <a:rPr dirty="0"/>
              <a:t> di cinque </a:t>
            </a:r>
            <a:r>
              <a:rPr dirty="0" err="1"/>
              <a:t>ricette</a:t>
            </a:r>
            <a:r>
              <a:rPr dirty="0"/>
              <a:t>, con </a:t>
            </a:r>
            <a:r>
              <a:rPr dirty="0" err="1"/>
              <a:t>titolo</a:t>
            </a:r>
            <a:r>
              <a:rPr dirty="0"/>
              <a:t>, tempo, </a:t>
            </a:r>
            <a:r>
              <a:rPr dirty="0" err="1"/>
              <a:t>difficoltà</a:t>
            </a:r>
            <a:r>
              <a:rPr dirty="0"/>
              <a:t> e </a:t>
            </a:r>
            <a:r>
              <a:rPr dirty="0" err="1"/>
              <a:t>ingredienti</a:t>
            </a:r>
            <a:r>
              <a:rPr dirty="0"/>
              <a:t> </a:t>
            </a:r>
            <a:r>
              <a:rPr dirty="0" err="1"/>
              <a:t>usati</a:t>
            </a:r>
            <a:r>
              <a:rPr dirty="0"/>
              <a:t>, ma senza </a:t>
            </a:r>
            <a:r>
              <a:rPr dirty="0" err="1"/>
              <a:t>procedimento</a:t>
            </a:r>
            <a:r>
              <a:rPr dirty="0"/>
              <a:t>.</a:t>
            </a:r>
            <a:endParaRPr lang="it-IT" dirty="0"/>
          </a:p>
          <a:p>
            <a:r>
              <a:rPr dirty="0"/>
              <a:t>Poi, solo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l’utente</a:t>
            </a:r>
            <a:r>
              <a:rPr dirty="0"/>
              <a:t> ne </a:t>
            </a:r>
            <a:r>
              <a:rPr dirty="0" err="1"/>
              <a:t>apre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, </a:t>
            </a:r>
            <a:r>
              <a:rPr dirty="0" err="1"/>
              <a:t>generiamo</a:t>
            </a:r>
            <a:r>
              <a:rPr dirty="0"/>
              <a:t> </a:t>
            </a:r>
            <a:r>
              <a:rPr dirty="0" err="1"/>
              <a:t>passaggi</a:t>
            </a:r>
            <a:r>
              <a:rPr dirty="0"/>
              <a:t> e </a:t>
            </a:r>
            <a:r>
              <a:rPr dirty="0" err="1"/>
              <a:t>varianti</a:t>
            </a:r>
            <a:r>
              <a:rPr dirty="0"/>
              <a:t>.</a:t>
            </a:r>
            <a:endParaRPr lang="it-IT" dirty="0"/>
          </a:p>
          <a:p>
            <a:r>
              <a:rPr dirty="0"/>
              <a:t>Prompt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corti</a:t>
            </a:r>
            <a:r>
              <a:rPr dirty="0"/>
              <a:t>, output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corti</a:t>
            </a:r>
            <a:r>
              <a:rPr dirty="0"/>
              <a:t>, </a:t>
            </a:r>
            <a:r>
              <a:rPr dirty="0" err="1"/>
              <a:t>meno</a:t>
            </a:r>
            <a:r>
              <a:rPr dirty="0"/>
              <a:t> </a:t>
            </a:r>
            <a:r>
              <a:rPr dirty="0" err="1"/>
              <a:t>attesa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Secondo: parsing JSON </a:t>
            </a:r>
            <a:r>
              <a:rPr dirty="0" err="1"/>
              <a:t>difensivo</a:t>
            </a:r>
            <a:r>
              <a:rPr dirty="0"/>
              <a:t> con retry </a:t>
            </a:r>
            <a:r>
              <a:rPr dirty="0" err="1"/>
              <a:t>silenziosi</a:t>
            </a:r>
            <a:r>
              <a:rPr dirty="0"/>
              <a:t>.</a:t>
            </a:r>
            <a:endParaRPr lang="it-IT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È facile che i </a:t>
            </a:r>
            <a:r>
              <a:rPr dirty="0" err="1"/>
              <a:t>modelli</a:t>
            </a:r>
            <a:r>
              <a:rPr dirty="0"/>
              <a:t> </a:t>
            </a:r>
            <a:r>
              <a:rPr dirty="0" err="1"/>
              <a:t>piccoli</a:t>
            </a:r>
            <a:r>
              <a:rPr dirty="0"/>
              <a:t> romp</a:t>
            </a:r>
            <a:r>
              <a:rPr lang="it-IT" dirty="0"/>
              <a:t>a</a:t>
            </a:r>
            <a:r>
              <a:rPr dirty="0"/>
              <a:t>no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contratti</a:t>
            </a:r>
            <a:r>
              <a:rPr dirty="0"/>
              <a:t> di </a:t>
            </a:r>
            <a:r>
              <a:rPr dirty="0" err="1"/>
              <a:t>formato</a:t>
            </a:r>
            <a:r>
              <a:rPr dirty="0"/>
              <a:t>: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virgola</a:t>
            </a:r>
            <a:r>
              <a:rPr dirty="0"/>
              <a:t> di </a:t>
            </a:r>
            <a:r>
              <a:rPr dirty="0" err="1"/>
              <a:t>troppo</a:t>
            </a:r>
            <a:r>
              <a:rPr dirty="0"/>
              <a:t>, un </a:t>
            </a:r>
            <a:r>
              <a:rPr dirty="0" err="1"/>
              <a:t>blocco</a:t>
            </a:r>
            <a:r>
              <a:rPr dirty="0"/>
              <a:t> markdown </a:t>
            </a:r>
            <a:r>
              <a:rPr dirty="0" err="1"/>
              <a:t>attorno</a:t>
            </a:r>
            <a:r>
              <a:rPr dirty="0"/>
              <a:t> al JSON,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frase</a:t>
            </a:r>
            <a:r>
              <a:rPr dirty="0"/>
              <a:t> di </a:t>
            </a:r>
            <a:r>
              <a:rPr dirty="0" err="1"/>
              <a:t>cortesia</a:t>
            </a:r>
            <a:r>
              <a:rPr dirty="0"/>
              <a:t> prima della </a:t>
            </a:r>
            <a:r>
              <a:rPr dirty="0" err="1"/>
              <a:t>risposta</a:t>
            </a:r>
            <a:r>
              <a:rPr dirty="0"/>
              <a:t>.</a:t>
            </a:r>
            <a:endParaRPr lang="it-IT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Non </a:t>
            </a:r>
            <a:r>
              <a:rPr dirty="0" err="1"/>
              <a:t>è</a:t>
            </a:r>
            <a:r>
              <a:rPr dirty="0"/>
              <a:t> un bug </a:t>
            </a:r>
            <a:r>
              <a:rPr dirty="0" err="1"/>
              <a:t>raro</a:t>
            </a:r>
            <a:r>
              <a:rPr dirty="0"/>
              <a:t>: </a:t>
            </a:r>
            <a:r>
              <a:rPr dirty="0" err="1"/>
              <a:t>è</a:t>
            </a:r>
            <a:r>
              <a:rPr dirty="0"/>
              <a:t> il </a:t>
            </a:r>
            <a:r>
              <a:rPr dirty="0" err="1"/>
              <a:t>comportamento</a:t>
            </a:r>
            <a:r>
              <a:rPr dirty="0"/>
              <a:t> </a:t>
            </a:r>
            <a:r>
              <a:rPr dirty="0" err="1"/>
              <a:t>normale</a:t>
            </a:r>
            <a:r>
              <a:rPr dirty="0"/>
              <a:t>.</a:t>
            </a:r>
            <a:endParaRPr lang="it-IT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 err="1"/>
              <a:t>Quindi</a:t>
            </a:r>
            <a:r>
              <a:rPr dirty="0"/>
              <a:t> </a:t>
            </a:r>
            <a:r>
              <a:rPr dirty="0" err="1"/>
              <a:t>prevedetelo</a:t>
            </a:r>
            <a:r>
              <a:rPr dirty="0"/>
              <a:t>, non </a:t>
            </a:r>
            <a:r>
              <a:rPr dirty="0" err="1"/>
              <a:t>scusatevi</a:t>
            </a:r>
            <a:r>
              <a:rPr dirty="0"/>
              <a:t> con </a:t>
            </a:r>
            <a:r>
              <a:rPr dirty="0" err="1"/>
              <a:t>l’utente</a:t>
            </a:r>
            <a:r>
              <a:rPr dirty="0"/>
              <a:t>.</a:t>
            </a:r>
            <a:endParaRPr lang="it-IT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dirty="0"/>
          </a:p>
          <a:p>
            <a:endParaRPr dirty="0"/>
          </a:p>
          <a:p>
            <a:r>
              <a:rPr dirty="0"/>
              <a:t>In </a:t>
            </a:r>
            <a:r>
              <a:rPr dirty="0" err="1"/>
              <a:t>pratica</a:t>
            </a:r>
            <a:r>
              <a:rPr dirty="0"/>
              <a:t>: </a:t>
            </a:r>
            <a:r>
              <a:rPr dirty="0" err="1"/>
              <a:t>togliamo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blocchi</a:t>
            </a:r>
            <a:r>
              <a:rPr dirty="0"/>
              <a:t> markdown, </a:t>
            </a:r>
            <a:r>
              <a:rPr dirty="0" err="1"/>
              <a:t>estraiamo</a:t>
            </a:r>
            <a:r>
              <a:rPr dirty="0"/>
              <a:t> tutti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oggetti</a:t>
            </a:r>
            <a:r>
              <a:rPr dirty="0"/>
              <a:t> JSON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troviamo</a:t>
            </a:r>
            <a:r>
              <a:rPr dirty="0"/>
              <a:t>, </a:t>
            </a:r>
            <a:r>
              <a:rPr dirty="0" err="1"/>
              <a:t>accettiamo</a:t>
            </a:r>
            <a:r>
              <a:rPr dirty="0"/>
              <a:t> </a:t>
            </a:r>
            <a:r>
              <a:rPr dirty="0" err="1"/>
              <a:t>anche</a:t>
            </a:r>
            <a:r>
              <a:rPr dirty="0"/>
              <a:t> </a:t>
            </a:r>
            <a:r>
              <a:rPr dirty="0" err="1"/>
              <a:t>nomi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campi</a:t>
            </a:r>
            <a:r>
              <a:rPr dirty="0"/>
              <a:t> </a:t>
            </a:r>
            <a:r>
              <a:rPr dirty="0" err="1"/>
              <a:t>scritti</a:t>
            </a:r>
            <a:r>
              <a:rPr dirty="0"/>
              <a:t> in modo </a:t>
            </a:r>
            <a:r>
              <a:rPr dirty="0" err="1"/>
              <a:t>diverso</a:t>
            </a:r>
            <a:r>
              <a:rPr dirty="0"/>
              <a:t>, e se </a:t>
            </a:r>
            <a:r>
              <a:rPr dirty="0" err="1"/>
              <a:t>una</a:t>
            </a:r>
            <a:r>
              <a:rPr dirty="0"/>
              <a:t> sola </a:t>
            </a:r>
            <a:r>
              <a:rPr dirty="0" err="1"/>
              <a:t>ricetta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rotta</a:t>
            </a:r>
            <a:r>
              <a:rPr dirty="0"/>
              <a:t> </a:t>
            </a:r>
            <a:r>
              <a:rPr dirty="0" err="1"/>
              <a:t>scartiamo</a:t>
            </a:r>
            <a:r>
              <a:rPr dirty="0"/>
              <a:t> </a:t>
            </a:r>
            <a:r>
              <a:rPr dirty="0" err="1"/>
              <a:t>quella</a:t>
            </a:r>
            <a:r>
              <a:rPr dirty="0"/>
              <a:t>, non </a:t>
            </a:r>
            <a:r>
              <a:rPr dirty="0" err="1"/>
              <a:t>tutta</a:t>
            </a:r>
            <a:r>
              <a:rPr dirty="0"/>
              <a:t> la </a:t>
            </a:r>
            <a:r>
              <a:rPr dirty="0" err="1"/>
              <a:t>lista</a:t>
            </a:r>
            <a:r>
              <a:rPr dirty="0"/>
              <a:t>.</a:t>
            </a:r>
            <a:endParaRPr lang="it-IT" dirty="0"/>
          </a:p>
          <a:p>
            <a:r>
              <a:rPr dirty="0"/>
              <a:t>E se proprio non </a:t>
            </a:r>
            <a:r>
              <a:rPr dirty="0" err="1"/>
              <a:t>c’è</a:t>
            </a:r>
            <a:r>
              <a:rPr dirty="0"/>
              <a:t> niente di </a:t>
            </a:r>
            <a:r>
              <a:rPr dirty="0" err="1"/>
              <a:t>valido</a:t>
            </a:r>
            <a:r>
              <a:rPr dirty="0"/>
              <a:t>, </a:t>
            </a:r>
            <a:r>
              <a:rPr dirty="0" err="1"/>
              <a:t>riproviamo</a:t>
            </a:r>
            <a:r>
              <a:rPr dirty="0"/>
              <a:t>, </a:t>
            </a:r>
            <a:r>
              <a:rPr dirty="0" err="1"/>
              <a:t>fino</a:t>
            </a:r>
            <a:r>
              <a:rPr dirty="0"/>
              <a:t> a quattro volte, prima di </a:t>
            </a:r>
            <a:r>
              <a:rPr dirty="0" err="1"/>
              <a:t>mostrare</a:t>
            </a:r>
            <a:r>
              <a:rPr dirty="0"/>
              <a:t> un </a:t>
            </a:r>
            <a:r>
              <a:rPr dirty="0" err="1"/>
              <a:t>errore</a:t>
            </a:r>
            <a:r>
              <a:rPr dirty="0"/>
              <a:t> </a:t>
            </a:r>
            <a:r>
              <a:rPr dirty="0" err="1"/>
              <a:t>all’utente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Terzo: senza </a:t>
            </a:r>
            <a:r>
              <a:rPr dirty="0" err="1"/>
              <a:t>foto</a:t>
            </a:r>
            <a:r>
              <a:rPr dirty="0"/>
              <a:t>, la </a:t>
            </a:r>
            <a:r>
              <a:rPr dirty="0" err="1"/>
              <a:t>generazione</a:t>
            </a:r>
            <a:r>
              <a:rPr dirty="0"/>
              <a:t> solo testo </a:t>
            </a:r>
            <a:r>
              <a:rPr dirty="0" err="1"/>
              <a:t>va</a:t>
            </a:r>
            <a:r>
              <a:rPr dirty="0"/>
              <a:t> a 15–25 token al secondo.</a:t>
            </a:r>
            <a:endParaRPr lang="it-IT" dirty="0"/>
          </a:p>
          <a:p>
            <a:r>
              <a:rPr dirty="0" err="1"/>
              <a:t>E siccome la lista è leggera, e i passaggi li generiamo solo per la ricetta che aprite, l’attesa resta breve.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Capitolo</a:t>
            </a:r>
            <a:r>
              <a:rPr dirty="0"/>
              <a:t> cinque: la </a:t>
            </a:r>
            <a:r>
              <a:rPr dirty="0" err="1"/>
              <a:t>distribuzione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Perché</a:t>
            </a:r>
            <a:r>
              <a:rPr dirty="0"/>
              <a:t> </a:t>
            </a:r>
            <a:r>
              <a:rPr dirty="0" err="1"/>
              <a:t>avere</a:t>
            </a:r>
            <a:r>
              <a:rPr dirty="0"/>
              <a:t> </a:t>
            </a:r>
            <a:r>
              <a:rPr dirty="0" err="1"/>
              <a:t>tre</a:t>
            </a:r>
            <a:r>
              <a:rPr dirty="0"/>
              <a:t> </a:t>
            </a:r>
            <a:r>
              <a:rPr dirty="0" err="1"/>
              <a:t>modelli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bello, ma poi </a:t>
            </a:r>
            <a:r>
              <a:rPr dirty="0" err="1"/>
              <a:t>bisogna</a:t>
            </a:r>
            <a:r>
              <a:rPr dirty="0"/>
              <a:t> </a:t>
            </a:r>
            <a:r>
              <a:rPr dirty="0" err="1"/>
              <a:t>farli</a:t>
            </a:r>
            <a:r>
              <a:rPr dirty="0"/>
              <a:t> </a:t>
            </a:r>
            <a:r>
              <a:rPr dirty="0" err="1"/>
              <a:t>arrivare</a:t>
            </a:r>
            <a:r>
              <a:rPr dirty="0"/>
              <a:t>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.</a:t>
            </a:r>
            <a:endParaRPr lang="it-IT" dirty="0"/>
          </a:p>
          <a:p>
            <a:r>
              <a:rPr dirty="0"/>
              <a:t>E ogni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viaggia</a:t>
            </a:r>
            <a:r>
              <a:rPr dirty="0"/>
              <a:t> in modo </a:t>
            </a:r>
            <a:r>
              <a:rPr dirty="0" err="1"/>
              <a:t>diverso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Gemini Nano: zero megabyte. Lo </a:t>
            </a:r>
            <a:r>
              <a:rPr dirty="0" err="1"/>
              <a:t>gestisce</a:t>
            </a:r>
            <a:r>
              <a:rPr dirty="0"/>
              <a:t> </a:t>
            </a:r>
            <a:r>
              <a:rPr dirty="0" err="1"/>
              <a:t>AICore</a:t>
            </a:r>
            <a:r>
              <a:rPr dirty="0"/>
              <a:t>. Nel nostro APK </a:t>
            </a:r>
            <a:r>
              <a:rPr dirty="0" err="1"/>
              <a:t>c’è</a:t>
            </a:r>
            <a:r>
              <a:rPr dirty="0"/>
              <a:t> solo un prompt.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MobileCLIP-S2: circa 140 megabyte.</a:t>
            </a:r>
            <a:endParaRPr lang="it-IT" dirty="0"/>
          </a:p>
          <a:p>
            <a:r>
              <a:rPr dirty="0"/>
              <a:t>Lo </a:t>
            </a:r>
            <a:r>
              <a:rPr dirty="0" err="1"/>
              <a:t>includiamo</a:t>
            </a:r>
            <a:r>
              <a:rPr dirty="0"/>
              <a:t> </a:t>
            </a:r>
            <a:r>
              <a:rPr dirty="0" err="1"/>
              <a:t>nell’APK</a:t>
            </a:r>
            <a:r>
              <a:rPr dirty="0"/>
              <a:t> come </a:t>
            </a:r>
            <a:r>
              <a:rPr dirty="0" err="1"/>
              <a:t>qualsiasi</a:t>
            </a:r>
            <a:r>
              <a:rPr dirty="0"/>
              <a:t> </a:t>
            </a:r>
            <a:r>
              <a:rPr dirty="0" err="1"/>
              <a:t>altro</a:t>
            </a:r>
            <a:r>
              <a:rPr dirty="0"/>
              <a:t> asset.</a:t>
            </a:r>
            <a:endParaRPr lang="it-IT" dirty="0"/>
          </a:p>
          <a:p>
            <a:r>
              <a:rPr dirty="0" err="1"/>
              <a:t>Questo</a:t>
            </a:r>
            <a:r>
              <a:rPr dirty="0"/>
              <a:t> ha un </a:t>
            </a:r>
            <a:r>
              <a:rPr dirty="0" err="1"/>
              <a:t>vantaggio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: il </a:t>
            </a:r>
            <a:r>
              <a:rPr dirty="0" err="1"/>
              <a:t>rilevamento</a:t>
            </a:r>
            <a:r>
              <a:rPr dirty="0"/>
              <a:t> </a:t>
            </a:r>
            <a:r>
              <a:rPr dirty="0" err="1"/>
              <a:t>funziona</a:t>
            </a:r>
            <a:r>
              <a:rPr dirty="0"/>
              <a:t> subito dopo </a:t>
            </a:r>
            <a:r>
              <a:rPr dirty="0" err="1"/>
              <a:t>l’installazione</a:t>
            </a:r>
            <a:r>
              <a:rPr dirty="0"/>
              <a:t>, </a:t>
            </a:r>
            <a:r>
              <a:rPr dirty="0" err="1"/>
              <a:t>anche</a:t>
            </a:r>
            <a:r>
              <a:rPr dirty="0"/>
              <a:t> offline, </a:t>
            </a:r>
            <a:r>
              <a:rPr dirty="0" err="1"/>
              <a:t>anche</a:t>
            </a:r>
            <a:r>
              <a:rPr dirty="0"/>
              <a:t> al primo </a:t>
            </a:r>
            <a:r>
              <a:rPr dirty="0" err="1"/>
              <a:t>avvio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Gemma: 2,6 gigabyte di </a:t>
            </a:r>
            <a:r>
              <a:rPr dirty="0" err="1"/>
              <a:t>pesi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Troppo</a:t>
            </a:r>
            <a:r>
              <a:rPr dirty="0"/>
              <a:t> grande per </a:t>
            </a:r>
            <a:r>
              <a:rPr dirty="0" err="1"/>
              <a:t>qualsiasi</a:t>
            </a:r>
            <a:r>
              <a:rPr dirty="0"/>
              <a:t> APK</a:t>
            </a:r>
            <a:r>
              <a:rPr lang="it-IT" dirty="0"/>
              <a:t> da pubblicare sul Play Store.</a:t>
            </a:r>
          </a:p>
          <a:p>
            <a:r>
              <a:rPr dirty="0"/>
              <a:t>E </a:t>
            </a:r>
            <a:r>
              <a:rPr dirty="0" err="1"/>
              <a:t>l’alternativa</a:t>
            </a:r>
            <a:r>
              <a:rPr dirty="0"/>
              <a:t>, </a:t>
            </a:r>
            <a:r>
              <a:rPr dirty="0" err="1"/>
              <a:t>scrivere</a:t>
            </a:r>
            <a:r>
              <a:rPr dirty="0"/>
              <a:t> a mano un downloader </a:t>
            </a:r>
            <a:r>
              <a:rPr dirty="0" err="1"/>
              <a:t>riprendibile</a:t>
            </a:r>
            <a:r>
              <a:rPr dirty="0"/>
              <a:t>,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gestisca</a:t>
            </a:r>
            <a:r>
              <a:rPr dirty="0"/>
              <a:t> rete </a:t>
            </a:r>
            <a:r>
              <a:rPr dirty="0" err="1"/>
              <a:t>che</a:t>
            </a:r>
            <a:r>
              <a:rPr dirty="0"/>
              <a:t> cade, </a:t>
            </a:r>
            <a:r>
              <a:rPr dirty="0" err="1"/>
              <a:t>spazio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finisce</a:t>
            </a:r>
            <a:r>
              <a:rPr dirty="0"/>
              <a:t>, </a:t>
            </a:r>
            <a:r>
              <a:rPr dirty="0" err="1"/>
              <a:t>integrità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file, aggiornamenti, </a:t>
            </a:r>
            <a:r>
              <a:rPr dirty="0" err="1"/>
              <a:t>è</a:t>
            </a:r>
            <a:r>
              <a:rPr dirty="0"/>
              <a:t> un </a:t>
            </a:r>
            <a:r>
              <a:rPr dirty="0" err="1"/>
              <a:t>progetto</a:t>
            </a:r>
            <a:r>
              <a:rPr dirty="0"/>
              <a:t> a </a:t>
            </a:r>
            <a:r>
              <a:rPr dirty="0" err="1"/>
              <a:t>sé</a:t>
            </a:r>
            <a:r>
              <a:rPr dirty="0"/>
              <a:t>.</a:t>
            </a:r>
            <a:endParaRPr lang="it-IT" dirty="0"/>
          </a:p>
          <a:p>
            <a:r>
              <a:rPr dirty="0"/>
              <a:t>E </a:t>
            </a:r>
            <a:r>
              <a:rPr dirty="0" err="1"/>
              <a:t>noi</a:t>
            </a:r>
            <a:r>
              <a:rPr dirty="0"/>
              <a:t> non </a:t>
            </a:r>
            <a:r>
              <a:rPr dirty="0" err="1"/>
              <a:t>volevamo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la nostra app </a:t>
            </a:r>
            <a:r>
              <a:rPr lang="it-IT" dirty="0"/>
              <a:t>non </a:t>
            </a:r>
            <a:r>
              <a:rPr dirty="0" err="1"/>
              <a:t>scaricasse</a:t>
            </a:r>
            <a:r>
              <a:rPr dirty="0"/>
              <a:t> niente da internet.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E </a:t>
            </a:r>
            <a:r>
              <a:rPr dirty="0" err="1"/>
              <a:t>c’è</a:t>
            </a:r>
            <a:r>
              <a:rPr dirty="0"/>
              <a:t> </a:t>
            </a:r>
            <a:r>
              <a:rPr dirty="0" err="1"/>
              <a:t>anche</a:t>
            </a:r>
            <a:r>
              <a:rPr dirty="0"/>
              <a:t> un </a:t>
            </a:r>
            <a:r>
              <a:rPr dirty="0" err="1"/>
              <a:t>tema</a:t>
            </a:r>
            <a:r>
              <a:rPr dirty="0"/>
              <a:t> di </a:t>
            </a:r>
            <a:r>
              <a:rPr dirty="0" err="1"/>
              <a:t>esperienza</a:t>
            </a:r>
            <a:r>
              <a:rPr dirty="0"/>
              <a:t> </a:t>
            </a:r>
            <a:r>
              <a:rPr dirty="0" err="1"/>
              <a:t>utente</a:t>
            </a:r>
            <a:r>
              <a:rPr dirty="0"/>
              <a:t>: non </a:t>
            </a:r>
            <a:r>
              <a:rPr dirty="0" err="1"/>
              <a:t>potete</a:t>
            </a:r>
            <a:r>
              <a:rPr dirty="0"/>
              <a:t> </a:t>
            </a:r>
            <a:r>
              <a:rPr dirty="0" err="1"/>
              <a:t>chiedere</a:t>
            </a:r>
            <a:r>
              <a:rPr dirty="0"/>
              <a:t> a </a:t>
            </a:r>
            <a:r>
              <a:rPr dirty="0" err="1"/>
              <a:t>qualcuno</a:t>
            </a:r>
            <a:r>
              <a:rPr dirty="0"/>
              <a:t> di </a:t>
            </a:r>
            <a:r>
              <a:rPr dirty="0" err="1"/>
              <a:t>scaricare</a:t>
            </a:r>
            <a:r>
              <a:rPr dirty="0"/>
              <a:t> 2,6 giga al primo </a:t>
            </a:r>
            <a:r>
              <a:rPr dirty="0" err="1"/>
              <a:t>avvio</a:t>
            </a:r>
            <a:r>
              <a:rPr dirty="0"/>
              <a:t>, </a:t>
            </a:r>
            <a:r>
              <a:rPr dirty="0" err="1"/>
              <a:t>magari</a:t>
            </a:r>
            <a:r>
              <a:rPr dirty="0"/>
              <a:t> in 4G.</a:t>
            </a:r>
            <a:endParaRPr lang="it-IT" dirty="0"/>
          </a:p>
          <a:p>
            <a:r>
              <a:rPr dirty="0"/>
              <a:t>Ecco </a:t>
            </a:r>
            <a:r>
              <a:rPr dirty="0" err="1"/>
              <a:t>perché</a:t>
            </a:r>
            <a:r>
              <a:rPr dirty="0"/>
              <a:t> il </a:t>
            </a:r>
            <a:r>
              <a:rPr dirty="0" err="1"/>
              <a:t>rilevamento</a:t>
            </a:r>
            <a:r>
              <a:rPr dirty="0"/>
              <a:t> </a:t>
            </a:r>
            <a:r>
              <a:rPr dirty="0" err="1"/>
              <a:t>deve</a:t>
            </a:r>
            <a:r>
              <a:rPr dirty="0"/>
              <a:t> </a:t>
            </a:r>
            <a:r>
              <a:rPr dirty="0" err="1"/>
              <a:t>funzionare</a:t>
            </a:r>
            <a:r>
              <a:rPr dirty="0"/>
              <a:t> subito, e le </a:t>
            </a:r>
            <a:r>
              <a:rPr dirty="0" err="1"/>
              <a:t>ricette</a:t>
            </a:r>
            <a:r>
              <a:rPr dirty="0"/>
              <a:t> </a:t>
            </a:r>
            <a:r>
              <a:rPr dirty="0" err="1"/>
              <a:t>possono</a:t>
            </a:r>
            <a:r>
              <a:rPr dirty="0"/>
              <a:t> </a:t>
            </a:r>
            <a:r>
              <a:rPr dirty="0" err="1"/>
              <a:t>arrivare</a:t>
            </a:r>
            <a:r>
              <a:rPr dirty="0"/>
              <a:t> un po’ dopo.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La </a:t>
            </a:r>
            <a:r>
              <a:rPr dirty="0" err="1"/>
              <a:t>soluzione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gli</a:t>
            </a:r>
            <a:r>
              <a:rPr dirty="0"/>
              <a:t> AI pack </a:t>
            </a:r>
            <a:r>
              <a:rPr dirty="0" err="1"/>
              <a:t>tramite</a:t>
            </a:r>
            <a:r>
              <a:rPr dirty="0"/>
              <a:t> Play for On-device AI.</a:t>
            </a:r>
            <a:endParaRPr lang="it-IT" dirty="0"/>
          </a:p>
          <a:p>
            <a:r>
              <a:rPr dirty="0" err="1"/>
              <a:t>Impacchettate</a:t>
            </a:r>
            <a:r>
              <a:rPr dirty="0"/>
              <a:t> il </a:t>
            </a:r>
            <a:r>
              <a:rPr dirty="0" err="1"/>
              <a:t>modello</a:t>
            </a:r>
            <a:r>
              <a:rPr dirty="0"/>
              <a:t> come un AI pack, e Google Play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occupa</a:t>
            </a:r>
            <a:r>
              <a:rPr dirty="0"/>
              <a:t> della </a:t>
            </a:r>
            <a:r>
              <a:rPr dirty="0" err="1"/>
              <a:t>consegna</a:t>
            </a:r>
            <a:r>
              <a:rPr dirty="0"/>
              <a:t>, </a:t>
            </a:r>
            <a:r>
              <a:rPr dirty="0" err="1"/>
              <a:t>esattamente</a:t>
            </a:r>
            <a:r>
              <a:rPr dirty="0"/>
              <a:t> come fa con </a:t>
            </a:r>
            <a:r>
              <a:rPr dirty="0" err="1"/>
              <a:t>l’app</a:t>
            </a:r>
            <a:r>
              <a:rPr dirty="0"/>
              <a:t>.</a:t>
            </a:r>
            <a:endParaRPr lang="it-IT" dirty="0"/>
          </a:p>
          <a:p>
            <a:r>
              <a:rPr dirty="0"/>
              <a:t>La </a:t>
            </a:r>
            <a:r>
              <a:rPr dirty="0" err="1"/>
              <a:t>distribuzione</a:t>
            </a:r>
            <a:r>
              <a:rPr dirty="0"/>
              <a:t> </a:t>
            </a:r>
            <a:r>
              <a:rPr dirty="0" err="1"/>
              <a:t>smette</a:t>
            </a:r>
            <a:r>
              <a:rPr dirty="0"/>
              <a:t> di </a:t>
            </a:r>
            <a:r>
              <a:rPr dirty="0" err="1"/>
              <a:t>essere</a:t>
            </a:r>
            <a:r>
              <a:rPr dirty="0"/>
              <a:t> un </a:t>
            </a:r>
            <a:r>
              <a:rPr dirty="0" err="1"/>
              <a:t>problema</a:t>
            </a:r>
            <a:r>
              <a:rPr dirty="0"/>
              <a:t> vostro.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</a:t>
            </a:r>
            <a:r>
              <a:rPr dirty="0" err="1"/>
              <a:t>potete</a:t>
            </a:r>
            <a:r>
              <a:rPr dirty="0"/>
              <a:t> </a:t>
            </a:r>
            <a:r>
              <a:rPr dirty="0" err="1"/>
              <a:t>scegliere</a:t>
            </a:r>
            <a:r>
              <a:rPr dirty="0"/>
              <a:t>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consegnarlo</a:t>
            </a:r>
            <a:r>
              <a:rPr dirty="0"/>
              <a:t>: </a:t>
            </a:r>
            <a:r>
              <a:rPr dirty="0" err="1"/>
              <a:t>all’installazione</a:t>
            </a:r>
            <a:r>
              <a:rPr dirty="0"/>
              <a:t>, in </a:t>
            </a:r>
            <a:r>
              <a:rPr dirty="0" err="1"/>
              <a:t>modalità</a:t>
            </a:r>
            <a:r>
              <a:rPr dirty="0"/>
              <a:t> fast-follow, </a:t>
            </a:r>
            <a:r>
              <a:rPr dirty="0" err="1"/>
              <a:t>cioè</a:t>
            </a:r>
            <a:r>
              <a:rPr dirty="0"/>
              <a:t> subito dopo </a:t>
            </a:r>
            <a:r>
              <a:rPr dirty="0" err="1"/>
              <a:t>l’installazione</a:t>
            </a:r>
            <a:r>
              <a:rPr dirty="0"/>
              <a:t>, in background, </a:t>
            </a:r>
            <a:r>
              <a:rPr dirty="0" err="1"/>
              <a:t>oppure</a:t>
            </a:r>
            <a:r>
              <a:rPr dirty="0"/>
              <a:t> on demand.</a:t>
            </a:r>
            <a:endParaRPr lang="it-IT" dirty="0"/>
          </a:p>
          <a:p>
            <a:r>
              <a:rPr dirty="0"/>
              <a:t>Noi </a:t>
            </a:r>
            <a:r>
              <a:rPr dirty="0" err="1"/>
              <a:t>usiamo</a:t>
            </a:r>
            <a:r>
              <a:rPr dirty="0"/>
              <a:t> fast-follow.</a:t>
            </a:r>
            <a:endParaRPr lang="it-IT" dirty="0"/>
          </a:p>
          <a:p>
            <a:r>
              <a:rPr dirty="0"/>
              <a:t>E </a:t>
            </a:r>
            <a:r>
              <a:rPr dirty="0" err="1"/>
              <a:t>siccome</a:t>
            </a:r>
            <a:r>
              <a:rPr dirty="0"/>
              <a:t> Play ha un </a:t>
            </a:r>
            <a:r>
              <a:rPr dirty="0" err="1"/>
              <a:t>limite</a:t>
            </a:r>
            <a:r>
              <a:rPr dirty="0"/>
              <a:t> di </a:t>
            </a:r>
            <a:r>
              <a:rPr dirty="0" err="1"/>
              <a:t>dimensione</a:t>
            </a:r>
            <a:r>
              <a:rPr dirty="0"/>
              <a:t> per </a:t>
            </a:r>
            <a:r>
              <a:rPr dirty="0" err="1"/>
              <a:t>singolo</a:t>
            </a:r>
            <a:r>
              <a:rPr dirty="0"/>
              <a:t> pack, 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diviso</a:t>
            </a:r>
            <a:r>
              <a:rPr dirty="0"/>
              <a:t> Gemma in </a:t>
            </a:r>
            <a:r>
              <a:rPr dirty="0" err="1"/>
              <a:t>tre</a:t>
            </a:r>
            <a:r>
              <a:rPr dirty="0"/>
              <a:t> AI pack: al primo </a:t>
            </a:r>
            <a:r>
              <a:rPr dirty="0" err="1"/>
              <a:t>avvio</a:t>
            </a:r>
            <a:r>
              <a:rPr dirty="0"/>
              <a:t> </a:t>
            </a:r>
            <a:r>
              <a:rPr dirty="0" err="1"/>
              <a:t>l’app</a:t>
            </a:r>
            <a:r>
              <a:rPr dirty="0"/>
              <a:t> li </a:t>
            </a:r>
            <a:r>
              <a:rPr dirty="0" err="1"/>
              <a:t>riassembla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</a:t>
            </a:r>
            <a:r>
              <a:rPr dirty="0" err="1"/>
              <a:t>modello</a:t>
            </a:r>
            <a:r>
              <a:rPr dirty="0"/>
              <a:t>, e poi </a:t>
            </a:r>
            <a:r>
              <a:rPr dirty="0" err="1"/>
              <a:t>i</a:t>
            </a:r>
            <a:r>
              <a:rPr dirty="0"/>
              <a:t> pack </a:t>
            </a:r>
            <a:r>
              <a:rPr dirty="0" err="1"/>
              <a:t>vengono</a:t>
            </a:r>
            <a:r>
              <a:rPr dirty="0"/>
              <a:t> </a:t>
            </a:r>
            <a:r>
              <a:rPr dirty="0" err="1"/>
              <a:t>rimossi</a:t>
            </a:r>
            <a:r>
              <a:rPr dirty="0"/>
              <a:t> per non </a:t>
            </a:r>
            <a:r>
              <a:rPr dirty="0" err="1"/>
              <a:t>occupare</a:t>
            </a:r>
            <a:r>
              <a:rPr dirty="0"/>
              <a:t> </a:t>
            </a:r>
            <a:r>
              <a:rPr dirty="0" err="1"/>
              <a:t>spazio</a:t>
            </a:r>
            <a:r>
              <a:rPr dirty="0"/>
              <a:t> </a:t>
            </a:r>
            <a:r>
              <a:rPr lang="it-IT" dirty="0"/>
              <a:t>2</a:t>
            </a:r>
            <a:r>
              <a:rPr dirty="0"/>
              <a:t> volte.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ora, </a:t>
            </a:r>
            <a:r>
              <a:rPr lang="en-US" dirty="0" err="1"/>
              <a:t>rimettiamo</a:t>
            </a:r>
            <a:r>
              <a:rPr lang="en-US" dirty="0"/>
              <a:t> </a:t>
            </a:r>
            <a:r>
              <a:rPr lang="en-US" dirty="0" err="1"/>
              <a:t>insieme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pezzi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Ecco il </a:t>
            </a:r>
            <a:r>
              <a:rPr dirty="0" err="1"/>
              <a:t>quadro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: </a:t>
            </a:r>
            <a:r>
              <a:rPr lang="it-IT" dirty="0"/>
              <a:t>3</a:t>
            </a:r>
            <a:r>
              <a:rPr dirty="0"/>
              <a:t> </a:t>
            </a:r>
            <a:r>
              <a:rPr dirty="0" err="1"/>
              <a:t>modelli</a:t>
            </a:r>
            <a:r>
              <a:rPr dirty="0"/>
              <a:t>, </a:t>
            </a:r>
            <a:r>
              <a:rPr lang="it-IT" dirty="0"/>
              <a:t>3</a:t>
            </a:r>
            <a:r>
              <a:rPr dirty="0"/>
              <a:t> </a:t>
            </a:r>
            <a:r>
              <a:rPr dirty="0" err="1"/>
              <a:t>compiti</a:t>
            </a:r>
            <a:r>
              <a:rPr dirty="0"/>
              <a:t>, </a:t>
            </a:r>
            <a:r>
              <a:rPr dirty="0" err="1"/>
              <a:t>un’app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Gemini Nano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l’acceleratore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Rilevamento</a:t>
            </a:r>
            <a:r>
              <a:rPr dirty="0"/>
              <a:t> </a:t>
            </a:r>
            <a:r>
              <a:rPr dirty="0" err="1"/>
              <a:t>multimodale</a:t>
            </a:r>
            <a:r>
              <a:rPr dirty="0"/>
              <a:t> </a:t>
            </a:r>
            <a:r>
              <a:rPr dirty="0" err="1"/>
              <a:t>gratuito</a:t>
            </a:r>
            <a:r>
              <a:rPr dirty="0"/>
              <a:t> sui flagship, sempre </a:t>
            </a:r>
            <a:r>
              <a:rPr dirty="0" err="1"/>
              <a:t>protetto</a:t>
            </a:r>
            <a:r>
              <a:rPr dirty="0"/>
              <a:t> da </a:t>
            </a:r>
            <a:r>
              <a:rPr dirty="0" err="1"/>
              <a:t>checkStatus</a:t>
            </a:r>
            <a:r>
              <a:rPr dirty="0"/>
              <a:t>().</a:t>
            </a:r>
            <a:endParaRPr lang="it-IT" dirty="0"/>
          </a:p>
          <a:p>
            <a:r>
              <a:rPr dirty="0"/>
              <a:t>Se </a:t>
            </a:r>
            <a:r>
              <a:rPr dirty="0" err="1"/>
              <a:t>c’è</a:t>
            </a:r>
            <a:r>
              <a:rPr dirty="0"/>
              <a:t>, lo </a:t>
            </a:r>
            <a:r>
              <a:rPr dirty="0" err="1"/>
              <a:t>usiamo</a:t>
            </a:r>
            <a:r>
              <a:rPr dirty="0"/>
              <a:t>. Se non </a:t>
            </a:r>
            <a:r>
              <a:rPr dirty="0" err="1"/>
              <a:t>c’è</a:t>
            </a:r>
            <a:r>
              <a:rPr dirty="0"/>
              <a:t>, </a:t>
            </a:r>
            <a:r>
              <a:rPr dirty="0" err="1"/>
              <a:t>nessun</a:t>
            </a:r>
            <a:r>
              <a:rPr dirty="0"/>
              <a:t> </a:t>
            </a:r>
            <a:r>
              <a:rPr dirty="0" err="1"/>
              <a:t>problema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MobileCLIP-S2 </a:t>
            </a:r>
            <a:r>
              <a:rPr dirty="0" err="1"/>
              <a:t>è</a:t>
            </a:r>
            <a:r>
              <a:rPr dirty="0"/>
              <a:t> la base.</a:t>
            </a:r>
            <a:endParaRPr lang="it-IT" dirty="0"/>
          </a:p>
          <a:p>
            <a:r>
              <a:rPr dirty="0" err="1"/>
              <a:t>Rilevamento</a:t>
            </a:r>
            <a:r>
              <a:rPr dirty="0"/>
              <a:t> zero-shot in </a:t>
            </a:r>
            <a:r>
              <a:rPr dirty="0" err="1"/>
              <a:t>pochi</a:t>
            </a:r>
            <a:r>
              <a:rPr dirty="0"/>
              <a:t> secondi, </a:t>
            </a:r>
            <a:r>
              <a:rPr dirty="0" err="1"/>
              <a:t>su</a:t>
            </a:r>
            <a:r>
              <a:rPr dirty="0"/>
              <a:t> ogni </a:t>
            </a:r>
            <a:r>
              <a:rPr dirty="0" err="1"/>
              <a:t>telefono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È</a:t>
            </a:r>
            <a:r>
              <a:rPr dirty="0"/>
              <a:t> </a:t>
            </a:r>
            <a:r>
              <a:rPr lang="it-IT" dirty="0"/>
              <a:t>la base </a:t>
            </a:r>
            <a:r>
              <a:rPr dirty="0"/>
              <a:t>sotto cui </a:t>
            </a:r>
            <a:r>
              <a:rPr dirty="0" err="1"/>
              <a:t>l’esperienza</a:t>
            </a:r>
            <a:r>
              <a:rPr dirty="0"/>
              <a:t> non </a:t>
            </a:r>
            <a:r>
              <a:rPr dirty="0" err="1"/>
              <a:t>scende</a:t>
            </a:r>
            <a:r>
              <a:rPr dirty="0"/>
              <a:t> </a:t>
            </a:r>
            <a:r>
              <a:rPr dirty="0" err="1"/>
              <a:t>mai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Gemma </a:t>
            </a:r>
            <a:r>
              <a:rPr dirty="0" err="1"/>
              <a:t>è</a:t>
            </a:r>
            <a:r>
              <a:rPr dirty="0"/>
              <a:t> il </a:t>
            </a:r>
            <a:r>
              <a:rPr dirty="0" err="1"/>
              <a:t>creatore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Ricette generate on-device:</a:t>
            </a:r>
            <a:r>
              <a:rPr dirty="0"/>
              <a:t> </a:t>
            </a:r>
            <a:r>
              <a:rPr dirty="0" err="1"/>
              <a:t>l’unico</a:t>
            </a:r>
            <a:r>
              <a:rPr dirty="0"/>
              <a:t> </a:t>
            </a:r>
            <a:r>
              <a:rPr dirty="0" err="1"/>
              <a:t>compito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solo un LLM </a:t>
            </a:r>
            <a:r>
              <a:rPr dirty="0" err="1"/>
              <a:t>sa</a:t>
            </a:r>
            <a:r>
              <a:rPr dirty="0"/>
              <a:t> fare.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E il quarto </a:t>
            </a:r>
            <a:r>
              <a:rPr dirty="0" err="1"/>
              <a:t>elemento</a:t>
            </a:r>
            <a:r>
              <a:rPr dirty="0"/>
              <a:t>,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forse</a:t>
            </a:r>
            <a:r>
              <a:rPr dirty="0"/>
              <a:t> il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importante</a:t>
            </a:r>
            <a:r>
              <a:rPr dirty="0"/>
              <a:t> lato </a:t>
            </a:r>
            <a:r>
              <a:rPr dirty="0" err="1"/>
              <a:t>architettura</a:t>
            </a:r>
            <a:r>
              <a:rPr dirty="0"/>
              <a:t>: </a:t>
            </a:r>
            <a:r>
              <a:rPr dirty="0" err="1"/>
              <a:t>una</a:t>
            </a:r>
            <a:r>
              <a:rPr dirty="0"/>
              <a:t> sola </a:t>
            </a:r>
            <a:r>
              <a:rPr dirty="0" err="1"/>
              <a:t>interfaccia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</a:t>
            </a:r>
            <a:r>
              <a:rPr dirty="0" err="1"/>
              <a:t>codice</a:t>
            </a:r>
            <a:r>
              <a:rPr dirty="0"/>
              <a:t>.</a:t>
            </a:r>
            <a:endParaRPr lang="it-IT" dirty="0"/>
          </a:p>
          <a:p>
            <a:r>
              <a:rPr dirty="0"/>
              <a:t>Tutti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motori</a:t>
            </a:r>
            <a:r>
              <a:rPr dirty="0"/>
              <a:t> di </a:t>
            </a:r>
            <a:r>
              <a:rPr dirty="0" err="1"/>
              <a:t>rilevamento</a:t>
            </a:r>
            <a:r>
              <a:rPr dirty="0"/>
              <a:t> </a:t>
            </a:r>
            <a:r>
              <a:rPr dirty="0" err="1"/>
              <a:t>implementano</a:t>
            </a:r>
            <a:r>
              <a:rPr dirty="0"/>
              <a:t> lo </a:t>
            </a:r>
            <a:r>
              <a:rPr dirty="0" err="1"/>
              <a:t>stesso</a:t>
            </a:r>
            <a:r>
              <a:rPr dirty="0"/>
              <a:t> </a:t>
            </a:r>
            <a:r>
              <a:rPr dirty="0" err="1"/>
              <a:t>contratto</a:t>
            </a:r>
            <a:r>
              <a:rPr dirty="0"/>
              <a:t>.</a:t>
            </a:r>
            <a:endParaRPr lang="it-IT" dirty="0"/>
          </a:p>
          <a:p>
            <a:r>
              <a:rPr dirty="0"/>
              <a:t>La UI non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mai</a:t>
            </a:r>
            <a:r>
              <a:rPr dirty="0"/>
              <a:t> quale </a:t>
            </a:r>
            <a:r>
              <a:rPr dirty="0" err="1"/>
              <a:t>motore</a:t>
            </a:r>
            <a:r>
              <a:rPr dirty="0"/>
              <a:t> ha </a:t>
            </a:r>
            <a:r>
              <a:rPr dirty="0" err="1"/>
              <a:t>risposto</a:t>
            </a:r>
            <a:r>
              <a:rPr dirty="0"/>
              <a:t>. Non le </a:t>
            </a:r>
            <a:r>
              <a:rPr dirty="0" err="1"/>
              <a:t>interessa</a:t>
            </a:r>
            <a:r>
              <a:rPr dirty="0"/>
              <a:t>.</a:t>
            </a:r>
            <a:endParaRPr lang="it-IT" dirty="0"/>
          </a:p>
          <a:p>
            <a:r>
              <a:rPr dirty="0"/>
              <a:t>Oggi </a:t>
            </a:r>
            <a:r>
              <a:rPr dirty="0" err="1"/>
              <a:t>risponde</a:t>
            </a:r>
            <a:r>
              <a:rPr dirty="0"/>
              <a:t> Nano, </a:t>
            </a:r>
            <a:r>
              <a:rPr dirty="0" err="1"/>
              <a:t>domani</a:t>
            </a:r>
            <a:r>
              <a:rPr dirty="0"/>
              <a:t> MobileCLIP, e </a:t>
            </a:r>
            <a:r>
              <a:rPr dirty="0" err="1"/>
              <a:t>l’utente</a:t>
            </a:r>
            <a:r>
              <a:rPr dirty="0"/>
              <a:t> </a:t>
            </a:r>
            <a:r>
              <a:rPr dirty="0" err="1"/>
              <a:t>vede</a:t>
            </a:r>
            <a:r>
              <a:rPr dirty="0"/>
              <a:t> sempre la </a:t>
            </a:r>
            <a:r>
              <a:rPr dirty="0" err="1"/>
              <a:t>stessa</a:t>
            </a:r>
            <a:r>
              <a:rPr dirty="0"/>
              <a:t> </a:t>
            </a:r>
            <a:r>
              <a:rPr dirty="0" err="1"/>
              <a:t>esperienza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In </a:t>
            </a:r>
            <a:r>
              <a:rPr dirty="0" err="1"/>
              <a:t>pratica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un pattern </a:t>
            </a:r>
            <a:r>
              <a:rPr dirty="0" err="1"/>
              <a:t>che</a:t>
            </a:r>
            <a:r>
              <a:rPr dirty="0"/>
              <a:t> </a:t>
            </a:r>
            <a:r>
              <a:rPr lang="it-IT" dirty="0"/>
              <a:t>conosciamo</a:t>
            </a:r>
            <a:r>
              <a:rPr dirty="0"/>
              <a:t> </a:t>
            </a:r>
            <a:r>
              <a:rPr dirty="0" err="1"/>
              <a:t>benissimo</a:t>
            </a:r>
            <a:r>
              <a:rPr dirty="0"/>
              <a:t>: </a:t>
            </a:r>
            <a:r>
              <a:rPr dirty="0" err="1"/>
              <a:t>un’interfaccia</a:t>
            </a:r>
            <a:r>
              <a:rPr dirty="0"/>
              <a:t>,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implementazioni</a:t>
            </a:r>
            <a:r>
              <a:rPr dirty="0"/>
              <a:t>, e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piccola</a:t>
            </a:r>
            <a:r>
              <a:rPr dirty="0"/>
              <a:t> </a:t>
            </a:r>
            <a:r>
              <a:rPr dirty="0" err="1"/>
              <a:t>strategia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sceglie</a:t>
            </a:r>
            <a:r>
              <a:rPr dirty="0"/>
              <a:t> a runtime la </a:t>
            </a:r>
            <a:r>
              <a:rPr dirty="0" err="1"/>
              <a:t>migliore</a:t>
            </a:r>
            <a:r>
              <a:rPr dirty="0"/>
              <a:t> </a:t>
            </a:r>
            <a:r>
              <a:rPr dirty="0" err="1"/>
              <a:t>disponibile</a:t>
            </a:r>
            <a:r>
              <a:rPr dirty="0"/>
              <a:t>.</a:t>
            </a:r>
            <a:endParaRPr lang="it-IT" dirty="0"/>
          </a:p>
          <a:p>
            <a:r>
              <a:rPr dirty="0"/>
              <a:t>Prima </a:t>
            </a:r>
            <a:r>
              <a:rPr dirty="0" err="1"/>
              <a:t>provo</a:t>
            </a:r>
            <a:r>
              <a:rPr dirty="0"/>
              <a:t> Nano; se </a:t>
            </a:r>
            <a:r>
              <a:rPr dirty="0" err="1"/>
              <a:t>checkStatus</a:t>
            </a:r>
            <a:r>
              <a:rPr dirty="0"/>
              <a:t>() dice di no, </a:t>
            </a:r>
            <a:r>
              <a:rPr dirty="0" err="1"/>
              <a:t>uso</a:t>
            </a:r>
            <a:r>
              <a:rPr dirty="0"/>
              <a:t> MobileCLIP.</a:t>
            </a:r>
            <a:endParaRPr lang="it-IT" dirty="0"/>
          </a:p>
          <a:p>
            <a:r>
              <a:rPr dirty="0"/>
              <a:t>Niente di </a:t>
            </a:r>
            <a:r>
              <a:rPr dirty="0" err="1"/>
              <a:t>magico</a:t>
            </a:r>
            <a:r>
              <a:rPr dirty="0"/>
              <a:t>: buona </a:t>
            </a:r>
            <a:r>
              <a:rPr dirty="0" err="1"/>
              <a:t>architettura</a:t>
            </a:r>
            <a:r>
              <a:rPr dirty="0"/>
              <a:t> Android,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all’AI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aggiungere</a:t>
            </a:r>
            <a:r>
              <a:rPr dirty="0"/>
              <a:t>, </a:t>
            </a:r>
            <a:r>
              <a:rPr dirty="0" err="1"/>
              <a:t>togliere</a:t>
            </a:r>
            <a:r>
              <a:rPr dirty="0"/>
              <a:t> o </a:t>
            </a:r>
            <a:r>
              <a:rPr dirty="0" err="1"/>
              <a:t>sostituire</a:t>
            </a:r>
            <a:r>
              <a:rPr dirty="0"/>
              <a:t> </a:t>
            </a:r>
            <a:r>
              <a:rPr dirty="0" err="1"/>
              <a:t>modelli</a:t>
            </a:r>
            <a:r>
              <a:rPr dirty="0"/>
              <a:t> senza </a:t>
            </a:r>
            <a:r>
              <a:rPr dirty="0" err="1"/>
              <a:t>toccare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riga</a:t>
            </a:r>
            <a:r>
              <a:rPr dirty="0"/>
              <a:t> di UI.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 err="1"/>
              <a:t>Chiudiamo</a:t>
            </a:r>
            <a:r>
              <a:rPr dirty="0"/>
              <a:t> con </a:t>
            </a:r>
            <a:r>
              <a:rPr dirty="0" err="1"/>
              <a:t>quello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vorremmo</a:t>
            </a:r>
            <a:r>
              <a:rPr dirty="0"/>
              <a:t> vi </a:t>
            </a:r>
            <a:r>
              <a:rPr dirty="0" err="1"/>
              <a:t>portaste</a:t>
            </a:r>
            <a:r>
              <a:rPr dirty="0"/>
              <a:t> a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</a:t>
            </a:r>
            <a:r>
              <a:rPr lang="en-US" dirty="0" err="1"/>
              <a:t>punti</a:t>
            </a:r>
            <a:r>
              <a:rPr lang="en-US" dirty="0"/>
              <a:t> </a:t>
            </a:r>
            <a:r>
              <a:rPr lang="en-US" dirty="0" err="1"/>
              <a:t>chiave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1: il </a:t>
            </a:r>
            <a:r>
              <a:rPr lang="en-US" dirty="0" err="1"/>
              <a:t>modello</a:t>
            </a:r>
            <a:r>
              <a:rPr lang="en-US" dirty="0"/>
              <a:t> giusto prima del </a:t>
            </a:r>
            <a:r>
              <a:rPr lang="en-US" dirty="0" err="1"/>
              <a:t>modello</a:t>
            </a:r>
            <a:r>
              <a:rPr lang="en-US" dirty="0"/>
              <a:t> veloce.</a:t>
            </a:r>
          </a:p>
          <a:p>
            <a:r>
              <a:rPr lang="en-US" dirty="0" err="1"/>
              <a:t>Riconoscere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confrontare</a:t>
            </a:r>
            <a:r>
              <a:rPr lang="en-US" dirty="0"/>
              <a:t>, </a:t>
            </a:r>
            <a:r>
              <a:rPr lang="en-US" dirty="0" err="1"/>
              <a:t>scrivere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generare</a:t>
            </a:r>
            <a:r>
              <a:rPr lang="en-US" dirty="0"/>
              <a:t>.</a:t>
            </a:r>
          </a:p>
          <a:p>
            <a:r>
              <a:rPr lang="en-US" dirty="0" err="1"/>
              <a:t>Scegliere</a:t>
            </a:r>
            <a:r>
              <a:rPr lang="en-US" dirty="0"/>
              <a:t> </a:t>
            </a:r>
            <a:r>
              <a:rPr lang="en-US" dirty="0" err="1"/>
              <a:t>quello</a:t>
            </a:r>
            <a:r>
              <a:rPr lang="en-US" dirty="0"/>
              <a:t> giusto </a:t>
            </a:r>
            <a:r>
              <a:rPr lang="en-US" dirty="0" err="1"/>
              <a:t>è</a:t>
            </a:r>
            <a:r>
              <a:rPr lang="en-US" dirty="0"/>
              <a:t> la </a:t>
            </a:r>
            <a:r>
              <a:rPr lang="en-US" dirty="0" err="1"/>
              <a:t>differenza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secondi e </a:t>
            </a:r>
            <a:r>
              <a:rPr lang="en-US" dirty="0" err="1"/>
              <a:t>minuti</a:t>
            </a:r>
            <a:r>
              <a:rPr lang="en-US" dirty="0"/>
              <a:t>.</a:t>
            </a:r>
          </a:p>
          <a:p>
            <a:r>
              <a:rPr lang="en-US" dirty="0"/>
              <a:t>E a volte il </a:t>
            </a:r>
            <a:r>
              <a:rPr lang="en-US" dirty="0" err="1"/>
              <a:t>classificatore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economico</a:t>
            </a:r>
            <a:r>
              <a:rPr lang="en-US" dirty="0"/>
              <a:t> di sempre </a:t>
            </a:r>
            <a:r>
              <a:rPr lang="en-US" dirty="0" err="1"/>
              <a:t>è</a:t>
            </a:r>
            <a:r>
              <a:rPr lang="en-US" dirty="0"/>
              <a:t> un file di testo: embedding delle </a:t>
            </a:r>
            <a:r>
              <a:rPr lang="en-US" dirty="0" err="1"/>
              <a:t>etichette</a:t>
            </a:r>
            <a:r>
              <a:rPr lang="en-US" dirty="0"/>
              <a:t> </a:t>
            </a:r>
            <a:r>
              <a:rPr lang="en-US" dirty="0" err="1"/>
              <a:t>calcolati</a:t>
            </a:r>
            <a:r>
              <a:rPr lang="en-US" dirty="0"/>
              <a:t> offline, zero training, zero </a:t>
            </a:r>
            <a:r>
              <a:rPr lang="en-US" dirty="0" err="1"/>
              <a:t>infrastruttura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2: </a:t>
            </a:r>
            <a:r>
              <a:rPr lang="en-US" dirty="0" err="1"/>
              <a:t>l’AI</a:t>
            </a:r>
            <a:r>
              <a:rPr lang="en-US" dirty="0"/>
              <a:t> di </a:t>
            </a:r>
            <a:r>
              <a:rPr lang="en-US" dirty="0" err="1"/>
              <a:t>piattaforma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un upgrade, non la base.</a:t>
            </a:r>
          </a:p>
          <a:p>
            <a:r>
              <a:rPr lang="en-US" dirty="0" err="1"/>
              <a:t>Controllate</a:t>
            </a:r>
            <a:r>
              <a:rPr lang="en-US" dirty="0"/>
              <a:t> </a:t>
            </a:r>
            <a:r>
              <a:rPr lang="en-US" dirty="0" err="1"/>
              <a:t>checkStatus</a:t>
            </a:r>
            <a:r>
              <a:rPr lang="en-US" dirty="0"/>
              <a:t>() a ogni </a:t>
            </a:r>
            <a:r>
              <a:rPr lang="en-US" dirty="0" err="1"/>
              <a:t>chiamata</a:t>
            </a:r>
            <a:r>
              <a:rPr lang="en-US" dirty="0"/>
              <a:t>, </a:t>
            </a:r>
            <a:r>
              <a:rPr lang="en-US" dirty="0" err="1"/>
              <a:t>perché</a:t>
            </a:r>
            <a:r>
              <a:rPr lang="en-US" dirty="0"/>
              <a:t> la </a:t>
            </a:r>
            <a:r>
              <a:rPr lang="en-US" dirty="0" err="1"/>
              <a:t>disponibilità</a:t>
            </a:r>
            <a:r>
              <a:rPr lang="en-US" dirty="0"/>
              <a:t> di Nano cambia a runtime.</a:t>
            </a:r>
          </a:p>
          <a:p>
            <a:r>
              <a:rPr lang="en-US" dirty="0"/>
              <a:t>E sotto </a:t>
            </a:r>
            <a:r>
              <a:rPr lang="en-US" dirty="0" err="1"/>
              <a:t>tenete</a:t>
            </a:r>
            <a:r>
              <a:rPr lang="en-US" dirty="0"/>
              <a:t> sempre un fallback </a:t>
            </a:r>
            <a:r>
              <a:rPr lang="en-US" dirty="0" err="1"/>
              <a:t>vero</a:t>
            </a:r>
            <a:r>
              <a:rPr lang="en-US" dirty="0"/>
              <a:t>: un </a:t>
            </a:r>
            <a:r>
              <a:rPr lang="en-US" dirty="0" err="1"/>
              <a:t>altro</a:t>
            </a:r>
            <a:r>
              <a:rPr lang="en-US" dirty="0"/>
              <a:t> </a:t>
            </a:r>
            <a:r>
              <a:rPr lang="en-US" dirty="0" err="1"/>
              <a:t>motore</a:t>
            </a:r>
            <a:r>
              <a:rPr lang="en-US" dirty="0"/>
              <a:t>, non un </a:t>
            </a:r>
            <a:r>
              <a:rPr lang="en-US" dirty="0" err="1"/>
              <a:t>messaggio</a:t>
            </a:r>
            <a:r>
              <a:rPr lang="en-US" dirty="0"/>
              <a:t> di </a:t>
            </a:r>
            <a:r>
              <a:rPr lang="en-US" dirty="0" err="1"/>
              <a:t>errore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3: fate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conti</a:t>
            </a:r>
            <a:r>
              <a:rPr lang="en-US" dirty="0"/>
              <a:t> prima di </a:t>
            </a:r>
            <a:r>
              <a:rPr lang="en-US" dirty="0" err="1"/>
              <a:t>promettere</a:t>
            </a:r>
            <a:r>
              <a:rPr lang="en-US" dirty="0"/>
              <a:t>.</a:t>
            </a:r>
          </a:p>
          <a:p>
            <a:r>
              <a:rPr lang="en-US" dirty="0"/>
              <a:t>Token in </a:t>
            </a:r>
            <a:r>
              <a:rPr lang="en-US" dirty="0" err="1"/>
              <a:t>uscita</a:t>
            </a:r>
            <a:r>
              <a:rPr lang="en-US" dirty="0"/>
              <a:t>, giga di RAM, giga da </a:t>
            </a:r>
            <a:r>
              <a:rPr lang="en-US" dirty="0" err="1"/>
              <a:t>distribuire</a:t>
            </a:r>
            <a:r>
              <a:rPr lang="en-US" dirty="0"/>
              <a:t>.</a:t>
            </a:r>
          </a:p>
          <a:p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quell’aritmetica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decide se la </a:t>
            </a:r>
            <a:r>
              <a:rPr lang="en-US" dirty="0" err="1"/>
              <a:t>vostra</a:t>
            </a:r>
            <a:r>
              <a:rPr lang="en-US" dirty="0"/>
              <a:t> feature ci </a:t>
            </a:r>
            <a:r>
              <a:rPr lang="en-US" dirty="0" err="1"/>
              <a:t>mette</a:t>
            </a:r>
            <a:r>
              <a:rPr lang="en-US" dirty="0"/>
              <a:t> secondi o </a:t>
            </a:r>
            <a:r>
              <a:rPr lang="en-US" dirty="0" err="1"/>
              <a:t>minuti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Tutti </a:t>
            </a:r>
            <a:r>
              <a:rPr lang="en-US" dirty="0" err="1"/>
              <a:t>questi</a:t>
            </a:r>
            <a:r>
              <a:rPr lang="en-US" dirty="0"/>
              <a:t> </a:t>
            </a:r>
            <a:r>
              <a:rPr lang="en-US" dirty="0" err="1"/>
              <a:t>punti</a:t>
            </a:r>
            <a:r>
              <a:rPr lang="en-US" dirty="0"/>
              <a:t> non </a:t>
            </a:r>
            <a:r>
              <a:rPr lang="en-US" dirty="0" err="1"/>
              <a:t>valgono</a:t>
            </a:r>
            <a:r>
              <a:rPr lang="en-US" dirty="0"/>
              <a:t> solo per </a:t>
            </a:r>
            <a:r>
              <a:rPr lang="en-US" dirty="0" err="1"/>
              <a:t>un’app</a:t>
            </a:r>
            <a:r>
              <a:rPr lang="en-US" dirty="0"/>
              <a:t> di </a:t>
            </a:r>
            <a:r>
              <a:rPr lang="en-US" dirty="0" err="1"/>
              <a:t>ricette</a:t>
            </a:r>
            <a:r>
              <a:rPr lang="en-US" dirty="0"/>
              <a:t>.</a:t>
            </a:r>
          </a:p>
          <a:p>
            <a:r>
              <a:rPr lang="en-US" dirty="0" err="1"/>
              <a:t>Valgono</a:t>
            </a:r>
            <a:r>
              <a:rPr lang="en-US" dirty="0"/>
              <a:t> per </a:t>
            </a:r>
            <a:r>
              <a:rPr lang="en-US" dirty="0" err="1"/>
              <a:t>qualsiasi</a:t>
            </a:r>
            <a:r>
              <a:rPr lang="en-US" dirty="0"/>
              <a:t> feature AI on-device: </a:t>
            </a:r>
            <a:r>
              <a:rPr lang="en-US" dirty="0" err="1"/>
              <a:t>scansione</a:t>
            </a:r>
            <a:r>
              <a:rPr lang="en-US" dirty="0"/>
              <a:t> di </a:t>
            </a:r>
            <a:r>
              <a:rPr lang="en-US" dirty="0" err="1"/>
              <a:t>documenti</a:t>
            </a:r>
            <a:r>
              <a:rPr lang="en-US" dirty="0"/>
              <a:t>, </a:t>
            </a:r>
            <a:r>
              <a:rPr lang="en-US" dirty="0" err="1"/>
              <a:t>riconoscimento</a:t>
            </a:r>
            <a:r>
              <a:rPr lang="en-US" dirty="0"/>
              <a:t> di </a:t>
            </a:r>
            <a:r>
              <a:rPr lang="en-US" dirty="0" err="1"/>
              <a:t>prodotti</a:t>
            </a:r>
            <a:r>
              <a:rPr lang="en-US" dirty="0"/>
              <a:t>, </a:t>
            </a:r>
            <a:r>
              <a:rPr lang="en-US" dirty="0" err="1"/>
              <a:t>assistenti</a:t>
            </a:r>
            <a:r>
              <a:rPr lang="en-US" dirty="0"/>
              <a:t> </a:t>
            </a:r>
            <a:r>
              <a:rPr lang="en-US" dirty="0" err="1"/>
              <a:t>nelle</a:t>
            </a:r>
            <a:r>
              <a:rPr lang="en-US" dirty="0"/>
              <a:t> app.</a:t>
            </a:r>
          </a:p>
          <a:p>
            <a:r>
              <a:rPr lang="en-US" dirty="0"/>
              <a:t>Il pattern </a:t>
            </a:r>
            <a:r>
              <a:rPr lang="en-US" dirty="0" err="1"/>
              <a:t>è</a:t>
            </a:r>
            <a:r>
              <a:rPr lang="en-US" dirty="0"/>
              <a:t> sempre lo </a:t>
            </a:r>
            <a:r>
              <a:rPr lang="en-US" dirty="0" err="1"/>
              <a:t>stesso</a:t>
            </a:r>
            <a:r>
              <a:rPr lang="en-US" dirty="0"/>
              <a:t>: </a:t>
            </a:r>
            <a:r>
              <a:rPr lang="en-US" dirty="0" err="1"/>
              <a:t>percezione</a:t>
            </a:r>
            <a:r>
              <a:rPr lang="en-US" dirty="0"/>
              <a:t> </a:t>
            </a:r>
            <a:r>
              <a:rPr lang="en-US" dirty="0" err="1"/>
              <a:t>economica</a:t>
            </a:r>
            <a:r>
              <a:rPr lang="en-US" dirty="0"/>
              <a:t> come base, </a:t>
            </a:r>
            <a:r>
              <a:rPr lang="en-US" dirty="0" err="1"/>
              <a:t>generazione</a:t>
            </a:r>
            <a:r>
              <a:rPr lang="en-US" dirty="0"/>
              <a:t> dove serve </a:t>
            </a:r>
            <a:r>
              <a:rPr lang="en-US" dirty="0" err="1"/>
              <a:t>davvero</a:t>
            </a:r>
            <a:r>
              <a:rPr lang="en-US" dirty="0"/>
              <a:t>, e </a:t>
            </a:r>
            <a:r>
              <a:rPr lang="en-US" dirty="0" err="1"/>
              <a:t>piattaforma</a:t>
            </a:r>
            <a:r>
              <a:rPr lang="en-US" dirty="0"/>
              <a:t> come upgrade.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se proprio </a:t>
            </a:r>
            <a:r>
              <a:rPr lang="en-US" dirty="0" err="1"/>
              <a:t>dovete</a:t>
            </a:r>
            <a:r>
              <a:rPr lang="en-US" dirty="0"/>
              <a:t> </a:t>
            </a:r>
            <a:r>
              <a:rPr lang="en-US" dirty="0" err="1"/>
              <a:t>ricordarvi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sola </a:t>
            </a:r>
            <a:r>
              <a:rPr lang="en-US" dirty="0" err="1"/>
              <a:t>cosa</a:t>
            </a:r>
            <a:r>
              <a:rPr lang="en-US" dirty="0"/>
              <a:t>: prima di </a:t>
            </a:r>
            <a:r>
              <a:rPr lang="en-US" dirty="0" err="1"/>
              <a:t>chiedervi</a:t>
            </a:r>
            <a:r>
              <a:rPr lang="en-US" dirty="0"/>
              <a:t> come </a:t>
            </a:r>
            <a:r>
              <a:rPr lang="en-US" dirty="0" err="1"/>
              <a:t>rendere</a:t>
            </a:r>
            <a:r>
              <a:rPr lang="en-US" dirty="0"/>
              <a:t> un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veloce, </a:t>
            </a:r>
            <a:r>
              <a:rPr lang="en-US" dirty="0" err="1"/>
              <a:t>chiedetevi</a:t>
            </a:r>
            <a:r>
              <a:rPr lang="en-US" dirty="0"/>
              <a:t> se </a:t>
            </a:r>
            <a:r>
              <a:rPr lang="en-US" dirty="0" err="1"/>
              <a:t>è</a:t>
            </a:r>
            <a:r>
              <a:rPr lang="en-US" dirty="0"/>
              <a:t> il </a:t>
            </a:r>
            <a:r>
              <a:rPr lang="en-US" dirty="0" err="1"/>
              <a:t>modello</a:t>
            </a:r>
            <a:r>
              <a:rPr lang="en-US" dirty="0"/>
              <a:t> giusto.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E questo è tutto. Grazie mille!</a:t>
            </a:r>
          </a:p>
          <a:p>
            <a:endParaRPr lang="it-IT" dirty="0"/>
          </a:p>
          <a:p>
            <a:r>
              <a:rPr lang="it-IT" dirty="0"/>
              <a:t>Il codice di AI </a:t>
            </a:r>
            <a:r>
              <a:rPr lang="it-IT" dirty="0" err="1"/>
              <a:t>Pantry</a:t>
            </a:r>
            <a:r>
              <a:rPr lang="it-IT" dirty="0"/>
              <a:t> è open source: lo trovate su GitHub, al link che vedete qui, </a:t>
            </a:r>
            <a:r>
              <a:rPr lang="it-IT" dirty="0" err="1"/>
              <a:t>github.com</a:t>
            </a:r>
            <a:r>
              <a:rPr lang="it-IT" dirty="0"/>
              <a:t>/</a:t>
            </a:r>
            <a:r>
              <a:rPr lang="it-IT" dirty="0" err="1"/>
              <a:t>MatriscianoSalvatore</a:t>
            </a:r>
            <a:r>
              <a:rPr lang="it-IT" dirty="0"/>
              <a:t>/ai-</a:t>
            </a:r>
            <a:r>
              <a:rPr lang="it-IT" dirty="0" err="1"/>
              <a:t>pantry</a:t>
            </a:r>
            <a:r>
              <a:rPr lang="it-IT" dirty="0"/>
              <a:t>.</a:t>
            </a:r>
          </a:p>
          <a:p>
            <a:r>
              <a:rPr lang="it-IT" dirty="0"/>
              <a:t>Scaricatelo, provatelo sul vostro telefono, apriteci una </a:t>
            </a:r>
            <a:r>
              <a:rPr lang="it-IT" dirty="0" err="1"/>
              <a:t>issue</a:t>
            </a:r>
            <a:r>
              <a:rPr lang="it-IT" dirty="0"/>
              <a:t> se si rompe. Nella repo trovate anche le slide del talk.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 se volete continuare la chiacchierata, trovate i nostri contatti qui: il sito di Salvatore e il mio LinkedIn.</a:t>
            </a:r>
          </a:p>
          <a:p>
            <a:r>
              <a:rPr lang="it-IT" dirty="0"/>
              <a:t>Oppure fermateci pure dopo, siamo qui tutto il giorno.</a:t>
            </a:r>
          </a:p>
          <a:p>
            <a:endParaRPr lang="it-IT" dirty="0"/>
          </a:p>
          <a:p>
            <a:br>
              <a:rPr lang="it-IT" dirty="0"/>
            </a:br>
            <a:r>
              <a:rPr lang="it-IT" dirty="0"/>
              <a:t>Grazie ancora alla </a:t>
            </a:r>
            <a:r>
              <a:rPr lang="it-IT" dirty="0" err="1"/>
              <a:t>DevFest</a:t>
            </a:r>
            <a:r>
              <a:rPr lang="it-IT" dirty="0"/>
              <a:t> Milano e a tutti voi.</a:t>
            </a:r>
          </a:p>
          <a:p>
            <a:r>
              <a:rPr lang="it-IT" dirty="0"/>
              <a:t>Se ci sono domande, siamo qui!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Prima di </a:t>
            </a:r>
            <a:r>
              <a:rPr lang="en-US" dirty="0" err="1"/>
              <a:t>salutarci</a:t>
            </a:r>
            <a:r>
              <a:rPr lang="en-US" dirty="0"/>
              <a:t>, </a:t>
            </a:r>
            <a:r>
              <a:rPr lang="en-US" dirty="0" err="1"/>
              <a:t>un’ultima</a:t>
            </a:r>
            <a:r>
              <a:rPr lang="en-US" dirty="0"/>
              <a:t> </a:t>
            </a:r>
            <a:r>
              <a:rPr lang="en-US" dirty="0" err="1"/>
              <a:t>cosa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Potete</a:t>
            </a:r>
            <a:r>
              <a:rPr lang="en-US" dirty="0"/>
              <a:t> </a:t>
            </a:r>
            <a:r>
              <a:rPr lang="en-US" dirty="0" err="1"/>
              <a:t>Inquadrare</a:t>
            </a:r>
            <a:r>
              <a:rPr lang="en-US" dirty="0"/>
              <a:t> </a:t>
            </a:r>
            <a:r>
              <a:rPr lang="en-US" dirty="0" err="1"/>
              <a:t>questo</a:t>
            </a:r>
            <a:r>
              <a:rPr lang="en-US"/>
              <a:t> QR per </a:t>
            </a:r>
            <a:r>
              <a:rPr lang="en-US" dirty="0" err="1"/>
              <a:t>lasciarci</a:t>
            </a:r>
            <a:r>
              <a:rPr lang="en-US" dirty="0"/>
              <a:t> un feedback </a:t>
            </a:r>
            <a:r>
              <a:rPr lang="en-US" dirty="0" err="1"/>
              <a:t>sul</a:t>
            </a:r>
            <a:r>
              <a:rPr lang="en-US" dirty="0"/>
              <a:t> talk.</a:t>
            </a:r>
          </a:p>
          <a:p>
            <a:endParaRPr lang="en-US" dirty="0"/>
          </a:p>
          <a:p>
            <a:r>
              <a:rPr lang="en-US" dirty="0"/>
              <a:t>Ci </a:t>
            </a:r>
            <a:r>
              <a:rPr lang="en-US" dirty="0" err="1"/>
              <a:t>aiuta</a:t>
            </a:r>
            <a:r>
              <a:rPr lang="en-US" dirty="0"/>
              <a:t> a </a:t>
            </a:r>
            <a:r>
              <a:rPr lang="en-US" dirty="0" err="1"/>
              <a:t>migliorare</a:t>
            </a:r>
            <a:r>
              <a:rPr lang="en-US" dirty="0"/>
              <a:t>, e </a:t>
            </a:r>
            <a:r>
              <a:rPr lang="en-US" dirty="0" err="1"/>
              <a:t>aiuta</a:t>
            </a:r>
            <a:r>
              <a:rPr lang="en-US" dirty="0"/>
              <a:t>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organizzatori</a:t>
            </a:r>
            <a:r>
              <a:rPr lang="en-US" dirty="0"/>
              <a:t> </a:t>
            </a:r>
            <a:r>
              <a:rPr lang="en-US" dirty="0" err="1"/>
              <a:t>dell’evento</a:t>
            </a:r>
            <a:r>
              <a:rPr lang="en-US" dirty="0"/>
              <a:t> a </a:t>
            </a:r>
            <a:r>
              <a:rPr lang="en-US" dirty="0" err="1"/>
              <a:t>capire</a:t>
            </a:r>
            <a:r>
              <a:rPr lang="en-US" dirty="0"/>
              <a:t> </a:t>
            </a:r>
            <a:r>
              <a:rPr lang="en-US" dirty="0" err="1"/>
              <a:t>cosa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piaciuto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 ora, se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domande</a:t>
            </a:r>
            <a:r>
              <a:rPr lang="en-US" dirty="0"/>
              <a:t>, </a:t>
            </a:r>
            <a:r>
              <a:rPr lang="en-US" dirty="0" err="1"/>
              <a:t>siamo</a:t>
            </a:r>
            <a:r>
              <a:rPr lang="en-US" dirty="0"/>
              <a:t> qui!</a:t>
            </a:r>
          </a:p>
        </p:txBody>
      </p:sp>
    </p:spTree>
    <p:extLst>
      <p:ext uri="{BB962C8B-B14F-4D97-AF65-F5344CB8AC3E}">
        <p14:creationId xmlns:p14="http://schemas.microsoft.com/office/powerpoint/2010/main" val="2902824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3920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03EEA6-6ABF-11D4-88FA-ACF13666F0DE}"/>
              </a:ext>
            </a:extLst>
          </p:cNvPr>
          <p:cNvSpPr txBox="1"/>
          <p:nvPr/>
        </p:nvSpPr>
        <p:spPr>
          <a:xfrm>
            <a:off x="822960" y="1645920"/>
            <a:ext cx="6335486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 dirty="0">
                <a:solidFill>
                  <a:srgbClr val="F1F5F9"/>
                </a:solidFill>
                <a:latin typeface="Helvetica Neue"/>
              </a:rPr>
              <a:t>AI On-Device</a:t>
            </a:r>
          </a:p>
          <a:p>
            <a:r>
              <a:rPr lang="en-US" sz="2400" dirty="0">
                <a:solidFill>
                  <a:srgbClr val="94A3B8"/>
                </a:solidFill>
                <a:latin typeface="Helvetica Neue"/>
              </a:rPr>
              <a:t>Cooking from your fridge with Gemini Nano, MobileCLIP and Gemma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5F9E6A-2A5F-5C9A-9CC3-6E24B162D563}"/>
              </a:ext>
            </a:extLst>
          </p:cNvPr>
          <p:cNvSpPr/>
          <p:nvPr/>
        </p:nvSpPr>
        <p:spPr>
          <a:xfrm>
            <a:off x="868680" y="374904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8713B6-4549-8639-0BC7-1F9D99F7A18A}"/>
              </a:ext>
            </a:extLst>
          </p:cNvPr>
          <p:cNvSpPr txBox="1"/>
          <p:nvPr/>
        </p:nvSpPr>
        <p:spPr>
          <a:xfrm>
            <a:off x="822960" y="4937760"/>
            <a:ext cx="5162182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dirty="0">
                <a:solidFill>
                  <a:srgbClr val="F1F5F9"/>
                </a:solidFill>
                <a:latin typeface="Helvetica Neue"/>
              </a:rPr>
              <a:t>Salvatore Matrisciano  ·  Stefano Soriano</a:t>
            </a:r>
          </a:p>
          <a:p>
            <a:r>
              <a:rPr sz="1600" b="0" i="0" dirty="0">
                <a:solidFill>
                  <a:srgbClr val="94A3B8"/>
                </a:solidFill>
                <a:latin typeface="Helvetica Neue"/>
              </a:rPr>
              <a:t>Mobile Engineer</a:t>
            </a:r>
            <a:r>
              <a:rPr lang="it-IT" sz="1600" b="0" i="0" dirty="0" err="1">
                <a:solidFill>
                  <a:srgbClr val="94A3B8"/>
                </a:solidFill>
                <a:latin typeface="Helvetica Neue"/>
              </a:rPr>
              <a:t>s</a:t>
            </a:r>
            <a:r>
              <a:rPr lang="it-IT" sz="1600" b="0" i="0" dirty="0">
                <a:solidFill>
                  <a:srgbClr val="94A3B8"/>
                </a:solidFill>
                <a:latin typeface="Helvetica Neue"/>
              </a:rPr>
              <a:t> @</a:t>
            </a:r>
            <a:r>
              <a:rPr sz="1600" b="0" i="0" dirty="0">
                <a:solidFill>
                  <a:srgbClr val="94A3B8"/>
                </a:solidFill>
                <a:latin typeface="Helvetica Neue"/>
              </a:rPr>
              <a:t> Deloitte Digital</a:t>
            </a:r>
          </a:p>
          <a:p>
            <a:r>
              <a:rPr lang="it-IT" sz="1600" b="0" i="0" dirty="0" err="1">
                <a:solidFill>
                  <a:srgbClr val="4ADE80"/>
                </a:solidFill>
                <a:latin typeface="Helvetica Neue"/>
              </a:rPr>
              <a:t>DevFest</a:t>
            </a:r>
            <a:r>
              <a:rPr sz="1600" b="0" i="0" dirty="0">
                <a:solidFill>
                  <a:srgbClr val="4ADE80"/>
                </a:solidFill>
                <a:latin typeface="Helvetica Neue"/>
              </a:rPr>
              <a:t> </a:t>
            </a:r>
            <a:r>
              <a:rPr lang="it-IT" sz="1600" b="0" i="0" dirty="0">
                <a:solidFill>
                  <a:srgbClr val="4ADE80"/>
                </a:solidFill>
                <a:latin typeface="Helvetica Neue"/>
              </a:rPr>
              <a:t>Milano 2026</a:t>
            </a:r>
            <a:endParaRPr sz="1600" b="0" i="0" dirty="0">
              <a:solidFill>
                <a:srgbClr val="4ADE80"/>
              </a:solidFill>
              <a:latin typeface="Helvetica Neu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701386-B9F4-B853-287B-224B1F83D549}"/>
              </a:ext>
            </a:extLst>
          </p:cNvPr>
          <p:cNvSpPr txBox="1"/>
          <p:nvPr/>
        </p:nvSpPr>
        <p:spPr>
          <a:xfrm>
            <a:off x="5257800" y="1623060"/>
            <a:ext cx="6362700" cy="312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3400" b="1" i="0" dirty="0">
                <a:solidFill>
                  <a:srgbClr val="F1F5F9"/>
                </a:solidFill>
                <a:latin typeface="Helvetica Neue"/>
              </a:rPr>
              <a:t>Cosa succede quando decidi di far girare tutta l’AI della tua app direttamente sul telefono?</a:t>
            </a:r>
          </a:p>
          <a:p>
            <a:pPr>
              <a:spcAft>
                <a:spcPts val="1600"/>
              </a:spcAft>
            </a:pPr>
            <a:r>
              <a:rPr lang="en-US" sz="2400" dirty="0">
                <a:solidFill>
                  <a:srgbClr val="4ADE80"/>
                </a:solidFill>
                <a:latin typeface="Helvetica Neue"/>
              </a:rPr>
              <a:t>Niente cloud. Niente API key. </a:t>
            </a:r>
            <a:r>
              <a:rPr lang="en-US" sz="2400" dirty="0" err="1">
                <a:solidFill>
                  <a:srgbClr val="4ADE80"/>
                </a:solidFill>
                <a:latin typeface="Helvetica Neue"/>
              </a:rPr>
              <a:t>Nessuna</a:t>
            </a:r>
            <a:r>
              <a:rPr lang="en-US" sz="2400" dirty="0">
                <a:solidFill>
                  <a:srgbClr val="4ADE80"/>
                </a:solidFill>
                <a:latin typeface="Helvetica Neue"/>
              </a:rPr>
              <a:t> </a:t>
            </a:r>
            <a:r>
              <a:rPr lang="en-US" sz="2400" dirty="0" err="1">
                <a:solidFill>
                  <a:srgbClr val="4ADE80"/>
                </a:solidFill>
                <a:latin typeface="Helvetica Neue"/>
              </a:rPr>
              <a:t>foto</a:t>
            </a:r>
            <a:r>
              <a:rPr lang="en-US" sz="2400" dirty="0">
                <a:solidFill>
                  <a:srgbClr val="4ADE80"/>
                </a:solidFill>
                <a:latin typeface="Helvetica Neue"/>
              </a:rPr>
              <a:t> della cucina </a:t>
            </a:r>
            <a:r>
              <a:rPr lang="en-US" sz="2400" dirty="0" err="1">
                <a:solidFill>
                  <a:srgbClr val="4ADE80"/>
                </a:solidFill>
                <a:latin typeface="Helvetica Neue"/>
              </a:rPr>
              <a:t>dei</a:t>
            </a:r>
            <a:r>
              <a:rPr lang="en-US" sz="2400" dirty="0">
                <a:solidFill>
                  <a:srgbClr val="4ADE80"/>
                </a:solidFill>
                <a:latin typeface="Helvetica Neue"/>
              </a:rPr>
              <a:t> </a:t>
            </a:r>
            <a:r>
              <a:rPr lang="en-US" sz="2400" dirty="0" err="1">
                <a:solidFill>
                  <a:srgbClr val="4ADE80"/>
                </a:solidFill>
                <a:latin typeface="Helvetica Neue"/>
              </a:rPr>
              <a:t>tuoi</a:t>
            </a:r>
            <a:r>
              <a:rPr lang="en-US" sz="2400" dirty="0">
                <a:solidFill>
                  <a:srgbClr val="4ADE80"/>
                </a:solidFill>
                <a:latin typeface="Helvetica Neue"/>
              </a:rPr>
              <a:t> </a:t>
            </a:r>
            <a:r>
              <a:rPr lang="en-US" sz="2400" dirty="0" err="1">
                <a:solidFill>
                  <a:srgbClr val="4ADE80"/>
                </a:solidFill>
                <a:latin typeface="Helvetica Neue"/>
              </a:rPr>
              <a:t>utenti</a:t>
            </a:r>
            <a:r>
              <a:rPr lang="en-US" sz="2400" dirty="0">
                <a:solidFill>
                  <a:srgbClr val="4ADE80"/>
                </a:solidFill>
                <a:latin typeface="Helvetica Neue"/>
              </a:rPr>
              <a:t> </a:t>
            </a:r>
            <a:r>
              <a:rPr lang="en-US" sz="2400" dirty="0" err="1">
                <a:solidFill>
                  <a:srgbClr val="4ADE80"/>
                </a:solidFill>
                <a:latin typeface="Helvetica Neue"/>
              </a:rPr>
              <a:t>su</a:t>
            </a:r>
            <a:r>
              <a:rPr lang="en-US" sz="2400" dirty="0">
                <a:solidFill>
                  <a:srgbClr val="4ADE80"/>
                </a:solidFill>
                <a:latin typeface="Helvetica Neue"/>
              </a:rPr>
              <a:t> un server.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1AC9E2-9F0C-2B25-B257-BB4F03A26B9B}"/>
              </a:ext>
            </a:extLst>
          </p:cNvPr>
          <p:cNvSpPr/>
          <p:nvPr/>
        </p:nvSpPr>
        <p:spPr>
          <a:xfrm>
            <a:off x="5270500" y="604139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818455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L’APP</a:t>
            </a:r>
          </a:p>
        </p:txBody>
      </p:sp>
      <p:sp>
        <p:nvSpPr>
          <p:cNvPr id="4" name="Text 1"/>
          <p:cNvSpPr/>
          <p:nvPr/>
        </p:nvSpPr>
        <p:spPr>
          <a:xfrm>
            <a:off x="5233360" y="1201142"/>
            <a:ext cx="6296860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Pantry: scansiona il frigo, ottieni la cena</a:t>
            </a: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10349" y="2715648"/>
            <a:ext cx="283461" cy="2834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847608" y="26974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Fotografi il frigo → riconosce gli ingredienti</a:t>
            </a: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3630462"/>
            <a:ext cx="283461" cy="28346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47608" y="3611880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 ricorda la tua dispensa</a:t>
            </a: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2" y="4546402"/>
            <a:ext cx="283461" cy="28346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847608" y="45262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Ti propone cosa cucinare e scrive la ricetta</a:t>
            </a:r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5491460"/>
            <a:ext cx="283461" cy="283468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5847608" y="5477256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100% on-device: foto e prompt non escono dal telefono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5400"/>
            <a:ext cx="4800480" cy="6883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0368" y="548640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4" name="Text 1"/>
          <p:cNvSpPr/>
          <p:nvPr/>
        </p:nvSpPr>
        <p:spPr>
          <a:xfrm>
            <a:off x="5230368" y="877824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Perché on-device?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Privacy, prima di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224028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13248" y="238658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server che vede le foto</a:t>
            </a:r>
            <a:endParaRPr lang="it-IT" sz="1900" dirty="0"/>
          </a:p>
        </p:txBody>
      </p:sp>
      <p:sp>
        <p:nvSpPr>
          <p:cNvPr id="7" name="TextBox 6"/>
          <p:cNvSpPr txBox="1"/>
          <p:nvPr/>
        </p:nvSpPr>
        <p:spPr>
          <a:xfrm>
            <a:off x="5413248" y="272084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Le foto della cucina non escono dal telefono.</a:t>
            </a:r>
            <a:endParaRPr lang="it-IT" sz="170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230368" y="322516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13248" y="337146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Data Processing Agreement (DPA)</a:t>
            </a:r>
            <a:endParaRPr lang="it-IT" sz="1900" dirty="0"/>
          </a:p>
        </p:txBody>
      </p:sp>
      <p:sp>
        <p:nvSpPr>
          <p:cNvPr id="10" name="TextBox 9"/>
          <p:cNvSpPr txBox="1"/>
          <p:nvPr/>
        </p:nvSpPr>
        <p:spPr>
          <a:xfrm>
            <a:off x="5413248" y="370573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 fornitore riceve le foto: niente da firmare.</a:t>
            </a:r>
            <a:endParaRPr lang="it-IT" sz="170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230368" y="421005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13248" y="435635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problema di data </a:t>
            </a:r>
            <a:r>
              <a:rPr lang="it-IT" sz="200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retention</a:t>
            </a:r>
            <a:endParaRPr lang="it-IT" sz="1900" dirty="0"/>
          </a:p>
        </p:txBody>
      </p:sp>
      <p:sp>
        <p:nvSpPr>
          <p:cNvPr id="13" name="TextBox 12"/>
          <p:cNvSpPr txBox="1"/>
          <p:nvPr/>
        </p:nvSpPr>
        <p:spPr>
          <a:xfrm>
            <a:off x="5413248" y="469061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 non memorizzi mai dati, la </a:t>
            </a:r>
            <a:r>
              <a:rPr lang="it-IT" sz="1700" dirty="0" err="1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retention</a:t>
            </a:r>
            <a:r>
              <a:rPr lang="it-IT" sz="17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 non è un problema.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19493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13248" y="534123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log da far trapelare</a:t>
            </a:r>
            <a:endParaRPr lang="it-IT" sz="1900" dirty="0"/>
          </a:p>
        </p:txBody>
      </p:sp>
      <p:sp>
        <p:nvSpPr>
          <p:cNvPr id="16" name="TextBox 15"/>
          <p:cNvSpPr txBox="1"/>
          <p:nvPr/>
        </p:nvSpPr>
        <p:spPr>
          <a:xfrm>
            <a:off x="5413248" y="567550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dato più sicuro è quello che non hai mai raccolto.</a:t>
            </a:r>
            <a:endParaRPr lang="it-IT" sz="170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08304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…poi resilienza e costi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7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Funziona anche senza internet</a:t>
            </a:r>
            <a:endParaRPr lang="it-IT" sz="235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Senza rete, in modalità aereo, con segnale debole (anche in cucine seminterrate)</a:t>
            </a:r>
            <a:endParaRPr lang="it-IT" sz="1900" dirty="0">
              <a:solidFill>
                <a:srgbClr val="94A3B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19048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73368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round-trip verso il server</a:t>
            </a:r>
            <a:endParaRPr lang="it-IT" sz="2350" dirty="0"/>
          </a:p>
        </p:txBody>
      </p:sp>
      <p:sp>
        <p:nvSpPr>
          <p:cNvPr id="9" name="TextBox 8"/>
          <p:cNvSpPr txBox="1"/>
          <p:nvPr/>
        </p:nvSpPr>
        <p:spPr>
          <a:xfrm>
            <a:off x="6373368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Niente latenza di rete: il “backend” è già in tasca.</a:t>
            </a:r>
            <a:endParaRPr lang="it-IT" sz="1900" dirty="0">
              <a:solidFill>
                <a:srgbClr val="94A3B8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5836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6" y="4128008"/>
            <a:ext cx="5157215" cy="6441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costo del cloud cresce con l’uso</a:t>
            </a:r>
            <a:endParaRPr lang="it-IT" sz="235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Ogni foto si paga, per ogni utente, ogni giorno.</a:t>
            </a:r>
            <a:endParaRPr lang="it-IT" sz="1900" dirty="0">
              <a:solidFill>
                <a:srgbClr val="94A3B8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19048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3368" y="4128008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On-device ribalta il costo</a:t>
            </a:r>
            <a:endParaRPr lang="it-IT" sz="2350" dirty="0"/>
          </a:p>
        </p:txBody>
      </p:sp>
      <p:sp>
        <p:nvSpPr>
          <p:cNvPr id="15" name="TextBox 14"/>
          <p:cNvSpPr txBox="1"/>
          <p:nvPr/>
        </p:nvSpPr>
        <p:spPr>
          <a:xfrm>
            <a:off x="6373368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L’inferenza gira sul telefono dell’utente: bolletta cloud a zero.</a:t>
            </a:r>
            <a:endParaRPr lang="it-IT" sz="190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PRIMA SCELTA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La scelta ovvia: Gemini Nano</a:t>
            </a:r>
          </a:p>
        </p:txBody>
      </p:sp>
      <p:sp>
        <p:nvSpPr>
          <p:cNvPr id="5" name="Shape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61475" y="251460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1261872" y="257556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spcAft>
                <a:spcPts val="850"/>
              </a:spcAft>
              <a:buNone/>
            </a:pPr>
            <a:r>
              <a:rPr lang="it-IT" sz="185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Già nel sistema operativo, multimodale</a:t>
            </a:r>
          </a:p>
        </p:txBody>
      </p:sp>
      <p:sp>
        <p:nvSpPr>
          <p:cNvPr id="7" name="Shape 4"/>
          <p:cNvSpPr/>
          <p:nvPr/>
        </p:nvSpPr>
        <p:spPr>
          <a:xfrm>
            <a:off x="661475" y="329184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1261872" y="335280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7000"/>
              </a:lnSpc>
              <a:spcAft>
                <a:spcPts val="850"/>
              </a:spcAft>
            </a:pPr>
            <a:r>
              <a:rPr lang="it-IT" sz="18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Una dipendenza, </a:t>
            </a:r>
            <a:r>
              <a:rPr lang="it-IT" sz="185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zero megabyte nell’APK</a:t>
            </a:r>
          </a:p>
        </p:txBody>
      </p:sp>
      <p:sp>
        <p:nvSpPr>
          <p:cNvPr id="9" name="Shape 6"/>
          <p:cNvSpPr/>
          <p:nvPr/>
        </p:nvSpPr>
        <p:spPr>
          <a:xfrm>
            <a:off x="661475" y="406908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/>
          <p:nvPr/>
        </p:nvSpPr>
        <p:spPr>
          <a:xfrm>
            <a:off x="1261872" y="4130040"/>
            <a:ext cx="7674864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Accelerazione hardware e aggiornamenti gestiti da Google</a:t>
            </a:r>
          </a:p>
        </p:txBody>
      </p:sp>
      <p:sp>
        <p:nvSpPr>
          <p:cNvPr id="11" name="Shape 8"/>
          <p:cNvSpPr/>
          <p:nvPr/>
        </p:nvSpPr>
        <p:spPr>
          <a:xfrm>
            <a:off x="661475" y="501396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1261872" y="5050536"/>
            <a:ext cx="5696712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sz="24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Perfetto. Tranne che…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597521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PRIMA SCELTA · IL PROBLEMA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2188071"/>
            <a:ext cx="6296860" cy="2543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it-IT" sz="51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solo sui </a:t>
            </a:r>
            <a:r>
              <a:rPr lang="it-IT" sz="5100" dirty="0" err="1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flagship</a:t>
            </a:r>
            <a:r>
              <a:rPr lang="it-IT" sz="51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più recenti.</a:t>
            </a:r>
            <a:endParaRPr lang="it-IT" sz="51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0DEC08-AABB-F109-136E-0FEC1339F739}"/>
              </a:ext>
            </a:extLst>
          </p:cNvPr>
          <p:cNvSpPr/>
          <p:nvPr/>
        </p:nvSpPr>
        <p:spPr>
          <a:xfrm>
            <a:off x="661475" y="6033790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3CD9A80-91C3-0A43-A6B0-8C4E3FA7940B}"/>
              </a:ext>
            </a:extLst>
          </p:cNvPr>
          <p:cNvSpPr/>
          <p:nvPr/>
        </p:nvSpPr>
        <p:spPr>
          <a:xfrm>
            <a:off x="658368" y="492252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600"/>
              </a:spcAft>
            </a:pPr>
            <a:r>
              <a:rPr lang="it-IT" sz="2000" dirty="0">
                <a:solidFill>
                  <a:srgbClr val="CBD5E1"/>
                </a:solidFill>
                <a:latin typeface="Helvetica Neue"/>
              </a:rPr>
              <a:t>Pixel 10/11, Galaxy S26 e pochi altri top di gamma:</a:t>
            </a:r>
            <a:br>
              <a:rPr lang="it-IT" sz="2000" dirty="0">
                <a:solidFill>
                  <a:srgbClr val="CBD5E1"/>
                </a:solidFill>
                <a:latin typeface="Helvetica Neue"/>
              </a:rPr>
            </a:br>
            <a:r>
              <a:rPr lang="it-IT" sz="2000" dirty="0">
                <a:solidFill>
                  <a:srgbClr val="CBD5E1"/>
                </a:solidFill>
                <a:latin typeface="Helvetica Neue"/>
              </a:rPr>
              <a:t>non i telefoni che la maggior parte della gente ha davvero.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PIANO</a:t>
            </a:r>
            <a:r>
              <a:rPr lang="it-IT" sz="18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B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 </a:t>
            </a:r>
            <a:r>
              <a:rPr lang="it-IT" sz="37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solo</a:t>
            </a:r>
            <a:r>
              <a:rPr lang="it-IT" sz="36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 LLM multimodale per fare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25624"/>
            <a:ext cx="6300216" cy="1215644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247192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Gemma 4 E2B</a:t>
            </a:r>
            <a:endParaRPr lang="it-IT" sz="2200" dirty="0"/>
          </a:p>
        </p:txBody>
      </p:sp>
      <p:sp>
        <p:nvSpPr>
          <p:cNvPr id="7" name="TextBox 6"/>
          <p:cNvSpPr txBox="1"/>
          <p:nvPr/>
        </p:nvSpPr>
        <p:spPr>
          <a:xfrm>
            <a:off x="841247" y="285699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modello open di Google: lo porti tu, gira anche dove Nano non c’è (con abbastanza RAM).</a:t>
            </a:r>
            <a:endParaRPr lang="it-IT" sz="175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3699764"/>
            <a:ext cx="6300216" cy="934466"/>
          </a:xfrm>
          <a:prstGeom prst="roundRect">
            <a:avLst>
              <a:gd name="adj" fmla="val 708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384606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Ha funzionato.</a:t>
            </a:r>
            <a:endParaRPr lang="it-IT" sz="2200" dirty="0"/>
          </a:p>
        </p:txBody>
      </p:sp>
      <p:sp>
        <p:nvSpPr>
          <p:cNvPr id="10" name="TextBox 9"/>
          <p:cNvSpPr txBox="1"/>
          <p:nvPr/>
        </p:nvSpPr>
        <p:spPr>
          <a:xfrm>
            <a:off x="841247" y="4231132"/>
            <a:ext cx="5934455" cy="2811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Ingredienti corretti, JSON valido, ricette vere.</a:t>
            </a:r>
            <a:endParaRPr lang="it-IT" sz="175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8368" y="4811014"/>
            <a:ext cx="6300216" cy="1187450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7" y="495731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Ma ci metteva 5-10 minuti per scansione</a:t>
            </a:r>
            <a:endParaRPr lang="it-IT" sz="2200" dirty="0"/>
          </a:p>
        </p:txBody>
      </p:sp>
      <p:sp>
        <p:nvSpPr>
          <p:cNvPr id="13" name="TextBox 12"/>
          <p:cNvSpPr txBox="1"/>
          <p:nvPr/>
        </p:nvSpPr>
        <p:spPr>
          <a:xfrm>
            <a:off x="841247" y="534238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Su un Pixel 7, un telefono di quattro anni fa.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75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Nessuno aspetta 10 minuti per un’idea per cena.</a:t>
            </a:r>
            <a:endParaRPr lang="it-IT" sz="1750" dirty="0">
              <a:solidFill>
                <a:srgbClr val="94A3B8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8230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QUESTA SESSIONE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66499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Come l’abbiamo risolto, in cinque capitoli</a:t>
            </a:r>
          </a:p>
        </p:txBody>
      </p:sp>
      <p:sp>
        <p:nvSpPr>
          <p:cNvPr id="4" name="Text 2"/>
          <p:cNvSpPr/>
          <p:nvPr/>
        </p:nvSpPr>
        <p:spPr>
          <a:xfrm>
            <a:off x="661475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it-IT" sz="1450" dirty="0"/>
          </a:p>
        </p:txBody>
      </p:sp>
      <p:sp>
        <p:nvSpPr>
          <p:cNvPr id="5" name="Shape 3"/>
          <p:cNvSpPr/>
          <p:nvPr/>
        </p:nvSpPr>
        <p:spPr>
          <a:xfrm>
            <a:off x="661475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661475" y="3013273"/>
            <a:ext cx="3496877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 via ML Kit GenAI</a:t>
            </a:r>
            <a:endParaRPr lang="it-IT" sz="1850" dirty="0"/>
          </a:p>
        </p:txBody>
      </p:sp>
      <p:sp>
        <p:nvSpPr>
          <p:cNvPr id="7" name="Text 5"/>
          <p:cNvSpPr/>
          <p:nvPr/>
        </p:nvSpPr>
        <p:spPr>
          <a:xfrm>
            <a:off x="661475" y="3433763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upgrade gratuito, mai la base</a:t>
            </a:r>
          </a:p>
        </p:txBody>
      </p:sp>
      <p:sp>
        <p:nvSpPr>
          <p:cNvPr id="8" name="Text 6"/>
          <p:cNvSpPr/>
          <p:nvPr/>
        </p:nvSpPr>
        <p:spPr>
          <a:xfrm>
            <a:off x="4347359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it-IT" sz="1450" dirty="0"/>
          </a:p>
        </p:txBody>
      </p:sp>
      <p:sp>
        <p:nvSpPr>
          <p:cNvPr id="9" name="Shape 7"/>
          <p:cNvSpPr/>
          <p:nvPr/>
        </p:nvSpPr>
        <p:spPr>
          <a:xfrm>
            <a:off x="4347359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347359" y="3013273"/>
            <a:ext cx="349687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modello per domarli tutti: Gemma</a:t>
            </a:r>
          </a:p>
        </p:txBody>
      </p:sp>
      <p:sp>
        <p:nvSpPr>
          <p:cNvPr id="11" name="Text 9"/>
          <p:cNvSpPr/>
          <p:nvPr/>
        </p:nvSpPr>
        <p:spPr>
          <a:xfrm>
            <a:off x="4347359" y="3694806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…e perché era così lento</a:t>
            </a:r>
          </a:p>
        </p:txBody>
      </p:sp>
      <p:sp>
        <p:nvSpPr>
          <p:cNvPr id="12" name="Text 10"/>
          <p:cNvSpPr/>
          <p:nvPr/>
        </p:nvSpPr>
        <p:spPr>
          <a:xfrm>
            <a:off x="8033244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it-IT" sz="1450" dirty="0"/>
          </a:p>
        </p:txBody>
      </p:sp>
      <p:sp>
        <p:nvSpPr>
          <p:cNvPr id="13" name="Shape 11"/>
          <p:cNvSpPr/>
          <p:nvPr/>
        </p:nvSpPr>
        <p:spPr>
          <a:xfrm>
            <a:off x="8033244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033244" y="3013273"/>
            <a:ext cx="3496877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Rilevamento zero-shot con MobileCLIP-S2</a:t>
            </a:r>
          </a:p>
        </p:txBody>
      </p:sp>
      <p:sp>
        <p:nvSpPr>
          <p:cNvPr id="15" name="Text 13"/>
          <p:cNvSpPr/>
          <p:nvPr/>
        </p:nvSpPr>
        <p:spPr>
          <a:xfrm>
            <a:off x="8033244" y="3740845"/>
            <a:ext cx="34968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 che confronta, non che scrive</a:t>
            </a:r>
          </a:p>
        </p:txBody>
      </p:sp>
      <p:sp>
        <p:nvSpPr>
          <p:cNvPr id="16" name="Text 14"/>
          <p:cNvSpPr/>
          <p:nvPr/>
        </p:nvSpPr>
        <p:spPr>
          <a:xfrm>
            <a:off x="661475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it-IT" sz="1450" dirty="0"/>
          </a:p>
        </p:txBody>
      </p:sp>
      <p:sp>
        <p:nvSpPr>
          <p:cNvPr id="17" name="Shape 15"/>
          <p:cNvSpPr/>
          <p:nvPr/>
        </p:nvSpPr>
        <p:spPr>
          <a:xfrm>
            <a:off x="661475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61475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Dove l’LLM si guadagna il suo posto</a:t>
            </a:r>
            <a:endParaRPr lang="it-IT" sz="1850" dirty="0"/>
          </a:p>
        </p:txBody>
      </p:sp>
      <p:sp>
        <p:nvSpPr>
          <p:cNvPr id="19" name="Text 17"/>
          <p:cNvSpPr/>
          <p:nvPr/>
        </p:nvSpPr>
        <p:spPr>
          <a:xfrm>
            <a:off x="661475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Generazione delle ricette</a:t>
            </a:r>
          </a:p>
        </p:txBody>
      </p:sp>
      <p:sp>
        <p:nvSpPr>
          <p:cNvPr id="20" name="Text 18"/>
          <p:cNvSpPr/>
          <p:nvPr/>
        </p:nvSpPr>
        <p:spPr>
          <a:xfrm>
            <a:off x="6190301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05</a:t>
            </a:r>
            <a:endParaRPr lang="it-IT" sz="1450" dirty="0"/>
          </a:p>
        </p:txBody>
      </p:sp>
      <p:sp>
        <p:nvSpPr>
          <p:cNvPr id="21" name="Shape 19"/>
          <p:cNvSpPr/>
          <p:nvPr/>
        </p:nvSpPr>
        <p:spPr>
          <a:xfrm>
            <a:off x="6190301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190301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distribuzione</a:t>
            </a:r>
            <a:endParaRPr lang="it-IT" sz="1850" dirty="0"/>
          </a:p>
        </p:txBody>
      </p:sp>
      <p:sp>
        <p:nvSpPr>
          <p:cNvPr id="23" name="Text 21"/>
          <p:cNvSpPr/>
          <p:nvPr/>
        </p:nvSpPr>
        <p:spPr>
          <a:xfrm>
            <a:off x="6190301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Ogni modello viaggia in modo diverso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43334"/>
            <a:ext cx="6296860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83655"/>
            <a:ext cx="6296860" cy="556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Gemini Nano</a:t>
            </a:r>
            <a:endParaRPr lang="it-IT" sz="3700" dirty="0"/>
          </a:p>
        </p:txBody>
      </p:sp>
      <p:sp>
        <p:nvSpPr>
          <p:cNvPr id="5" name="Shape 2"/>
          <p:cNvSpPr/>
          <p:nvPr/>
        </p:nvSpPr>
        <p:spPr>
          <a:xfrm>
            <a:off x="5233360" y="1773039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6" name="Text 3"/>
          <p:cNvSpPr/>
          <p:nvPr/>
        </p:nvSpPr>
        <p:spPr>
          <a:xfrm>
            <a:off x="5423657" y="1963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membro più piccolo della famiglia Gemini di Google</a:t>
            </a:r>
            <a:endParaRPr lang="it-IT" sz="1650" dirty="0"/>
          </a:p>
        </p:txBody>
      </p:sp>
      <p:sp>
        <p:nvSpPr>
          <p:cNvPr id="7" name="Text 4"/>
          <p:cNvSpPr/>
          <p:nvPr/>
        </p:nvSpPr>
        <p:spPr>
          <a:xfrm>
            <a:off x="5423657" y="2334716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Distillato per girare su un telefono. Stesso DNA dei fratelli cloud, ridotto finché non entra nel budget di memoria e termico di un telefono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3104654"/>
            <a:ext cx="6296860" cy="964208"/>
          </a:xfrm>
          <a:prstGeom prst="roundRect">
            <a:avLst>
              <a:gd name="adj" fmla="val 7462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5423657" y="3294955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foto + testo in, testo out</a:t>
            </a:r>
            <a:endParaRPr lang="it-IT" sz="1650" dirty="0"/>
          </a:p>
        </p:txBody>
      </p:sp>
      <p:sp>
        <p:nvSpPr>
          <p:cNvPr id="10" name="Text 7"/>
          <p:cNvSpPr/>
          <p:nvPr/>
        </p:nvSpPr>
        <p:spPr>
          <a:xfrm>
            <a:off x="5423657" y="3666331"/>
            <a:ext cx="5916266" cy="2122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3000"/>
              </a:lnSpc>
            </a:pPr>
            <a:r>
              <a:rPr lang="it-IT" sz="14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Proprio il nostro problema: "guarda questo frigo, dimmi cosa c'è dentro"</a:t>
            </a:r>
          </a:p>
        </p:txBody>
      </p:sp>
      <p:sp>
        <p:nvSpPr>
          <p:cNvPr id="11" name="Shape 8"/>
          <p:cNvSpPr/>
          <p:nvPr/>
        </p:nvSpPr>
        <p:spPr>
          <a:xfrm>
            <a:off x="5233360" y="4224040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5423657" y="4414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solo modello condiviso per dispositivo</a:t>
            </a:r>
            <a:endParaRPr lang="it-IT" sz="1650" dirty="0"/>
          </a:p>
        </p:txBody>
      </p:sp>
      <p:sp>
        <p:nvSpPr>
          <p:cNvPr id="13" name="Text 10"/>
          <p:cNvSpPr/>
          <p:nvPr/>
        </p:nvSpPr>
        <p:spPr>
          <a:xfrm>
            <a:off x="5423657" y="4785717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Aggiornato da Google Play services: nano-v2 / nano-v3 in base al dispositivo, migliora senza che tu rilasci nulla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555655"/>
            <a:ext cx="6296860" cy="658912"/>
          </a:xfrm>
          <a:prstGeom prst="roundRect">
            <a:avLst>
              <a:gd name="adj" fmla="val 10919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5423657" y="5745956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per la tua app: zero megabyte</a:t>
            </a:r>
            <a:endParaRPr lang="it-IT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995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2182249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modello vive in </a:t>
            </a:r>
            <a:r>
              <a:rPr lang="it-IT" sz="3700" dirty="0" err="1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AICore</a:t>
            </a: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, non nella tua app</a:t>
            </a:r>
            <a:endParaRPr lang="it-IT" sz="3700" dirty="0"/>
          </a:p>
        </p:txBody>
      </p:sp>
      <p:sp>
        <p:nvSpPr>
          <p:cNvPr id="13" name="Image 0" descr="preencoded.png"/>
          <p:cNvSpPr/>
          <p:nvPr/>
        </p:nvSpPr>
        <p:spPr>
          <a:xfrm>
            <a:off x="63607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2"/>
          <p:cNvSpPr/>
          <p:nvPr/>
        </p:nvSpPr>
        <p:spPr>
          <a:xfrm>
            <a:off x="901281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AICore è un servizio di sistema Android</a:t>
            </a:r>
            <a:endParaRPr lang="it-IT" sz="2000" dirty="0"/>
          </a:p>
        </p:txBody>
      </p:sp>
      <p:sp>
        <p:nvSpPr>
          <p:cNvPr id="6" name="Text 3"/>
          <p:cNvSpPr/>
          <p:nvPr/>
        </p:nvSpPr>
        <p:spPr>
          <a:xfrm>
            <a:off x="901281" y="4002623"/>
            <a:ext cx="3225620" cy="120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Gestisce pesi, storage, aggiornamenti e accelerazione hardware, la tua app non tocca mai un file del modello.</a:t>
            </a:r>
          </a:p>
        </p:txBody>
      </p:sp>
      <p:sp>
        <p:nvSpPr>
          <p:cNvPr id="12" name="Image 1" descr="preencoded.png"/>
          <p:cNvSpPr/>
          <p:nvPr/>
        </p:nvSpPr>
        <p:spPr>
          <a:xfrm>
            <a:off x="433773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4"/>
          <p:cNvSpPr/>
          <p:nvPr/>
        </p:nvSpPr>
        <p:spPr>
          <a:xfrm>
            <a:off x="460294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 multimodali: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foto + testo in, testo out</a:t>
            </a:r>
            <a:endParaRPr lang="it-IT" sz="2000" dirty="0"/>
          </a:p>
        </p:txBody>
      </p:sp>
      <p:sp>
        <p:nvSpPr>
          <p:cNvPr id="9" name="Text 5"/>
          <p:cNvSpPr/>
          <p:nvPr/>
        </p:nvSpPr>
        <p:spPr>
          <a:xfrm>
            <a:off x="4602940" y="4002623"/>
            <a:ext cx="3225620" cy="1032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Gira su pesi che non devi mai distribuire, scaricare o aggiornare.</a:t>
            </a:r>
          </a:p>
        </p:txBody>
      </p:sp>
      <p:sp>
        <p:nvSpPr>
          <p:cNvPr id="14" name="Image 2" descr="preencoded.png"/>
          <p:cNvSpPr/>
          <p:nvPr/>
        </p:nvSpPr>
        <p:spPr>
          <a:xfrm>
            <a:off x="803939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6"/>
          <p:cNvSpPr/>
          <p:nvPr/>
        </p:nvSpPr>
        <p:spPr>
          <a:xfrm>
            <a:off x="830460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L’integrazione è una dipendenza e una regola…</a:t>
            </a:r>
            <a:endParaRPr lang="it-IT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1 · </a:t>
            </a: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GEMINI</a:t>
            </a:r>
            <a:r>
              <a:rPr lang="it-IT" sz="18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NANO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569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Una dipendenza, una regola: verifica, poi chiama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703832"/>
            <a:ext cx="10868745" cy="4297680"/>
          </a:xfrm>
          <a:prstGeom prst="roundRect">
            <a:avLst>
              <a:gd name="adj" fmla="val 1794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52645" y="1630680"/>
            <a:ext cx="10886406" cy="4370832"/>
          </a:xfrm>
          <a:prstGeom prst="roundRect">
            <a:avLst>
              <a:gd name="adj" fmla="val 64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6" name="TextBox 5"/>
          <p:cNvSpPr txBox="1"/>
          <p:nvPr/>
        </p:nvSpPr>
        <p:spPr>
          <a:xfrm>
            <a:off x="666835" y="6236208"/>
            <a:ext cx="1087221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20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Si controlla a ogni chiamata: la disponibilità cambia a runtime.</a:t>
            </a:r>
            <a:endParaRPr lang="it-IT" sz="2000" dirty="0"/>
          </a:p>
        </p:txBody>
      </p:sp>
      <p:sp>
        <p:nvSpPr>
          <p:cNvPr id="8" name="TextBox 7"/>
          <p:cNvSpPr txBox="1"/>
          <p:nvPr/>
        </p:nvSpPr>
        <p:spPr>
          <a:xfrm>
            <a:off x="877824" y="1844040"/>
            <a:ext cx="10424160" cy="393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lang="it-IT" sz="1600" dirty="0" err="1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implementation</a:t>
            </a:r>
            <a:r>
              <a:rPr lang="it-IT" sz="1600" dirty="0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("com.google.mlkit:genai-prompt:1.0.0-beta2")</a:t>
            </a:r>
            <a:endParaRPr lang="it-IT" sz="16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 = Generation.getClient()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dirty="0"/>
          </a:p>
          <a:p>
            <a:r>
              <a:rPr lang="it-IT" sz="160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 fun 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detect(bitmap: Bitmap) =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when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(model.</a:t>
            </a:r>
            <a:r>
              <a:rPr lang="it-IT" sz="160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checkStatus()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) {</a:t>
            </a: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runtime, non compile time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FeatureStatus.</a:t>
            </a:r>
            <a:r>
              <a:rPr lang="it-IT" sz="160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AVAILABLE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detectWithNano(bitmap)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FeatureStatus.</a:t>
            </a:r>
            <a:r>
              <a:rPr lang="it-IT" sz="160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DOWNLOADABLE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{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scope.launch { model.download().collect() }</a:t>
            </a: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download in background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clip.detect(bitmap)</a:t>
            </a: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                     // </a:t>
            </a:r>
            <a:r>
              <a:rPr lang="it-IT" sz="160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endParaRPr lang="it-IT" sz="1600" dirty="0">
              <a:solidFill>
                <a:srgbClr val="94A3B8"/>
              </a:solidFill>
              <a:latin typeface="Consolas"/>
              <a:ea typeface="Consolas"/>
              <a:cs typeface="Consolas"/>
            </a:endParaRP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}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else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clip.detect(bitmap)</a:t>
            </a: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fallback: MobileCLIP, non un errore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it-IT" sz="160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 fun 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detectWithNano(bitmap: Bitmap) = model.generateContent(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generateContentRequest(ImagePart(bitmap), TextPart(prompt)) { temperature = </a:t>
            </a:r>
            <a:r>
              <a:rPr lang="it-IT" sz="160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0.2f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})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587831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2 · UN MODELLO PER DOMARLI TUTTI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00668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Gemma 4 E2B</a:t>
            </a:r>
            <a:endParaRPr lang="it-IT" sz="3450" dirty="0"/>
          </a:p>
        </p:txBody>
      </p:sp>
      <p:sp>
        <p:nvSpPr>
          <p:cNvPr id="5" name="Shape 2"/>
          <p:cNvSpPr/>
          <p:nvPr/>
        </p:nvSpPr>
        <p:spPr>
          <a:xfrm>
            <a:off x="5233360" y="1730526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5411851" y="1909020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famiglia open-weights di Google</a:t>
            </a:r>
            <a:endParaRPr lang="it-IT" sz="1600" dirty="0"/>
          </a:p>
        </p:txBody>
      </p:sp>
      <p:sp>
        <p:nvSpPr>
          <p:cNvPr id="7" name="Text 4"/>
          <p:cNvSpPr/>
          <p:nvPr/>
        </p:nvSpPr>
        <p:spPr>
          <a:xfrm>
            <a:off x="5411851" y="2248745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fratello scaricabile di Gemini. I pesi sono tuoi da includere e distribuire nella tua app; nessuna fatturazione per chiamata, nessun server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2943773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9" name="Text 6"/>
          <p:cNvSpPr/>
          <p:nvPr/>
        </p:nvSpPr>
        <p:spPr>
          <a:xfrm>
            <a:off x="5411851" y="3122267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'4 E2B' = 4ª generazione, 2 miliardi di parametri effettivi</a:t>
            </a:r>
            <a:endParaRPr lang="it-IT" sz="1600" dirty="0"/>
          </a:p>
        </p:txBody>
      </p:sp>
      <p:sp>
        <p:nvSpPr>
          <p:cNvPr id="10" name="Text 7"/>
          <p:cNvSpPr/>
          <p:nvPr/>
        </p:nvSpPr>
        <p:spPr>
          <a:xfrm>
            <a:off x="5411851" y="3461992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Progettato per i telefoni. Trucchi di memoria danno qualità da grande modello con un’impronta RAM da telefono; instruction-tuned</a:t>
            </a:r>
          </a:p>
        </p:txBody>
      </p:sp>
      <p:sp>
        <p:nvSpPr>
          <p:cNvPr id="11" name="Shape 8"/>
          <p:cNvSpPr/>
          <p:nvPr/>
        </p:nvSpPr>
        <p:spPr>
          <a:xfrm>
            <a:off x="5233360" y="4157020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5411851" y="4335514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un vision encoder alimenta il language model</a:t>
            </a:r>
            <a:endParaRPr lang="it-IT" sz="1600" dirty="0"/>
          </a:p>
        </p:txBody>
      </p:sp>
      <p:sp>
        <p:nvSpPr>
          <p:cNvPr id="13" name="Text 10"/>
          <p:cNvSpPr/>
          <p:nvPr/>
        </p:nvSpPr>
        <p:spPr>
          <a:xfrm>
            <a:off x="5411851" y="4675239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25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 guardare E scrivere. Esattamente ciò che serve a uno scanner per il frigo, e può generare anche le </a:t>
            </a:r>
            <a:r>
              <a:rPr lang="it-IT" sz="14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370266"/>
            <a:ext cx="6296860" cy="887710"/>
          </a:xfrm>
          <a:prstGeom prst="roundRect">
            <a:avLst>
              <a:gd name="adj" fmla="val 754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5411851" y="5548761"/>
            <a:ext cx="5939880" cy="161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Via LiteRT-LM su ogni Android</a:t>
            </a:r>
            <a:endParaRPr lang="it-IT" sz="1600" dirty="0"/>
          </a:p>
        </p:txBody>
      </p:sp>
      <p:sp>
        <p:nvSpPr>
          <p:cNvPr id="16" name="Text 13"/>
          <p:cNvSpPr/>
          <p:nvPr/>
        </p:nvSpPr>
        <p:spPr>
          <a:xfrm>
            <a:off x="5411851" y="5888486"/>
            <a:ext cx="5939880" cy="190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modello, un’integrazione, entrambi i compiti: rilevamento E ricette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03504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UN MODELLO PER DOMARLI TUTTI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44880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Chiedi all’LLM di guardare, e di scrivere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859280"/>
            <a:ext cx="10868745" cy="2971800"/>
          </a:xfrm>
          <a:prstGeom prst="roundRect">
            <a:avLst>
              <a:gd name="adj" fmla="val 280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52049" y="1859280"/>
            <a:ext cx="10887596" cy="2971800"/>
          </a:xfrm>
          <a:prstGeom prst="roundRect">
            <a:avLst>
              <a:gd name="adj" fmla="val 1000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Box 6"/>
          <p:cNvSpPr txBox="1"/>
          <p:nvPr/>
        </p:nvSpPr>
        <p:spPr>
          <a:xfrm>
            <a:off x="886968" y="2060448"/>
            <a:ext cx="10424160" cy="274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prompt = </a:t>
            </a: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This is a photo of the inside of a $place.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Identify the food ingredients you can see, </a:t>
            </a:r>
            <a:r>
              <a:rPr lang="it-IT" sz="160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at most 15</a:t>
            </a: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Respond with </a:t>
            </a:r>
            <a:r>
              <a:rPr lang="it-IT" sz="160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JSON array (no markdown, no extra text):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[{"name": "...", "quantity": "..."}]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Only include items you actually see. Use common English ingredient names.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.trimIndent()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conversation.sendMessage(Contents.of(Content.Text(prompt), Content.ImageBytes(jpeg)))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→ parsing del JSON, </a:t>
            </a:r>
            <a:r>
              <a:rPr lang="it-IT" sz="160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retry</a:t>
            </a: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silenziosi se malformato</a:t>
            </a:r>
            <a:endParaRPr lang="it-IT" sz="1600" dirty="0"/>
          </a:p>
        </p:txBody>
      </p:sp>
      <p:sp>
        <p:nvSpPr>
          <p:cNvPr id="8" name="TextBox 7"/>
          <p:cNvSpPr txBox="1"/>
          <p:nvPr/>
        </p:nvSpPr>
        <p:spPr>
          <a:xfrm>
            <a:off x="658368" y="4968240"/>
            <a:ext cx="1087221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80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rilevamento come problema di prompting: nessun dataset, nessun training. Basta chiedere.</a:t>
            </a:r>
            <a:endParaRPr lang="it-IT" sz="1800"/>
          </a:p>
        </p:txBody>
      </p:sp>
      <p:sp>
        <p:nvSpPr>
          <p:cNvPr id="9" name="TextBox 8"/>
          <p:cNvSpPr txBox="1"/>
          <p:nvPr/>
        </p:nvSpPr>
        <p:spPr>
          <a:xfrm>
            <a:off x="658368" y="5654040"/>
            <a:ext cx="10872216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40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Cosa potrebbe andare storto?</a:t>
            </a:r>
            <a:endParaRPr lang="it-IT" sz="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5181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PERCHÉ ANDAVA A RILENTO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33450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a due fasi degli LLM multimodali</a:t>
            </a:r>
            <a:endParaRPr lang="it-IT" sz="3700" dirty="0"/>
          </a:p>
        </p:txBody>
      </p:sp>
      <p:sp>
        <p:nvSpPr>
          <p:cNvPr id="4" name="Shape 2"/>
          <p:cNvSpPr/>
          <p:nvPr/>
        </p:nvSpPr>
        <p:spPr>
          <a:xfrm>
            <a:off x="661475" y="2646758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869531" y="2891397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1: </a:t>
            </a:r>
            <a:r>
              <a:rPr lang="it-IT" sz="190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prefill</a:t>
            </a:r>
            <a:endParaRPr lang="it-IT" sz="1900" dirty="0"/>
          </a:p>
        </p:txBody>
      </p:sp>
      <p:sp>
        <p:nvSpPr>
          <p:cNvPr id="6" name="Text 4"/>
          <p:cNvSpPr/>
          <p:nvPr/>
        </p:nvSpPr>
        <p:spPr>
          <a:xfrm>
            <a:off x="869531" y="3348462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 foto diventa centinaia di token immagine, tutti elaborati prima che compaia qualsiasi output.</a:t>
            </a:r>
            <a:endParaRPr lang="it-IT" sz="1700" dirty="0">
              <a:solidFill>
                <a:srgbClr val="94A3B8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301" y="2646759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398358" y="2891397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2: decode</a:t>
            </a:r>
            <a:endParaRPr lang="it-IT" sz="1900" dirty="0"/>
          </a:p>
        </p:txBody>
      </p:sp>
      <p:sp>
        <p:nvSpPr>
          <p:cNvPr id="9" name="Text 7"/>
          <p:cNvSpPr/>
          <p:nvPr/>
        </p:nvSpPr>
        <p:spPr>
          <a:xfrm>
            <a:off x="6398358" y="334846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risposta è generata un token alla volta attraverso un modello da 2 miliardi di parametri.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383170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869531" y="4627809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Scansione di 5-10 minuti su fascia media</a:t>
            </a:r>
            <a:endParaRPr lang="it-IT" sz="1900" dirty="0"/>
          </a:p>
        </p:txBody>
      </p:sp>
      <p:sp>
        <p:nvSpPr>
          <p:cNvPr id="12" name="Text 10"/>
          <p:cNvSpPr/>
          <p:nvPr/>
        </p:nvSpPr>
        <p:spPr>
          <a:xfrm>
            <a:off x="869531" y="5084874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L’aritmetica, non la qualità del modello, decide tra secondi e minuti.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383171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6398358" y="4627809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Conosci questo modello di costo</a:t>
            </a:r>
            <a:endParaRPr lang="it-IT" sz="1900" dirty="0"/>
          </a:p>
        </p:txBody>
      </p:sp>
      <p:sp>
        <p:nvSpPr>
          <p:cNvPr id="15" name="Text 13"/>
          <p:cNvSpPr/>
          <p:nvPr/>
        </p:nvSpPr>
        <p:spPr>
          <a:xfrm>
            <a:off x="6398358" y="5084874"/>
            <a:ext cx="492380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di promettere qualsiasi UX multimodale.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12707" y="553244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12707" y="866080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MobileCLIP-S2</a:t>
            </a:r>
            <a:endParaRPr lang="it-IT" sz="345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A308AD7-DF4F-958C-6DD7-9D45450F6537}"/>
              </a:ext>
            </a:extLst>
          </p:cNvPr>
          <p:cNvSpPr/>
          <p:nvPr/>
        </p:nvSpPr>
        <p:spPr>
          <a:xfrm>
            <a:off x="612706" y="1647170"/>
            <a:ext cx="6422075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FAF86CB-4DC8-B1A0-E3F6-182B78A29C5E}"/>
              </a:ext>
            </a:extLst>
          </p:cNvPr>
          <p:cNvSpPr/>
          <p:nvPr/>
        </p:nvSpPr>
        <p:spPr>
          <a:xfrm>
            <a:off x="612707" y="1647170"/>
            <a:ext cx="6422076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2418F62-69CD-B333-328E-8DD247A7AB75}"/>
              </a:ext>
            </a:extLst>
          </p:cNvPr>
          <p:cNvSpPr/>
          <p:nvPr/>
        </p:nvSpPr>
        <p:spPr>
          <a:xfrm>
            <a:off x="612706" y="1647169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2"/>
          <p:cNvSpPr/>
          <p:nvPr/>
        </p:nvSpPr>
        <p:spPr>
          <a:xfrm>
            <a:off x="867395" y="182566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7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Non </a:t>
            </a:r>
            <a:r>
              <a:rPr lang="it-IT" sz="175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è</a:t>
            </a:r>
            <a:r>
              <a:rPr lang="it-IT" sz="17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un LLM: non genera nulla, misura</a:t>
            </a:r>
            <a:endParaRPr lang="it-IT" sz="1750" dirty="0"/>
          </a:p>
        </p:txBody>
      </p:sp>
      <p:sp>
        <p:nvSpPr>
          <p:cNvPr id="7" name="Text 3"/>
          <p:cNvSpPr/>
          <p:nvPr/>
        </p:nvSpPr>
        <p:spPr>
          <a:xfrm>
            <a:off x="867395" y="216539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Quanto un’immagine corrisponde a una frase. Un modello della famiglia CLIP: Contrastive Language–Image Pre-training</a:t>
            </a:r>
            <a:endParaRPr lang="it-IT" sz="1500" dirty="0">
              <a:solidFill>
                <a:srgbClr val="94A3B8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1BB537FF-2E15-7E0A-63CC-43AF98C52326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7C96B67-D110-0B96-A35B-DA35C702EDC7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1FF906B-C75A-43B0-E98E-D904F33B90F3}"/>
              </a:ext>
            </a:extLst>
          </p:cNvPr>
          <p:cNvSpPr/>
          <p:nvPr/>
        </p:nvSpPr>
        <p:spPr>
          <a:xfrm>
            <a:off x="612706" y="2860416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4"/>
          <p:cNvSpPr/>
          <p:nvPr/>
        </p:nvSpPr>
        <p:spPr>
          <a:xfrm>
            <a:off x="867395" y="3038912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versione mobile di CLIP di Apple</a:t>
            </a:r>
            <a:endParaRPr lang="it-IT" sz="1700" dirty="0"/>
          </a:p>
        </p:txBody>
      </p:sp>
      <p:sp>
        <p:nvSpPr>
          <p:cNvPr id="10" name="Text 5"/>
          <p:cNvSpPr/>
          <p:nvPr/>
        </p:nvSpPr>
        <p:spPr>
          <a:xfrm>
            <a:off x="867394" y="3378637"/>
            <a:ext cx="6167389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Distillato da modelli più grandi. S2 è il giusto mix accuratezza/velocità: zero-shot accurato come modelli più grandi, a latenza da telefono</a:t>
            </a:r>
            <a:endParaRPr lang="it-IT" sz="1450" dirty="0">
              <a:solidFill>
                <a:srgbClr val="94A3B8"/>
              </a:solidFill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2A2ACE08-D46B-DD8E-64BA-88D74DD7DD1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dirty="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E23A065A-A4EC-AD1E-902F-A464AEEEC8A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28644500-05F3-4E3D-C1FF-F86FCBE810FF}"/>
              </a:ext>
            </a:extLst>
          </p:cNvPr>
          <p:cNvSpPr/>
          <p:nvPr/>
        </p:nvSpPr>
        <p:spPr>
          <a:xfrm>
            <a:off x="612706" y="4073663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6"/>
          <p:cNvSpPr/>
          <p:nvPr/>
        </p:nvSpPr>
        <p:spPr>
          <a:xfrm>
            <a:off x="867395" y="425215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~140 MB, input 256×256, embedding a 512 dimensioni</a:t>
            </a:r>
            <a:endParaRPr lang="it-IT" sz="1700" dirty="0"/>
          </a:p>
        </p:txBody>
      </p:sp>
      <p:sp>
        <p:nvSpPr>
          <p:cNvPr id="13" name="Text 7"/>
          <p:cNvSpPr/>
          <p:nvPr/>
        </p:nvSpPr>
        <p:spPr>
          <a:xfrm>
            <a:off x="867395" y="4591883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Minuscolo accanto a un LLM da 2 miliardi di parametri, e con un profilo di costo completamente diverso</a:t>
            </a:r>
            <a:endParaRPr lang="it-IT" sz="1400" dirty="0">
              <a:solidFill>
                <a:srgbClr val="94A3B8"/>
              </a:solidFill>
            </a:endParaRP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E92B8EA7-1589-122E-2826-DF120881C004}"/>
              </a:ext>
            </a:extLst>
          </p:cNvPr>
          <p:cNvSpPr/>
          <p:nvPr/>
        </p:nvSpPr>
        <p:spPr>
          <a:xfrm>
            <a:off x="612707" y="5286911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dirty="0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93395D28-DB23-18BF-81E9-91A60F5D63AA}"/>
              </a:ext>
            </a:extLst>
          </p:cNvPr>
          <p:cNvSpPr/>
          <p:nvPr/>
        </p:nvSpPr>
        <p:spPr>
          <a:xfrm>
            <a:off x="612706" y="5286911"/>
            <a:ext cx="6422073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4E8A60-A9EF-C8A1-A1EC-5338B642ACCA}"/>
              </a:ext>
            </a:extLst>
          </p:cNvPr>
          <p:cNvSpPr/>
          <p:nvPr/>
        </p:nvSpPr>
        <p:spPr>
          <a:xfrm>
            <a:off x="612706" y="5286910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8"/>
          <p:cNvSpPr/>
          <p:nvPr/>
        </p:nvSpPr>
        <p:spPr>
          <a:xfrm>
            <a:off x="867395" y="546540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Pesi aperti, si esporta senza problemi in LiteRT</a:t>
            </a:r>
            <a:endParaRPr lang="it-IT" sz="1700" dirty="0"/>
          </a:p>
        </p:txBody>
      </p:sp>
      <p:sp>
        <p:nvSpPr>
          <p:cNvPr id="16" name="Text 9"/>
          <p:cNvSpPr/>
          <p:nvPr/>
        </p:nvSpPr>
        <p:spPr>
          <a:xfrm>
            <a:off x="867395" y="580513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Gira su qualsiasi telefono Android. Nessun AICore richiesto, nessuna lotteria del silicio: questa può essere la base</a:t>
            </a:r>
            <a:endParaRPr lang="it-IT" sz="140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00686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583373"/>
            <a:ext cx="10868745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riconoscimento non richiede un modello che scrive, ma uno che confronta</a:t>
            </a:r>
            <a:endParaRPr lang="it-IT" sz="3700" dirty="0"/>
          </a:p>
        </p:txBody>
      </p:sp>
      <p:sp>
        <p:nvSpPr>
          <p:cNvPr id="14" name="Image 0" descr="preencoded.png"/>
          <p:cNvSpPr/>
          <p:nvPr/>
        </p:nvSpPr>
        <p:spPr>
          <a:xfrm>
            <a:off x="636075" y="3374766"/>
            <a:ext cx="45719" cy="2123825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2"/>
          <p:cNvSpPr/>
          <p:nvPr/>
        </p:nvSpPr>
        <p:spPr>
          <a:xfrm>
            <a:off x="901281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Modelli della famiglia CLIP: due piccoli encoder</a:t>
            </a:r>
            <a:endParaRPr lang="it-IT" sz="2000" dirty="0"/>
          </a:p>
        </p:txBody>
      </p:sp>
      <p:sp>
        <p:nvSpPr>
          <p:cNvPr id="6" name="Text 3"/>
          <p:cNvSpPr/>
          <p:nvPr/>
        </p:nvSpPr>
        <p:spPr>
          <a:xfrm>
            <a:off x="901281" y="4237466"/>
            <a:ext cx="3225620" cy="13708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Addestrati su milioni di coppie immagine–didascalia, così le coppie corrispondenti finiscono vicine nello spazio vettoriale.</a:t>
            </a:r>
          </a:p>
        </p:txBody>
      </p:sp>
      <p:sp>
        <p:nvSpPr>
          <p:cNvPr id="15" name="Image 1" descr="preencoded.png"/>
          <p:cNvSpPr/>
          <p:nvPr/>
        </p:nvSpPr>
        <p:spPr>
          <a:xfrm>
            <a:off x="433773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4"/>
          <p:cNvSpPr/>
          <p:nvPr/>
        </p:nvSpPr>
        <p:spPr>
          <a:xfrm>
            <a:off x="460294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"È un’arancia?" diventa una similarità del coseno</a:t>
            </a:r>
            <a:endParaRPr lang="it-IT" sz="2000" dirty="0"/>
          </a:p>
        </p:txBody>
      </p:sp>
      <p:sp>
        <p:nvSpPr>
          <p:cNvPr id="9" name="Text 5"/>
          <p:cNvSpPr/>
          <p:nvPr/>
        </p:nvSpPr>
        <p:spPr>
          <a:xfrm>
            <a:off x="4602940" y="4237466"/>
            <a:ext cx="3225620" cy="114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riconoscimento diventa geometria: un prodotto scalare, non un paragrafo generato.</a:t>
            </a:r>
          </a:p>
        </p:txBody>
      </p:sp>
      <p:sp>
        <p:nvSpPr>
          <p:cNvPr id="16" name="Image 2" descr="preencoded.png"/>
          <p:cNvSpPr/>
          <p:nvPr/>
        </p:nvSpPr>
        <p:spPr>
          <a:xfrm>
            <a:off x="803939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6"/>
          <p:cNvSpPr/>
          <p:nvPr/>
        </p:nvSpPr>
        <p:spPr>
          <a:xfrm>
            <a:off x="830460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Basta un encoder da ~140 MB</a:t>
            </a:r>
            <a:endParaRPr lang="it-IT" sz="2000" dirty="0"/>
          </a:p>
        </p:txBody>
      </p:sp>
      <p:sp>
        <p:nvSpPr>
          <p:cNvPr id="12" name="Text 7"/>
          <p:cNvSpPr/>
          <p:nvPr/>
        </p:nvSpPr>
        <p:spPr>
          <a:xfrm>
            <a:off x="8304600" y="4237466"/>
            <a:ext cx="3225620" cy="1256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MobileCLIP-S2 gira su LiteRT su qualsiasi telefono Android, nessun ciclo di decode richiesto.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3 · IL TRUCCO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vocabolario l’abbiamo costruito noi, ed è un file di testo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307336"/>
            <a:ext cx="10868745" cy="3291840"/>
          </a:xfrm>
          <a:prstGeom prst="roundRect">
            <a:avLst>
              <a:gd name="adj" fmla="val 1925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52942" y="2307336"/>
            <a:ext cx="10885810" cy="3544824"/>
          </a:xfrm>
          <a:prstGeom prst="roundRect">
            <a:avLst>
              <a:gd name="adj" fmla="val 687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Box 5"/>
          <p:cNvSpPr txBox="1"/>
          <p:nvPr/>
        </p:nvSpPr>
        <p:spPr>
          <a:xfrm>
            <a:off x="666536" y="6129528"/>
            <a:ext cx="10872216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“classificatore” è un file di testo: vuoi un ingrediente in più? Aggiungi una riga.</a:t>
            </a:r>
            <a:endParaRPr lang="it-IT" sz="170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444496"/>
            <a:ext cx="8595360" cy="32918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scripts/ingredient_labels.txt · 870 etichette di ingredienti curate a mano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oranges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strawberries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bananas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lactose-free </a:t>
            </a:r>
            <a:r>
              <a:rPr lang="it-IT" sz="160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milk|milk</a:t>
            </a:r>
            <a:endParaRPr lang="it-IT" sz="1600" dirty="0">
              <a:solidFill>
                <a:srgbClr val="F59E0B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 err="1">
                <a:solidFill>
                  <a:srgbClr val="F59E0B"/>
                </a:solidFill>
                <a:latin typeface="Consolas"/>
                <a:cs typeface="Consolas"/>
              </a:rPr>
              <a:t>bottle</a:t>
            </a:r>
            <a:r>
              <a:rPr lang="it-IT" sz="1600" dirty="0">
                <a:solidFill>
                  <a:srgbClr val="F59E0B"/>
                </a:solidFill>
                <a:latin typeface="Consolas"/>
                <a:cs typeface="Consolas"/>
              </a:rPr>
              <a:t> of </a:t>
            </a:r>
            <a:r>
              <a:rPr lang="it-IT" sz="1600" dirty="0" err="1">
                <a:solidFill>
                  <a:srgbClr val="F59E0B"/>
                </a:solidFill>
                <a:latin typeface="Consolas"/>
                <a:cs typeface="Consolas"/>
              </a:rPr>
              <a:t>whole</a:t>
            </a:r>
            <a:r>
              <a:rPr lang="it-IT" sz="1600" dirty="0">
                <a:solidFill>
                  <a:srgbClr val="F59E0B"/>
                </a:solidFill>
                <a:latin typeface="Consolas"/>
                <a:cs typeface="Consolas"/>
              </a:rPr>
              <a:t> </a:t>
            </a:r>
            <a:r>
              <a:rPr lang="it-IT" sz="1600" dirty="0" err="1">
                <a:solidFill>
                  <a:srgbClr val="F59E0B"/>
                </a:solidFill>
                <a:latin typeface="Consolas"/>
                <a:cs typeface="Consolas"/>
              </a:rPr>
              <a:t>milk|milk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~an empty shelf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prepare_clip_assets.py · offline, sul laptop, una volta sola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TEMPLATES = [</a:t>
            </a: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{}"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in a refrigerator"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 </a:t>
            </a: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on a pantry shelf"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close-up photo of {}"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]</a:t>
            </a:r>
            <a:endParaRPr lang="it-IT" sz="1600" dirty="0"/>
          </a:p>
        </p:txBody>
      </p:sp>
      <p:sp>
        <p:nvSpPr>
          <p:cNvPr id="8" name="TextBox 7"/>
          <p:cNvSpPr txBox="1"/>
          <p:nvPr/>
        </p:nvSpPr>
        <p:spPr>
          <a:xfrm>
            <a:off x="4011168" y="3672840"/>
            <a:ext cx="5315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dirty="0">
                <a:solidFill>
                  <a:srgbClr val="F59E0B"/>
                </a:solidFill>
                <a:latin typeface="Geist Bold"/>
                <a:ea typeface="Geist Bold"/>
                <a:cs typeface="Geist Bold"/>
              </a:rPr>
              <a:t>← match specifico | nome mostrato all’utente</a:t>
            </a:r>
            <a:endParaRPr lang="it-IT" sz="1500" dirty="0"/>
          </a:p>
        </p:txBody>
      </p:sp>
      <p:sp>
        <p:nvSpPr>
          <p:cNvPr id="9" name="TextBox 8"/>
          <p:cNvSpPr txBox="1"/>
          <p:nvPr/>
        </p:nvSpPr>
        <p:spPr>
          <a:xfrm>
            <a:off x="2926080" y="4410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← distrattore: assorbe i ritagli vuoti</a:t>
            </a:r>
            <a:endParaRPr lang="it-IT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007170"/>
            <a:ext cx="6296860" cy="2687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IL RISULTATO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1333798"/>
            <a:ext cx="6296860" cy="1074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Stesso telefono. Stessa foto del frigo.</a:t>
            </a:r>
            <a:endParaRPr lang="it-IT" sz="3400" dirty="0"/>
          </a:p>
        </p:txBody>
      </p:sp>
      <p:sp>
        <p:nvSpPr>
          <p:cNvPr id="5" name="Text 2"/>
          <p:cNvSpPr/>
          <p:nvPr/>
        </p:nvSpPr>
        <p:spPr>
          <a:xfrm>
            <a:off x="661475" y="2676525"/>
            <a:ext cx="6296860" cy="3225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91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Minuti → secondi.</a:t>
            </a:r>
            <a:endParaRPr lang="it-IT" sz="91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C3D155-B453-1C44-9484-9696E58C47DF}"/>
              </a:ext>
            </a:extLst>
          </p:cNvPr>
          <p:cNvSpPr/>
          <p:nvPr/>
        </p:nvSpPr>
        <p:spPr>
          <a:xfrm>
            <a:off x="661475" y="611852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24899" y="525463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4 · DOVE L’LLM SI GUADAGNA IL POSTO</a:t>
            </a:r>
          </a:p>
        </p:txBody>
      </p:sp>
      <p:sp>
        <p:nvSpPr>
          <p:cNvPr id="4" name="Text 1"/>
          <p:cNvSpPr/>
          <p:nvPr/>
        </p:nvSpPr>
        <p:spPr>
          <a:xfrm>
            <a:off x="624899" y="838299"/>
            <a:ext cx="6296860" cy="1036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6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Gemma, il ritorno</a:t>
            </a:r>
            <a:endParaRPr lang="it-IT" sz="3600" dirty="0"/>
          </a:p>
        </p:txBody>
      </p:sp>
      <p:sp>
        <p:nvSpPr>
          <p:cNvPr id="5" name="Shape 2"/>
          <p:cNvSpPr/>
          <p:nvPr/>
        </p:nvSpPr>
        <p:spPr>
          <a:xfrm>
            <a:off x="624899" y="2137708"/>
            <a:ext cx="6434268" cy="11422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03389" y="2316202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it-IT" sz="16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Gli stessi 2,6 GB, già sul telefono</a:t>
            </a:r>
            <a:endParaRPr lang="it-IT" sz="1600" dirty="0"/>
          </a:p>
        </p:txBody>
      </p:sp>
      <p:sp>
        <p:nvSpPr>
          <p:cNvPr id="7" name="Text 4"/>
          <p:cNvSpPr/>
          <p:nvPr/>
        </p:nvSpPr>
        <p:spPr>
          <a:xfrm>
            <a:off x="803389" y="2655927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Ora fa il lavoro per cui è stato costruito. L’abbiamo messo in panchina per la percezione; non l’abbiamo mai disinstallato</a:t>
            </a:r>
          </a:p>
        </p:txBody>
      </p:sp>
      <p:sp>
        <p:nvSpPr>
          <p:cNvPr id="8" name="Shape 5"/>
          <p:cNvSpPr/>
          <p:nvPr/>
        </p:nvSpPr>
        <p:spPr>
          <a:xfrm>
            <a:off x="624898" y="3414454"/>
            <a:ext cx="6434269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803389" y="3592949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Stavolta solo testo</a:t>
            </a:r>
            <a:endParaRPr lang="it-IT" sz="1650" dirty="0"/>
          </a:p>
        </p:txBody>
      </p:sp>
      <p:sp>
        <p:nvSpPr>
          <p:cNvPr id="10" name="Text 7"/>
          <p:cNvSpPr/>
          <p:nvPr/>
        </p:nvSpPr>
        <p:spPr>
          <a:xfrm>
            <a:off x="803389" y="3932674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Niente foto, niente token immagine, niente prefill enorme.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5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Input: una breve lista di ingredienti</a:t>
            </a:r>
          </a:p>
        </p:txBody>
      </p:sp>
      <p:sp>
        <p:nvSpPr>
          <p:cNvPr id="11" name="Shape 8"/>
          <p:cNvSpPr/>
          <p:nvPr/>
        </p:nvSpPr>
        <p:spPr>
          <a:xfrm>
            <a:off x="624899" y="4691200"/>
            <a:ext cx="6434268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803389" y="4869696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Generazione instruction-tuned: le ricette sono testo nuovo</a:t>
            </a:r>
            <a:endParaRPr lang="it-IT" sz="1600" dirty="0"/>
          </a:p>
        </p:txBody>
      </p:sp>
      <p:sp>
        <p:nvSpPr>
          <p:cNvPr id="13" name="Text 10"/>
          <p:cNvSpPr/>
          <p:nvPr/>
        </p:nvSpPr>
        <p:spPr>
          <a:xfrm>
            <a:off x="803389" y="5209421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Inventate sul momento. L’unico compito nell’app che nessun confronto, nessun vocabolario, nessun lookup potrebbe mai svolgere</a:t>
            </a:r>
          </a:p>
        </p:txBody>
      </p:sp>
      <p:sp>
        <p:nvSpPr>
          <p:cNvPr id="14" name="Shape 11"/>
          <p:cNvSpPr/>
          <p:nvPr/>
        </p:nvSpPr>
        <p:spPr>
          <a:xfrm>
            <a:off x="624899" y="5967948"/>
            <a:ext cx="6434268" cy="616049"/>
          </a:xfrm>
          <a:prstGeom prst="roundRect">
            <a:avLst>
              <a:gd name="adj" fmla="val 1087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803389" y="6146443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tramite LiteRT-LM sulla GPU</a:t>
            </a:r>
            <a:endParaRPr lang="it-IT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83314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4 · DOVE L’LLM SI GUADAGNA IL POSTO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66001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Le ricette sono creazione, non riconoscimento</a:t>
            </a:r>
            <a:endParaRPr lang="it-IT" sz="3700" dirty="0"/>
          </a:p>
        </p:txBody>
      </p:sp>
      <p:sp>
        <p:nvSpPr>
          <p:cNvPr id="17" name="Image 0" descr="preencoded.png"/>
          <p:cNvSpPr/>
          <p:nvPr/>
        </p:nvSpPr>
        <p:spPr>
          <a:xfrm>
            <a:off x="63607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2"/>
          <p:cNvSpPr/>
          <p:nvPr/>
        </p:nvSpPr>
        <p:spPr>
          <a:xfrm>
            <a:off x="901281" y="2644148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 un inventario a idee per la cena</a:t>
            </a:r>
            <a:endParaRPr lang="it-IT" sz="2000" dirty="0"/>
          </a:p>
        </p:txBody>
      </p:sp>
      <p:sp>
        <p:nvSpPr>
          <p:cNvPr id="6" name="Text 3"/>
          <p:cNvSpPr/>
          <p:nvPr/>
        </p:nvSpPr>
        <p:spPr>
          <a:xfrm>
            <a:off x="901281" y="3125597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È per questo che esistono i modelli generativi, nessun vocabolario chiuso può farlo.</a:t>
            </a:r>
          </a:p>
        </p:txBody>
      </p:sp>
      <p:sp>
        <p:nvSpPr>
          <p:cNvPr id="18" name="Image 1" descr="preencoded.png"/>
          <p:cNvSpPr/>
          <p:nvPr/>
        </p:nvSpPr>
        <p:spPr>
          <a:xfrm>
            <a:off x="618851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4"/>
          <p:cNvSpPr/>
          <p:nvPr/>
        </p:nvSpPr>
        <p:spPr>
          <a:xfrm>
            <a:off x="6453721" y="2644148"/>
            <a:ext cx="50765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Prompting a due stadi</a:t>
            </a:r>
            <a:endParaRPr lang="it-IT" sz="2000" dirty="0"/>
          </a:p>
        </p:txBody>
      </p:sp>
      <p:sp>
        <p:nvSpPr>
          <p:cNvPr id="9" name="Text 5"/>
          <p:cNvSpPr/>
          <p:nvPr/>
        </p:nvSpPr>
        <p:spPr>
          <a:xfrm>
            <a:off x="6453721" y="306463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una lista economica, poi la ricetta completa su richiesta, prompt più corti, meno attesa.</a:t>
            </a:r>
          </a:p>
        </p:txBody>
      </p:sp>
      <p:sp>
        <p:nvSpPr>
          <p:cNvPr id="20" name="Image 2" descr="preencoded.png"/>
          <p:cNvSpPr/>
          <p:nvPr/>
        </p:nvSpPr>
        <p:spPr>
          <a:xfrm>
            <a:off x="636075" y="4542576"/>
            <a:ext cx="54372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6"/>
          <p:cNvSpPr/>
          <p:nvPr/>
        </p:nvSpPr>
        <p:spPr>
          <a:xfrm>
            <a:off x="901281" y="4567976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Parsing JSON difensivo con </a:t>
            </a:r>
            <a:r>
              <a:rPr lang="it-IT" sz="200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retry</a:t>
            </a:r>
            <a:endParaRPr lang="it-IT" sz="2000" dirty="0">
              <a:solidFill>
                <a:srgbClr val="EBEDF0"/>
              </a:solidFill>
              <a:latin typeface="Geist Bold" pitchFamily="34" charset="0"/>
              <a:ea typeface="Geist Bold" pitchFamily="34" charset="-122"/>
              <a:cs typeface="Geist Bold" pitchFamily="34" charset="-120"/>
            </a:endParaRP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silenziosi</a:t>
            </a:r>
            <a:endParaRPr lang="it-IT" sz="2000" dirty="0"/>
          </a:p>
        </p:txBody>
      </p:sp>
      <p:sp>
        <p:nvSpPr>
          <p:cNvPr id="12" name="Text 7"/>
          <p:cNvSpPr/>
          <p:nvPr/>
        </p:nvSpPr>
        <p:spPr>
          <a:xfrm>
            <a:off x="897661" y="5283355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 modelli piccoli rompono i contratti di formato, prevedilo, non scusarti.</a:t>
            </a:r>
          </a:p>
        </p:txBody>
      </p:sp>
      <p:sp>
        <p:nvSpPr>
          <p:cNvPr id="19" name="Image 3" descr="preencoded.png"/>
          <p:cNvSpPr/>
          <p:nvPr/>
        </p:nvSpPr>
        <p:spPr>
          <a:xfrm>
            <a:off x="6188515" y="4542576"/>
            <a:ext cx="50751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8"/>
          <p:cNvSpPr/>
          <p:nvPr/>
        </p:nvSpPr>
        <p:spPr>
          <a:xfrm>
            <a:off x="6453721" y="4567976"/>
            <a:ext cx="507650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generazione solo testo va a 15–25 tok/s</a:t>
            </a:r>
            <a:endParaRPr lang="it-IT" sz="2000" dirty="0"/>
          </a:p>
        </p:txBody>
      </p:sp>
      <p:sp>
        <p:nvSpPr>
          <p:cNvPr id="15" name="Text 9"/>
          <p:cNvSpPr/>
          <p:nvPr/>
        </p:nvSpPr>
        <p:spPr>
          <a:xfrm>
            <a:off x="6453721" y="529554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Senza foto, niente prefill dell’immagine: si aspetta solo il testo.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7373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5 · LA DISTRIBUZIONE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5642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Ogni modello viaggia in modo diverso</a:t>
            </a:r>
            <a:endParaRPr lang="it-IT" sz="3700" dirty="0"/>
          </a:p>
        </p:txBody>
      </p:sp>
      <p:sp>
        <p:nvSpPr>
          <p:cNvPr id="4" name="Shape 2"/>
          <p:cNvSpPr/>
          <p:nvPr/>
        </p:nvSpPr>
        <p:spPr>
          <a:xfrm>
            <a:off x="661475" y="2524839"/>
            <a:ext cx="5339820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869531" y="273290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zero megabyte</a:t>
            </a:r>
            <a:endParaRPr lang="it-IT" sz="2000" dirty="0"/>
          </a:p>
        </p:txBody>
      </p:sp>
      <p:sp>
        <p:nvSpPr>
          <p:cNvPr id="6" name="Text 4"/>
          <p:cNvSpPr/>
          <p:nvPr/>
        </p:nvSpPr>
        <p:spPr>
          <a:xfrm>
            <a:off x="869531" y="3177773"/>
            <a:ext cx="4923707" cy="699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 gestisce </a:t>
            </a:r>
            <a:r>
              <a:rPr lang="it-IT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AICore</a:t>
            </a: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l’APK contiene solo un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prompt.</a:t>
            </a:r>
          </a:p>
        </p:txBody>
      </p:sp>
      <p:sp>
        <p:nvSpPr>
          <p:cNvPr id="7" name="Shape 5"/>
          <p:cNvSpPr/>
          <p:nvPr/>
        </p:nvSpPr>
        <p:spPr>
          <a:xfrm>
            <a:off x="6190301" y="2524839"/>
            <a:ext cx="5339919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8" name="Text 6"/>
          <p:cNvSpPr/>
          <p:nvPr/>
        </p:nvSpPr>
        <p:spPr>
          <a:xfrm>
            <a:off x="6398358" y="273290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~140 MB</a:t>
            </a:r>
            <a:endParaRPr lang="it-IT" sz="2000" dirty="0"/>
          </a:p>
        </p:txBody>
      </p:sp>
      <p:sp>
        <p:nvSpPr>
          <p:cNvPr id="9" name="Text 7"/>
          <p:cNvSpPr/>
          <p:nvPr/>
        </p:nvSpPr>
        <p:spPr>
          <a:xfrm>
            <a:off x="6398358" y="3177774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Incluso nell’APK come qualsiasi asset, il rilevamento funziona subito dopo l’installazione.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188098"/>
            <a:ext cx="5339820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869531" y="439616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2,6 GB di pesi</a:t>
            </a:r>
            <a:endParaRPr lang="it-IT" sz="2000" dirty="0"/>
          </a:p>
        </p:txBody>
      </p:sp>
      <p:sp>
        <p:nvSpPr>
          <p:cNvPr id="12" name="Text 10"/>
          <p:cNvSpPr/>
          <p:nvPr/>
        </p:nvSpPr>
        <p:spPr>
          <a:xfrm>
            <a:off x="869531" y="4877610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Troppo grande per qualsiasi APK, e scrivere a mano un downloader riprendibile è un progetto a sé.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188098"/>
            <a:ext cx="5339919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6398358" y="439616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pack tramite Play for On-device AI</a:t>
            </a:r>
            <a:endParaRPr lang="it-IT" sz="2000" dirty="0"/>
          </a:p>
        </p:txBody>
      </p:sp>
      <p:sp>
        <p:nvSpPr>
          <p:cNvPr id="15" name="Text 13"/>
          <p:cNvSpPr/>
          <p:nvPr/>
        </p:nvSpPr>
        <p:spPr>
          <a:xfrm>
            <a:off x="6398358" y="488980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Google Play gestisce la consegna, la distribuzione smette di essere un tuo problema.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453029"/>
            <a:ext cx="6296860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QUADRO COMPLETO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736461"/>
            <a:ext cx="6296860" cy="422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34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Tre modelli, tre compiti, </a:t>
            </a:r>
            <a:r>
              <a:rPr lang="it-IT" sz="3400" dirty="0" err="1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un’app</a:t>
            </a:r>
            <a:endParaRPr lang="it-IT" sz="3400" dirty="0">
              <a:solidFill>
                <a:srgbClr val="F2F5FA"/>
              </a:solidFill>
              <a:latin typeface="Geist Bold"/>
              <a:ea typeface="Geist Bold"/>
              <a:cs typeface="Geist Bold"/>
            </a:endParaRPr>
          </a:p>
        </p:txBody>
      </p:sp>
      <p:sp>
        <p:nvSpPr>
          <p:cNvPr id="5" name="Shape 2"/>
          <p:cNvSpPr/>
          <p:nvPr/>
        </p:nvSpPr>
        <p:spPr>
          <a:xfrm>
            <a:off x="661475" y="1438984"/>
            <a:ext cx="6296860" cy="125879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Shape 3"/>
          <p:cNvSpPr/>
          <p:nvPr/>
        </p:nvSpPr>
        <p:spPr>
          <a:xfrm>
            <a:off x="804049" y="158156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202" y="1688719"/>
            <a:ext cx="175414" cy="17541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01023" y="164080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l’acceleratore</a:t>
            </a:r>
            <a:endParaRPr lang="it-IT" sz="2000" dirty="0"/>
          </a:p>
        </p:txBody>
      </p:sp>
      <p:sp>
        <p:nvSpPr>
          <p:cNvPr id="9" name="Text 5"/>
          <p:cNvSpPr/>
          <p:nvPr/>
        </p:nvSpPr>
        <p:spPr>
          <a:xfrm>
            <a:off x="804049" y="208478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multimodale gratuito sui flagship, protetto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 checkStatus().</a:t>
            </a:r>
          </a:p>
        </p:txBody>
      </p:sp>
      <p:sp>
        <p:nvSpPr>
          <p:cNvPr id="10" name="Shape 6"/>
          <p:cNvSpPr/>
          <p:nvPr/>
        </p:nvSpPr>
        <p:spPr>
          <a:xfrm>
            <a:off x="661475" y="2858254"/>
            <a:ext cx="6296860" cy="104844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Shape 7"/>
          <p:cNvSpPr/>
          <p:nvPr/>
        </p:nvSpPr>
        <p:spPr>
          <a:xfrm>
            <a:off x="804049" y="3000831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1202" y="3107988"/>
            <a:ext cx="175414" cy="17541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01023" y="303694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la base</a:t>
            </a:r>
            <a:endParaRPr lang="it-IT" sz="2000" dirty="0"/>
          </a:p>
        </p:txBody>
      </p:sp>
      <p:sp>
        <p:nvSpPr>
          <p:cNvPr id="14" name="Text 9"/>
          <p:cNvSpPr/>
          <p:nvPr/>
        </p:nvSpPr>
        <p:spPr>
          <a:xfrm>
            <a:off x="804049" y="3523119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zero-shot in secondi, su ogni telefono.</a:t>
            </a:r>
          </a:p>
        </p:txBody>
      </p:sp>
      <p:sp>
        <p:nvSpPr>
          <p:cNvPr id="15" name="Shape 10"/>
          <p:cNvSpPr/>
          <p:nvPr/>
        </p:nvSpPr>
        <p:spPr>
          <a:xfrm>
            <a:off x="661475" y="4070258"/>
            <a:ext cx="6296860" cy="124165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1"/>
          <p:cNvSpPr/>
          <p:nvPr/>
        </p:nvSpPr>
        <p:spPr>
          <a:xfrm>
            <a:off x="804049" y="4212836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1202" y="4319992"/>
            <a:ext cx="175414" cy="17541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72350" y="426621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il creatore</a:t>
            </a:r>
            <a:endParaRPr lang="it-IT" sz="2000" dirty="0"/>
          </a:p>
        </p:txBody>
      </p:sp>
      <p:sp>
        <p:nvSpPr>
          <p:cNvPr id="19" name="Text 13"/>
          <p:cNvSpPr/>
          <p:nvPr/>
        </p:nvSpPr>
        <p:spPr>
          <a:xfrm>
            <a:off x="804049" y="4672515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 generate on-device: il compito che solo un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LLM sa fare.</a:t>
            </a:r>
          </a:p>
        </p:txBody>
      </p:sp>
      <p:sp>
        <p:nvSpPr>
          <p:cNvPr id="20" name="Shape 14"/>
          <p:cNvSpPr/>
          <p:nvPr/>
        </p:nvSpPr>
        <p:spPr>
          <a:xfrm>
            <a:off x="661475" y="5477335"/>
            <a:ext cx="6296860" cy="111051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Shape 15"/>
          <p:cNvSpPr/>
          <p:nvPr/>
        </p:nvSpPr>
        <p:spPr>
          <a:xfrm>
            <a:off x="804049" y="561991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202" y="5727069"/>
            <a:ext cx="175414" cy="175419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72350" y="569055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Una sola interfaccia nel codice</a:t>
            </a:r>
            <a:endParaRPr lang="it-IT" sz="2000" dirty="0"/>
          </a:p>
        </p:txBody>
      </p:sp>
      <p:sp>
        <p:nvSpPr>
          <p:cNvPr id="24" name="Text 17"/>
          <p:cNvSpPr/>
          <p:nvPr/>
        </p:nvSpPr>
        <p:spPr>
          <a:xfrm>
            <a:off x="804049" y="611556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UI non sa mai quale motore ha risposto.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CONCLUSIONE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20496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Punti chiave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6968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1</a:t>
            </a:r>
            <a:endParaRPr lang="it-IT" sz="3000"/>
          </a:p>
        </p:txBody>
      </p:sp>
      <p:sp>
        <p:nvSpPr>
          <p:cNvPr id="6" name="TextBox 5"/>
          <p:cNvSpPr txBox="1"/>
          <p:nvPr/>
        </p:nvSpPr>
        <p:spPr>
          <a:xfrm>
            <a:off x="886968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modello giusto prima del modello veloce</a:t>
            </a:r>
            <a:endParaRPr lang="it-IT" sz="2000"/>
          </a:p>
        </p:txBody>
      </p:sp>
      <p:sp>
        <p:nvSpPr>
          <p:cNvPr id="7" name="TextBox 6"/>
          <p:cNvSpPr txBox="1"/>
          <p:nvPr/>
        </p:nvSpPr>
        <p:spPr>
          <a:xfrm>
            <a:off x="886968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Riconoscere è confrontare, scrivere è generare. A volte il classificatore è un file di testo.</a:t>
            </a:r>
            <a:endParaRPr lang="it-IT" sz="1700"/>
          </a:p>
        </p:txBody>
      </p:sp>
      <p:sp>
        <p:nvSpPr>
          <p:cNvPr id="8" name="Rounded Rectangle 7"/>
          <p:cNvSpPr/>
          <p:nvPr/>
        </p:nvSpPr>
        <p:spPr>
          <a:xfrm>
            <a:off x="4343400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2</a:t>
            </a:r>
            <a:endParaRPr lang="it-IT" sz="3000"/>
          </a:p>
        </p:txBody>
      </p:sp>
      <p:sp>
        <p:nvSpPr>
          <p:cNvPr id="10" name="TextBox 9"/>
          <p:cNvSpPr txBox="1"/>
          <p:nvPr/>
        </p:nvSpPr>
        <p:spPr>
          <a:xfrm>
            <a:off x="4572000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L’AI di piattaforma è un upgrade, non la base</a:t>
            </a:r>
            <a:endParaRPr lang="it-IT" sz="2000"/>
          </a:p>
        </p:txBody>
      </p:sp>
      <p:sp>
        <p:nvSpPr>
          <p:cNvPr id="11" name="TextBox 10"/>
          <p:cNvSpPr txBox="1"/>
          <p:nvPr/>
        </p:nvSpPr>
        <p:spPr>
          <a:xfrm>
            <a:off x="4572000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checkStatus() a ogni chiamata, e sotto un fallback vero.</a:t>
            </a:r>
            <a:endParaRPr lang="it-IT" sz="1700"/>
          </a:p>
        </p:txBody>
      </p:sp>
      <p:sp>
        <p:nvSpPr>
          <p:cNvPr id="12" name="Rounded Rectangle 11"/>
          <p:cNvSpPr/>
          <p:nvPr/>
        </p:nvSpPr>
        <p:spPr>
          <a:xfrm>
            <a:off x="8028432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57032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3</a:t>
            </a:r>
            <a:endParaRPr lang="it-IT" sz="3000"/>
          </a:p>
        </p:txBody>
      </p:sp>
      <p:sp>
        <p:nvSpPr>
          <p:cNvPr id="14" name="TextBox 13"/>
          <p:cNvSpPr txBox="1"/>
          <p:nvPr/>
        </p:nvSpPr>
        <p:spPr>
          <a:xfrm>
            <a:off x="8257032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Fate i conti prima di promettere</a:t>
            </a:r>
            <a:endParaRPr lang="it-IT" sz="2000"/>
          </a:p>
        </p:txBody>
      </p:sp>
      <p:sp>
        <p:nvSpPr>
          <p:cNvPr id="15" name="TextBox 14"/>
          <p:cNvSpPr txBox="1"/>
          <p:nvPr/>
        </p:nvSpPr>
        <p:spPr>
          <a:xfrm>
            <a:off x="8257032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Token in uscita, giga di RAM, giga da distribuire: l’aritmetica decide.</a:t>
            </a:r>
            <a:endParaRPr lang="it-IT" sz="1700"/>
          </a:p>
        </p:txBody>
      </p:sp>
      <p:sp>
        <p:nvSpPr>
          <p:cNvPr id="16" name="Rounded Rectangle 15"/>
          <p:cNvSpPr/>
          <p:nvPr/>
        </p:nvSpPr>
        <p:spPr>
          <a:xfrm>
            <a:off x="658368" y="4709160"/>
            <a:ext cx="10872216" cy="1371600"/>
          </a:xfrm>
          <a:prstGeom prst="roundRect">
            <a:avLst>
              <a:gd name="adj" fmla="val 6666"/>
            </a:avLst>
          </a:prstGeom>
          <a:solidFill>
            <a:srgbClr val="0B1220"/>
          </a:solidFill>
          <a:ln w="28575">
            <a:solidFill>
              <a:srgbClr val="49DE80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buNone/>
            </a:pPr>
            <a:r>
              <a:rPr lang="it-IT" sz="28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Prima di chiedervi come renderlo più veloce, chiedetevi se è il modello giusto.</a:t>
            </a:r>
            <a:endParaRPr lang="it-IT" sz="28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09297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it-IT" sz="4200" b="1" dirty="0">
                <a:solidFill>
                  <a:srgbClr val="F1F5F9"/>
                </a:solidFill>
                <a:latin typeface="Helvetica Neue"/>
              </a:rPr>
              <a:t>Grazie</a:t>
            </a: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690" y="1488297"/>
            <a:ext cx="2800816" cy="2800886"/>
          </a:xfrm>
          <a:prstGeom prst="rect">
            <a:avLst/>
          </a:prstGeom>
        </p:spPr>
      </p:pic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283E7036-6760-391B-87BE-9F7E71E60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2496" y="1431642"/>
            <a:ext cx="2800816" cy="28008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1DD59E-DF22-FBAC-C586-9E08192F43A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541" b="4541"/>
          <a:stretch>
            <a:fillRect/>
          </a:stretch>
        </p:blipFill>
        <p:spPr>
          <a:xfrm>
            <a:off x="1511077" y="1431078"/>
            <a:ext cx="2696037" cy="2696037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3F53A0F-D62F-523E-6D16-830DF46619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5735" y="1488297"/>
            <a:ext cx="2687575" cy="2687575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9E1C4DB-FBEF-BC3C-3B1A-89725B030B3B}"/>
              </a:ext>
            </a:extLst>
          </p:cNvPr>
          <p:cNvSpPr txBox="1"/>
          <p:nvPr/>
        </p:nvSpPr>
        <p:spPr>
          <a:xfrm>
            <a:off x="106648" y="4293288"/>
            <a:ext cx="5486400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dirty="0">
                <a:solidFill>
                  <a:srgbClr val="F1F5F9"/>
                </a:solidFill>
                <a:latin typeface="Helvetica Neue"/>
              </a:rPr>
              <a:t>Salvatore Matrisciano</a:t>
            </a:r>
          </a:p>
          <a:p>
            <a:pPr algn="ctr">
              <a:spcAft>
                <a:spcPts val="400"/>
              </a:spcAft>
            </a:pPr>
            <a:r>
              <a:rPr sz="1500" b="0" dirty="0">
                <a:solidFill>
                  <a:srgbClr val="CBD5E1"/>
                </a:solidFill>
                <a:latin typeface="Helvetica Neue"/>
              </a:rPr>
              <a:t>Mobile Engineer </a:t>
            </a:r>
            <a:r>
              <a:rPr lang="it-IT" sz="1500" dirty="0">
                <a:solidFill>
                  <a:srgbClr val="CBD5E1"/>
                </a:solidFill>
                <a:latin typeface="Helvetica Neue"/>
              </a:rPr>
              <a:t>@</a:t>
            </a:r>
            <a:r>
              <a:rPr sz="1500" b="0" dirty="0">
                <a:solidFill>
                  <a:srgbClr val="CBD5E1"/>
                </a:solidFill>
                <a:latin typeface="Helvetica Neue"/>
              </a:rPr>
              <a:t> Deloitte Digital</a:t>
            </a:r>
          </a:p>
          <a:p>
            <a:pPr algn="ctr">
              <a:spcAft>
                <a:spcPts val="400"/>
              </a:spcAft>
            </a:pPr>
            <a:r>
              <a:rPr sz="1600" b="0" dirty="0" err="1">
                <a:solidFill>
                  <a:srgbClr val="4ADE80"/>
                </a:solidFill>
                <a:latin typeface="Helvetica Neue"/>
              </a:rPr>
              <a:t>salvatorematrisciano.com</a:t>
            </a:r>
            <a:endParaRPr sz="1600" b="0" dirty="0">
              <a:solidFill>
                <a:srgbClr val="4ADE80"/>
              </a:solidFill>
              <a:latin typeface="Helvetica Neue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BF36C-5F18-17AA-FA23-91A11E84074B}"/>
              </a:ext>
            </a:extLst>
          </p:cNvPr>
          <p:cNvSpPr txBox="1"/>
          <p:nvPr/>
        </p:nvSpPr>
        <p:spPr>
          <a:xfrm>
            <a:off x="6589706" y="4291022"/>
            <a:ext cx="548640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dirty="0">
                <a:solidFill>
                  <a:srgbClr val="F1F5F9"/>
                </a:solidFill>
                <a:latin typeface="Helvetica Neue"/>
              </a:rPr>
              <a:t>Stefano Soriano</a:t>
            </a:r>
          </a:p>
          <a:p>
            <a:pPr algn="ctr">
              <a:spcAft>
                <a:spcPts val="400"/>
              </a:spcAft>
            </a:pPr>
            <a:r>
              <a:rPr sz="1500" b="0" dirty="0">
                <a:solidFill>
                  <a:srgbClr val="CBD5E1"/>
                </a:solidFill>
                <a:latin typeface="Helvetica Neue"/>
              </a:rPr>
              <a:t>Mobile Engineer </a:t>
            </a:r>
            <a:r>
              <a:rPr lang="it-IT" sz="1500" b="0" dirty="0">
                <a:solidFill>
                  <a:srgbClr val="CBD5E1"/>
                </a:solidFill>
                <a:latin typeface="Helvetica Neue"/>
              </a:rPr>
              <a:t>@</a:t>
            </a:r>
            <a:r>
              <a:rPr sz="1500" b="0" dirty="0">
                <a:solidFill>
                  <a:srgbClr val="CBD5E1"/>
                </a:solidFill>
                <a:latin typeface="Helvetica Neue"/>
              </a:rPr>
              <a:t> Deloitte Digi</a:t>
            </a:r>
            <a:r>
              <a:rPr lang="it-IT" sz="1500" b="0" dirty="0">
                <a:solidFill>
                  <a:srgbClr val="CBD5E1"/>
                </a:solidFill>
                <a:latin typeface="Helvetica Neue"/>
              </a:rPr>
              <a:t>tal</a:t>
            </a:r>
          </a:p>
          <a:p>
            <a:pPr algn="ctr">
              <a:spcAft>
                <a:spcPts val="400"/>
              </a:spcAft>
            </a:pPr>
            <a:r>
              <a:rPr lang="it-IT" sz="1500" dirty="0" err="1">
                <a:solidFill>
                  <a:srgbClr val="4ADE80"/>
                </a:solidFill>
                <a:latin typeface="Helvetica Neue"/>
              </a:rPr>
              <a:t>linkedin.com</a:t>
            </a:r>
            <a:r>
              <a:rPr lang="it-IT" sz="1500" dirty="0">
                <a:solidFill>
                  <a:srgbClr val="4ADE80"/>
                </a:solidFill>
                <a:latin typeface="Helvetica Neue"/>
              </a:rPr>
              <a:t>/in/stefano-soriano-b45873150</a:t>
            </a:r>
            <a:endParaRPr lang="it-IT" sz="1500" b="0" dirty="0">
              <a:solidFill>
                <a:srgbClr val="4ADE80"/>
              </a:solidFill>
              <a:latin typeface="Helvetica Neue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241005" y="411511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6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Codice e slide</a:t>
            </a:r>
            <a:endParaRPr lang="it-IT" sz="1600" dirty="0"/>
          </a:p>
        </p:txBody>
      </p:sp>
      <p:pic>
        <p:nvPicPr>
          <p:cNvPr id="18" name="Picture 17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4409" y="4500063"/>
            <a:ext cx="1683181" cy="16831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78716" y="6332009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500" b="1" dirty="0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github.com/MatriscianoSalvatore/ai-pantry</a:t>
            </a:r>
            <a:endParaRPr lang="it-IT" sz="1500" b="1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A46B49-6E9A-DD58-8E19-4A416E4409DB}"/>
              </a:ext>
            </a:extLst>
          </p:cNvPr>
          <p:cNvSpPr txBox="1"/>
          <p:nvPr/>
        </p:nvSpPr>
        <p:spPr>
          <a:xfrm>
            <a:off x="1651000" y="893768"/>
            <a:ext cx="8890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3600" dirty="0" err="1">
                <a:solidFill>
                  <a:schemeClr val="bg1"/>
                </a:solidFill>
                <a:latin typeface="Geist Bold"/>
              </a:rPr>
              <a:t>Com’è</a:t>
            </a:r>
            <a:r>
              <a:rPr lang="en-US" sz="3600" dirty="0">
                <a:solidFill>
                  <a:schemeClr val="bg1"/>
                </a:solidFill>
                <a:latin typeface="Geist Bold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Geist Bold"/>
              </a:rPr>
              <a:t>andata</a:t>
            </a:r>
            <a:r>
              <a:rPr lang="en-US" sz="3600" dirty="0">
                <a:solidFill>
                  <a:schemeClr val="bg1"/>
                </a:solidFill>
                <a:latin typeface="Geist Bold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94556E-AA2F-6A88-259D-6AA46EB240E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394532" y="1905371"/>
            <a:ext cx="3402935" cy="35041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9B2B5F-4EF5-0619-E282-EF92DB131818}"/>
              </a:ext>
            </a:extLst>
          </p:cNvPr>
          <p:cNvSpPr txBox="1"/>
          <p:nvPr/>
        </p:nvSpPr>
        <p:spPr>
          <a:xfrm>
            <a:off x="1651000" y="5860475"/>
            <a:ext cx="8890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2000" dirty="0" err="1">
                <a:solidFill>
                  <a:schemeClr val="bg1"/>
                </a:solidFill>
                <a:latin typeface="Helvetica Neue" panose="02000503000000020004" pitchFamily="2" charset="0"/>
              </a:rPr>
              <a:t>Inquadrate</a:t>
            </a: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</a:rPr>
              <a:t> il QR per </a:t>
            </a:r>
            <a:r>
              <a:rPr lang="en-US" sz="2000" dirty="0" err="1">
                <a:solidFill>
                  <a:schemeClr val="bg1"/>
                </a:solidFill>
                <a:latin typeface="Helvetica Neue" panose="02000503000000020004" pitchFamily="2" charset="0"/>
              </a:rPr>
              <a:t>lasciare</a:t>
            </a: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</a:rPr>
              <a:t> un feedback </a:t>
            </a:r>
            <a:r>
              <a:rPr lang="en-US" sz="2000" dirty="0" err="1">
                <a:solidFill>
                  <a:schemeClr val="bg1"/>
                </a:solidFill>
                <a:latin typeface="Helvetica Neue" panose="02000503000000020004" pitchFamily="2" charset="0"/>
              </a:rPr>
              <a:t>sul</a:t>
            </a: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</a:rPr>
              <a:t> talk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C51151-8943-4D24-3F43-8330DC3653F7}"/>
              </a:ext>
            </a:extLst>
          </p:cNvPr>
          <p:cNvSpPr/>
          <p:nvPr/>
        </p:nvSpPr>
        <p:spPr>
          <a:xfrm>
            <a:off x="4770104" y="5070215"/>
            <a:ext cx="3022600" cy="3048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9873ACEB-218E-4619-BC2A-CA00F33097D9}"/>
              </a:ext>
            </a:extLst>
          </p:cNvPr>
          <p:cNvSpPr/>
          <p:nvPr/>
        </p:nvSpPr>
        <p:spPr>
          <a:xfrm>
            <a:off x="4934666" y="540078"/>
            <a:ext cx="2322668" cy="35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1">
              <a:lnSpc>
                <a:spcPct val="108000"/>
              </a:lnSpc>
            </a:pP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1984221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2623</TotalTime>
  <Words>8308</Words>
  <Application>Microsoft Macintosh PowerPoint</Application>
  <PresentationFormat>Widescreen</PresentationFormat>
  <Paragraphs>974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Geist</vt:lpstr>
      <vt:lpstr>Arial</vt:lpstr>
      <vt:lpstr>Geist Light</vt:lpstr>
      <vt:lpstr>Helvetica Neue</vt:lpstr>
      <vt:lpstr>Consolas</vt:lpstr>
      <vt:lpstr>Geist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Matrisciano, Salvatore</cp:lastModifiedBy>
  <cp:revision>13</cp:revision>
  <dcterms:created xsi:type="dcterms:W3CDTF">2026-07-26T22:35:18Z</dcterms:created>
  <dcterms:modified xsi:type="dcterms:W3CDTF">2026-10-03T21:57:48Z</dcterms:modified>
</cp:coreProperties>
</file>