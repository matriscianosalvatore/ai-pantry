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4" r:id="rId26"/>
    <p:sldId id="291" r:id="rId27"/>
    <p:sldId id="293" r:id="rId28"/>
  </p:sldIdLst>
  <p:sldSz cx="12192000" cy="6858000"/>
  <p:notesSz cx="6858000" cy="12192000"/>
  <p:embeddedFontLs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Geist" pitchFamily="2" charset="77"/>
      <p:regular r:id="rId34"/>
    </p:embeddedFont>
    <p:embeddedFont>
      <p:font typeface="Geist Bold"/>
      <p:regular r:id="rId35"/>
      <p:bold r:id="rId36"/>
    </p:embeddedFont>
    <p:embeddedFont>
      <p:font typeface="Geist Light" pitchFamily="2" charset="77"/>
      <p:regular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3"/>
    <p:restoredTop sz="49790"/>
  </p:normalViewPr>
  <p:slideViewPr>
    <p:cSldViewPr snapToGrid="0" snapToObjects="1">
      <p:cViewPr>
        <p:scale>
          <a:sx n="73" d="100"/>
          <a:sy n="73" d="100"/>
        </p:scale>
        <p:origin x="3424" y="3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Ciao, ciao a tutti! Io sono Salvatore Matrisciano e sono uno sviluppatore mobile…</a:t>
            </a:r>
          </a:p>
          <a:p>
            <a:endParaRPr lang="it-IT" noProof="0" dirty="0"/>
          </a:p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…e io sono Stefano Soriano, anche io sviluppatore mobile. Ciao a tutti!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Allora, oggi vi raccontiamo una storia. Una storia vera.</a:t>
            </a:r>
          </a:p>
          <a:p>
            <a:r>
              <a:rPr lang="it-IT" noProof="0" dirty="0"/>
              <a:t>La storia di un’app che guarda dentro il vostro frigo e vi consiglia cosa cucinare stasera.</a:t>
            </a:r>
          </a:p>
          <a:p>
            <a:r>
              <a:rPr lang="it-IT" noProof="0" dirty="0"/>
              <a:t>L’abbiamo costruita con tre modelli di intelligenza artificiale diversi: Gemini Nano, Gemma e MobileCLIP.</a:t>
            </a:r>
          </a:p>
          <a:p>
            <a:r>
              <a:rPr lang="it-IT" noProof="0" dirty="0"/>
              <a:t>E tutti e 3 girano direttamente sul telefono, in locale.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vi faremo vedere solo la versione finale, quella che funziona.</a:t>
            </a:r>
          </a:p>
          <a:p>
            <a:r>
              <a:rPr lang="it-IT" noProof="0" dirty="0"/>
              <a:t>Ma vi faremo vedere anche le strade sbagliate che abbiamo preso, perché è da lì che abbiamo imparato di più.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Partiamo da una domanda.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Cosa succede quando decidi di far girare tutta l’AI della tua app direttamente sul telefono?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Oggi, quando aggiungiamo una feature AI a un’app, ci viene quasi in automatico: </a:t>
            </a:r>
          </a:p>
          <a:p>
            <a:r>
              <a:rPr lang="it-IT" noProof="0" dirty="0"/>
              <a:t>prendo una API key, chiamo un modello nel cloud, mando la richiesta, aspetto la risposta.</a:t>
            </a:r>
          </a:p>
          <a:p>
            <a:r>
              <a:rPr lang="it-IT" noProof="0" dirty="0"/>
              <a:t>Funziona, è comodo, lo facciamo tutti.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Punto principale: chiamare un’API AI in un’app prima di tutto ha un costo.</a:t>
            </a:r>
          </a:p>
          <a:p>
            <a:r>
              <a:rPr lang="it-IT" noProof="0" dirty="0"/>
              <a:t>Poi, nel nostro caso la richiesta è una foto dell’interno della cucina di qualcuno.</a:t>
            </a:r>
          </a:p>
          <a:p>
            <a:r>
              <a:rPr lang="it-IT" noProof="0" dirty="0"/>
              <a:t>Del suo frigo. Di cosa mangia, di come vive.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Ci siamo quindi chiesti: e se non la mandassimo da nessuna parte?</a:t>
            </a:r>
          </a:p>
          <a:p>
            <a:r>
              <a:rPr lang="it-IT" noProof="0" dirty="0"/>
              <a:t>Niente cloud. Niente API key da proteggere. Nessuna foto su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Ogni richiesta che mandi a un server è una cosa in più da proteggere, da giustificare, da spiegare all’utente nella privacy policy, e anche, soprattutto, da pagare.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Prima di andare avanti, vi facciamo vedere l’app.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 si chiama AI Pantry: Dispensa AI, e l’idea è molto semplice: fai una foto al frigo e ottieni un’idea di ricetta per cena.</a:t>
            </a:r>
          </a:p>
          <a:p>
            <a:endParaRPr lang="it-IT" noProof="0" dirty="0"/>
          </a:p>
          <a:p>
            <a:r>
              <a:rPr lang="it-IT" noProof="0" dirty="0"/>
              <a:t>Funziona così. Prima fai una o più foto al tuo frigo, e l’app riconosce gli ingredienti che vede.</a:t>
            </a:r>
          </a:p>
          <a:p>
            <a:endParaRPr lang="it-IT" noProof="0" dirty="0"/>
          </a:p>
          <a:p>
            <a:r>
              <a:rPr lang="it-IT" noProof="0" dirty="0"/>
              <a:t>Poi con quelle foto costruisce l’inventario della tua dispensa. Quindi l’app si ricorda cos'hai.</a:t>
            </a:r>
          </a:p>
          <a:p>
            <a:endParaRPr lang="it-IT" noProof="0" dirty="0"/>
          </a:p>
          <a:p>
            <a:r>
              <a:rPr lang="it-IT" noProof="0" dirty="0"/>
              <a:t>E poi, da quello che hai davvero in dispensa, genera idee di ricette.</a:t>
            </a:r>
          </a:p>
          <a:p>
            <a:r>
              <a:rPr lang="it-IT" noProof="0" dirty="0"/>
              <a:t>Infine, se una ti piace, genera la ricetta completa, con tutti gli step per cucinarla.</a:t>
            </a:r>
          </a:p>
          <a:p>
            <a:endParaRPr lang="it-IT" noProof="0" dirty="0"/>
          </a:p>
          <a:p>
            <a:r>
              <a:rPr lang="it-IT" noProof="0" dirty="0"/>
              <a:t>E il punto centrale è che è tutto al 100% on-device.</a:t>
            </a:r>
          </a:p>
          <a:p>
            <a:r>
              <a:rPr lang="it-IT" noProof="0" dirty="0"/>
              <a:t>Quindi le foto e i prompt non lasciano mai il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Andiamo a vederla:</a:t>
            </a:r>
          </a:p>
          <a:p>
            <a:endParaRPr lang="it-IT" noProof="0" dirty="0"/>
          </a:p>
          <a:p>
            <a:r>
              <a:rPr lang="it-IT" noProof="0" dirty="0"/>
              <a:t>────────────────────────</a:t>
            </a:r>
          </a:p>
          <a:p>
            <a:r>
              <a:rPr lang="it-IT" noProof="0" dirty="0"/>
              <a:t>🎬 DEMO LIVE:</a:t>
            </a:r>
          </a:p>
          <a:p>
            <a:r>
              <a:rPr lang="it-IT" noProof="0" dirty="0"/>
              <a:t>[Prima del talk: telefono in mirroring, modalità aereo ATTIVA, dispensa vuota (“La tua dispensa è vuota”, eventualmente “Svuota tutto”), Gemma già pronto (niente banner “Preparazione di Gemma 4 E2B…”). Tenere in galleria una foto di frigo e una di dispensa già testate, da scegliere con il pulsante della galleria in basso a sinistra. Video di backup pronto: demo.mp4.]</a:t>
            </a:r>
          </a:p>
          <a:p>
            <a:r>
              <a:rPr lang="it-IT" noProof="0" dirty="0"/>
              <a:t>[Tempi, dal video: ogni foto si analizza in 20-25 secondi, le 4 ricette arrivano in meno di un minuto, la ricetta completa in poco più di 2 minuti.]</a:t>
            </a:r>
          </a:p>
          <a:p>
            <a:endParaRPr lang="it-IT" noProof="0" dirty="0"/>
          </a:p>
          <a:p>
            <a:r>
              <a:rPr lang="it-IT" noProof="0" dirty="0"/>
              <a:t>[mostra la barra di stato]</a:t>
            </a:r>
          </a:p>
          <a:p>
            <a:r>
              <a:rPr lang="it-IT" noProof="0" dirty="0"/>
              <a:t>Prima cosa: guardate qui in alto. Il telefono è in modalità aereo. Internet non serve.</a:t>
            </a:r>
          </a:p>
          <a:p>
            <a:r>
              <a:rPr lang="it-IT" noProof="0" dirty="0"/>
              <a:t>[tocca “Scansiona il frigo”, “Frigo” già selezionato, scatta la foto o la sceglie dalla galleria]</a:t>
            </a:r>
          </a:p>
          <a:p>
            <a:r>
              <a:rPr lang="it-IT" noProof="0" dirty="0"/>
              <a:t>Scelgo “Frigo”, inquadro il frigo e scatto.</a:t>
            </a:r>
          </a:p>
          <a:p>
            <a:endParaRPr lang="it-IT" noProof="0" dirty="0"/>
          </a:p>
          <a:p>
            <a:r>
              <a:rPr lang="it-IT" noProof="0" dirty="0"/>
              <a:t>[sullo schermo “Riconosco gli ingredienti”: sulla foto si accendono le zone che sta analizzando (“Zone analizzate”) e gli ingredienti compaiono man mano]</a:t>
            </a:r>
          </a:p>
          <a:p>
            <a:r>
              <a:rPr lang="it-IT" noProof="0" dirty="0"/>
              <a:t>Quello che sta succedendo adesso è la parte di percezione: l’app sta capendo quali ingredienti ci sono nella foto, zona per zona, e li vedete comparire appena li trova. Nel corso del talk vi spieghiamo perché questa parte, all’inizio, ci metteva minuti, e come l’abbiamo portata a pochi secondi.</a:t>
            </a:r>
          </a:p>
          <a:p>
            <a:endParaRPr lang="it-IT" noProof="0" dirty="0"/>
          </a:p>
          <a:p>
            <a:r>
              <a:rPr lang="it-IT" noProof="0" dirty="0"/>
              <a:t>[si apre il foglio “N ingredienti trovati”]</a:t>
            </a:r>
          </a:p>
          <a:p>
            <a:r>
              <a:rPr lang="it-IT" noProof="0" dirty="0"/>
              <a:t>Eccoli. [leggere ad alta voce 3-4 ingredienti che compaiono davvero]. Ognuno ha la sua confidenza, e quelli sotto una certa soglia vengono già scartati. Se qualcosa è sbagliato, lo tolgo con la X. [rimuove un elemento se serve]</a:t>
            </a:r>
          </a:p>
          <a:p>
            <a:endParaRPr lang="it-IT" noProof="0" dirty="0"/>
          </a:p>
          <a:p>
            <a:r>
              <a:rPr lang="it-IT" noProof="0" dirty="0"/>
              <a:t>[indica la riga in alto “MobileCLIP-S2 zero-shot · LiteRT · on device”]</a:t>
            </a:r>
          </a:p>
          <a:p>
            <a:r>
              <a:rPr lang="it-IT" noProof="0" dirty="0"/>
              <a:t>E guardate questa riga: l’app vi dice quale motore ha fatto il lavoro. Su questo telefono è [leggere: MobileCLIP-S2 oppure Gemini Nano]. Tenetelo a mente, perché è il cuore del talk.</a:t>
            </a:r>
          </a:p>
          <a:p>
            <a:endParaRPr lang="it-IT" noProof="0" dirty="0"/>
          </a:p>
          <a:p>
            <a:r>
              <a:rPr lang="it-IT" noProof="0" dirty="0"/>
              <a:t>[tocca “Altra scansione”, seleziona “Dispensa”, scatta o sceglie la foto della dispensa]</a:t>
            </a:r>
          </a:p>
          <a:p>
            <a:r>
              <a:rPr lang="it-IT" noProof="0" dirty="0"/>
              <a:t>Faccio lo stesso con la dispensa. Le due scansioni si sommano. [il foglio ora conta gli ingredienti di tutte e due]</a:t>
            </a:r>
          </a:p>
          <a:p>
            <a:endParaRPr lang="it-IT" noProof="0" dirty="0"/>
          </a:p>
          <a:p>
            <a:r>
              <a:rPr lang="it-IT" noProof="0" dirty="0"/>
              <a:t>[tocca “Aggiungi a frigo e dispensa (N)”, torna a “La tua cucina” con frigo e dispensa]</a:t>
            </a:r>
          </a:p>
          <a:p>
            <a:r>
              <a:rPr lang="it-IT" noProof="0" dirty="0"/>
              <a:t>Aggiungo tutto. E questo è l’inventario, salvato in locale sul telefono.</a:t>
            </a:r>
          </a:p>
          <a:p>
            <a:endParaRPr lang="it-IT" noProof="0" dirty="0"/>
          </a:p>
          <a:p>
            <a:r>
              <a:rPr lang="it-IT" noProof="0" dirty="0"/>
              <a:t>[tocca “Cosa posso cucinare? (N)”]</a:t>
            </a:r>
          </a:p>
          <a:p>
            <a:r>
              <a:rPr lang="it-IT" noProof="0" dirty="0"/>
              <a:t>Adesso la parte divertente. Chiedo all’app: cosa ci cucino con questa roba?</a:t>
            </a:r>
          </a:p>
          <a:p>
            <a:endParaRPr lang="it-IT" noProof="0" dirty="0"/>
          </a:p>
          <a:p>
            <a:r>
              <a:rPr lang="it-IT" noProof="0" dirty="0"/>
              <a:t>[schermata “Genero le ricette”, poi le ricette arrivano una alla volta (“Ricetta 2 di 4”…)]</a:t>
            </a:r>
          </a:p>
          <a:p>
            <a:r>
              <a:rPr lang="it-IT" noProof="0" dirty="0"/>
              <a:t>Qui entra in gioco un modello diverso, un LLM vero e proprio, Gemma, perché inventare una ricetta è un compito completamente diverso dal riconoscere un’anguria. Anche questo lo vedremo nel dettaglio.</a:t>
            </a:r>
          </a:p>
          <a:p>
            <a:endParaRPr lang="it-IT" noProof="0" dirty="0"/>
          </a:p>
          <a:p>
            <a:r>
              <a:rPr lang="it-IT" noProof="0" dirty="0"/>
              <a:t>[appare la lista “Ecco cosa puoi cucinare”]</a:t>
            </a:r>
          </a:p>
          <a:p>
            <a:r>
              <a:rPr lang="it-IT" noProof="0" dirty="0"/>
              <a:t>Ecco quattro idee per la cena, con tempo e difficoltà. Sono ordinate in base a quanto usano quello che ho davvero: quelle che richiedono di comprare qualcosa finiscono in fondo, e l’app mi dice cosa mi manca. [se una ricetta mostra “Mancano: …”, indicarlo] E se non mi convincono, “Altre ricette” me ne propone altre quattro.</a:t>
            </a:r>
          </a:p>
          <a:p>
            <a:endParaRPr lang="it-IT" noProof="0" dirty="0"/>
          </a:p>
          <a:p>
            <a:r>
              <a:rPr lang="it-IT" noProof="0" dirty="0"/>
              <a:t>[apre una ricetta: in basso “Genero la ricetta…”]</a:t>
            </a:r>
          </a:p>
          <a:p>
            <a:r>
              <a:rPr lang="it-IT" noProof="0" dirty="0"/>
              <a:t>Apro questa. Quantità e passaggi non esistevano finché non l’ho aperta: li sta scrivendo adesso, qui sul telefono. [compaiono le quantità, poi i passaggi del “Procedimento” uno alla volta, poi le “Varianti”. Non aspettare la fine: la ricetta completa ci mette poco più di 2 minuti]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vi ricordo: modalità aereo. Nessuna chiamata di rete. Nessun costo per chiamata. Nessuna foto di questo frigo è finita su 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Questa è AI Pantry. Ora vi raccontiamo come ci siamo arrivati, e perché ci abbiamo messo più tentativi del previsto. [torna alle slide]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[PIANO B: se la demo si blocca → “La demo on-device ha deciso di essere molto on-device” → far partire il video di backup (demo.mp4) e commentarlo con lo stesso script. Nel video il telefono non è in modalità aereo: saltare le frasi sulla modalità aereo. La ricetta completa occupa gli ultimi 2 minuti del video: si può mandare avanti.]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Ok, quindi torniamo un passo indietro.</a:t>
            </a:r>
          </a:p>
          <a:p>
            <a:r>
              <a:rPr lang="it-IT" noProof="0" dirty="0"/>
              <a:t>Perché on-device? Perché complicarsi la vita, quando un’API cloud avrebbe fatto il lavoro molto più velocemente?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prima risposta, è la privacy. Prima di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server che vede le foto.</a:t>
            </a:r>
          </a:p>
          <a:p>
            <a:r>
              <a:rPr lang="it-IT" noProof="0" dirty="0"/>
              <a:t>Le foto della cucina non lasciano mai il telefono.</a:t>
            </a:r>
          </a:p>
          <a:p>
            <a:r>
              <a:rPr lang="it-IT" noProof="0" dirty="0"/>
              <a:t>E una foto del frigo racconta molto più di quanto si possa pensare: abitudini alimentari, allergie, magari condizioni di salute, e a volte anche un pezzo di casa sullo sfondo.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Data Processing Agreement.</a:t>
            </a:r>
          </a:p>
          <a:p>
            <a:r>
              <a:rPr lang="it-IT" noProof="0" dirty="0"/>
              <a:t>Nello sviluppare un’app, appena mandi dati utente a un fornitore terzo, parte il giro di legal, DPA, valutazioni…</a:t>
            </a:r>
          </a:p>
          <a:p>
            <a:r>
              <a:rPr lang="it-IT" noProof="0" dirty="0"/>
              <a:t>Se nessun dato utente esce, non c’è nessun agreement da firmare.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problema di data retention.</a:t>
            </a:r>
          </a:p>
          <a:p>
            <a:r>
              <a:rPr lang="it-IT" noProof="0" dirty="0"/>
              <a:t>Per quanto tempo tengo le foto? Dove? Chi le può cancellare?</a:t>
            </a:r>
          </a:p>
          <a:p>
            <a:r>
              <a:rPr lang="it-IT" noProof="0" dirty="0"/>
              <a:t>Se non le memorizzi mai, la domanda non si pone proprio.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nessun log sul server.</a:t>
            </a:r>
          </a:p>
          <a:p>
            <a:r>
              <a:rPr lang="it-IT" noProof="0" dirty="0"/>
              <a:t>Nessuna richiesta cloud significa che non c’è niente da far trapelare, e niente da violare.</a:t>
            </a:r>
          </a:p>
          <a:p>
            <a:r>
              <a:rPr lang="it-IT" noProof="0" dirty="0"/>
              <a:t>Il dato più sicuro è quello che non hai mai raccolto.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la privacy non è l’unico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Poi ci sono resilienza e costi.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Resilienza vuol dire, prima di tutto, che funziona anche senza internet.</a:t>
            </a:r>
          </a:p>
          <a:p>
            <a:r>
              <a:rPr lang="it-IT" noProof="0" dirty="0"/>
              <a:t>Senza rete, in modalità aereo, come </a:t>
            </a:r>
            <a:r>
              <a:rPr lang="it-IT" noProof="0"/>
              <a:t>abbiamo visto, </a:t>
            </a:r>
            <a:r>
              <a:rPr lang="it-IT" noProof="0" dirty="0"/>
              <a:t>o con il segnale debole.</a:t>
            </a:r>
          </a:p>
          <a:p>
            <a:r>
              <a:rPr lang="it-IT" noProof="0" dirty="0"/>
              <a:t>E un frigo si trova in cucina, magari in una casa vecchia, magari in una taverna o in un seminterrato, o comunque può trovarsi in posti dove internet non prende.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Poi, nessun round-trip verso il server. Niente latenza di rete, niente cold start.</a:t>
            </a:r>
          </a:p>
          <a:p>
            <a:r>
              <a:rPr lang="it-IT" noProof="0" dirty="0"/>
              <a:t>Il “backend”, tra virgolette, è già caldo, ce l’hai in mano.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il tema dei costi, che per un prodotto vero è enorme: il costo del cloud cresce con l’uso. </a:t>
            </a:r>
          </a:p>
          <a:p>
            <a:r>
              <a:rPr lang="it-IT" noProof="0" dirty="0"/>
              <a:t>Ogni chiamata multimodale si paga per immagine e per token.</a:t>
            </a:r>
          </a:p>
          <a:p>
            <a:r>
              <a:rPr lang="it-IT" noProof="0" dirty="0"/>
              <a:t>E va moltiplicato per ogni scansione, per ogni utente attivo, ogni giorno.</a:t>
            </a:r>
          </a:p>
          <a:p>
            <a:r>
              <a:rPr lang="it-IT" noProof="0" dirty="0"/>
              <a:t>Più l’app ha successo, più costa.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On-device ribalta completamente questo modello.</a:t>
            </a:r>
          </a:p>
          <a:p>
            <a:r>
              <a:rPr lang="it-IT" noProof="0" dirty="0"/>
              <a:t>L’inferenza gira sull’hardware dell’utente, e la bolletta cloud resta a zero.</a:t>
            </a:r>
          </a:p>
          <a:p>
            <a:r>
              <a:rPr lang="it-IT" noProof="0" dirty="0"/>
              <a:t>Anche con un milione di utenti.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Quindi: privacy, resilienza e costi. </a:t>
            </a:r>
          </a:p>
          <a:p>
            <a:r>
              <a:rPr lang="it-IT" noProof="0" dirty="0"/>
              <a:t>Ora, quale modello usiamo?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nell’app.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…gira solo sui flagship più recenti.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Pixel 10, Pixel 11, </a:t>
            </a:r>
            <a:r>
              <a:rPr lang="it-IT" noProof="0"/>
              <a:t>Galaxy S26…</a:t>
            </a:r>
            <a:endParaRPr lang="it-IT" noProof="0" dirty="0"/>
          </a:p>
          <a:p>
            <a:r>
              <a:rPr lang="it-IT" noProof="0" dirty="0"/>
              <a:t>Telefoni bellissimi.</a:t>
            </a:r>
          </a:p>
          <a:p>
            <a:r>
              <a:rPr lang="it-IT" noProof="0" dirty="0"/>
              <a:t>Ma non sono i telefoni che la maggior parte delle persone ha davvero in tasca.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questo per chi rilascia un’app è un problema serio.</a:t>
            </a:r>
          </a:p>
          <a:p>
            <a:r>
              <a:rPr lang="it-IT" noProof="0" dirty="0"/>
              <a:t>Se costruisci la feature principale della tua app su un modello che c’è solo su una piccola fetta di dispositivi, per tutti gli altri semplicemente l’app non funziona.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non c’è niente che si possa fare lato codice: non è una questione di permessi o di versione di Android, dipende dall’hardware e da cosa Google ha deciso di supportare.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abbiamo capito subito: Gemini Nano poteva essere un bonus, ma non poteva essere la base della nostra app.</a:t>
            </a:r>
          </a:p>
          <a:p>
            <a:r>
              <a:rPr lang="it-IT" noProof="0" dirty="0"/>
              <a:t>Ci serviva un piano B che girasse su tutti i telefoni, o quasi.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piano B era semplice, almeno nella nostra testa: un solo LLM multimodale che fa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Abbiamo scelto Gemma. La versione 4 E2B. Quindi Gemma, quarta generazione, 2 miliardi di parametri effettivi.</a:t>
            </a:r>
          </a:p>
          <a:p>
            <a:r>
              <a:rPr lang="it-IT" noProof="0" dirty="0"/>
              <a:t>Pesi aperti, multimodale, ovvero visione più testo, e gira su qualsiasi telefono, perché il modello lo porti tu.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L’idea sembrava elegante: un modello, due compiti.</a:t>
            </a:r>
          </a:p>
          <a:p>
            <a:r>
              <a:rPr lang="it-IT" noProof="0" dirty="0"/>
              <a:t>Prima gli chiedi “cosa c’è in questa foto?”, e poi gli chiedi “Che cosa ci cucino?”.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l’abbiamo integrato, e ha funzionato.</a:t>
            </a:r>
          </a:p>
          <a:p>
            <a:r>
              <a:rPr lang="it-IT" noProof="0" dirty="0"/>
              <a:t>Ingredienti corretti, JSON valido, ricette 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modello riconosceva le uova, distingueva lo yogurt dal latte, rispettava il formato che gli chiedevamo.</a:t>
            </a:r>
          </a:p>
          <a:p>
            <a:r>
              <a:rPr lang="it-IT" noProof="0" dirty="0"/>
              <a:t>Dal punto di vista della qualità, sembrava perfetto.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Però ci metteva 5-10 minuti per una singola scansione.</a:t>
            </a:r>
          </a:p>
          <a:p>
            <a:r>
              <a:rPr lang="it-IT" noProof="0" dirty="0"/>
              <a:t>Su un Pixel 7, un telefono di fascia media.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nessuno ovviamente inquadra il frigo e aspetta dieci minuti per avere un’idea per la cena.</a:t>
            </a:r>
          </a:p>
          <a:p>
            <a:r>
              <a:rPr lang="it-IT" noProof="0" dirty="0"/>
              <a:t>In dieci minuti ordini una pizza e ti arriva a casa. </a:t>
            </a:r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Quindi avevamo due strade (Gemini Nano e Gemma) e nessuna delle due andava bene: una veloce ma solo per pochi, e una per tutti ma inutilizzabile.</a:t>
            </a:r>
          </a:p>
          <a:p>
            <a:r>
              <a:rPr lang="it-IT" noProof="0" dirty="0"/>
              <a:t>Come ne siamo usciti? Ve lo raccontiamo in cinque capitoli.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1: Gemini Nano, tramite Machine Learning Kit GenAI.</a:t>
            </a:r>
          </a:p>
          <a:p>
            <a:r>
              <a:rPr lang="it-IT" noProof="0" dirty="0"/>
              <a:t>Come usarlo come un upgrade gratuito, ma mai come la base della nostra 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2: un modello per domarli tutti (Gemma), e perché andava così lento.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3: rilevamento zero-shot con MobileCLIP-S2.</a:t>
            </a:r>
          </a:p>
          <a:p>
            <a:r>
              <a:rPr lang="it-IT" noProof="0" dirty="0"/>
              <a:t>Il capitolo in cui siamo passati da minuti a secondi.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4: dove l’LLM si guadagna davvero il suo posto, cioè la generazione delle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capitolo 5: la distribuzione.</a:t>
            </a:r>
          </a:p>
          <a:p>
            <a:r>
              <a:rPr lang="it-IT" noProof="0" dirty="0"/>
              <a:t>Perché ogni modello arriva sul telefono in un modo diverso, e questo conta molto più di quanto si possa pensare.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Vi spoilero già il finale, così non c’è suspense: alla fine abbiamo usato tutti e 3 i modelli.</a:t>
            </a:r>
          </a:p>
          <a:p>
            <a:r>
              <a:rPr lang="it-IT" noProof="0" dirty="0"/>
              <a:t>Ma ognuno per un compito diverso, e il punto principale è capire perché.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uno. Il protagonista: Gemini Nano.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il membro più piccolo della famiglia Gemini di Google.</a:t>
            </a:r>
          </a:p>
          <a:p>
            <a:r>
              <a:rPr lang="it-IT" noProof="0" dirty="0"/>
              <a:t>È un modello distillato per girare su un telefono: stesso DNA dei fratelli che girano nel cloud, ma ridotto finché non entra nel budget di memoria e nel budget termico di uno smartphone.</a:t>
            </a:r>
          </a:p>
          <a:p>
            <a:r>
              <a:rPr lang="it-IT" noProof="0" dirty="0"/>
              <a:t>Perché su un telefono non conta solo quanto è veloce, ma anche quanto scalda.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foto più testo in ingresso, testo in uscita.</a:t>
            </a:r>
          </a:p>
          <a:p>
            <a:r>
              <a:rPr lang="it-IT" noProof="0" dirty="0"/>
              <a:t>Ed era proprio il problema che volevamo risolvere con la nostra app: “Guarda questo frigo, dimmi cosa c’è dentro”.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un dettaglio architetturale importante: c’è un solo modello, condiviso, per dispositivo. Non uno per app. </a:t>
            </a:r>
          </a:p>
          <a:p>
            <a:r>
              <a:rPr lang="it-IT" noProof="0" dirty="0"/>
              <a:t>Viene aggiornato tramite Google Play services, e a seconda del dispositivo può essere nano v3 o v4.</a:t>
            </a:r>
          </a:p>
          <a:p>
            <a:r>
              <a:rPr lang="it-IT" noProof="0" dirty="0"/>
              <a:t>Quindi il modello migliora nel tempo senza rilasciare nuovi aggiornamenti dell’app.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può usare tramite Machine Learning Kit GenAI, che espone sia API già pronte, come riassunti o riscrittura del testo, sia una Prompt API in cui il prompt lo possiamo scrivere noi.</a:t>
            </a:r>
          </a:p>
          <a:p>
            <a:r>
              <a:rPr lang="it-IT" noProof="0" dirty="0"/>
              <a:t>E noi ovviamente abbiamo usato la Prompt API.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costo per la tua app? Zero megabyte.</a:t>
            </a:r>
          </a:p>
          <a:p>
            <a:endParaRPr lang="it-IT" noProof="0" dirty="0"/>
          </a:p>
          <a:p>
            <a:r>
              <a:rPr lang="it-IT" noProof="0" dirty="0"/>
              <a:t>Ma come fa a costare zero? Dove sta il modello?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modello vive in AICore, non nell'app.</a:t>
            </a:r>
          </a:p>
          <a:p>
            <a:br>
              <a:rPr lang="it-IT" noProof="0" dirty="0"/>
            </a:br>
            <a:endParaRPr lang="it-IT" noProof="0" dirty="0"/>
          </a:p>
          <a:p>
            <a:r>
              <a:rPr lang="it-IT" noProof="0" dirty="0"/>
              <a:t>AICore è un servizio di sistema di Android.</a:t>
            </a:r>
          </a:p>
          <a:p>
            <a:r>
              <a:rPr lang="it-IT" noProof="0" dirty="0"/>
              <a:t>Gestisce lui i pesi del modello, lo storage, gli aggiornamenti e l’accelerazione hardware.</a:t>
            </a:r>
          </a:p>
          <a:p>
            <a:r>
              <a:rPr lang="it-IT" noProof="0" dirty="0"/>
              <a:t>L’app non tocca mai un singolo file del modello.</a:t>
            </a:r>
          </a:p>
          <a:p>
            <a:r>
              <a:rPr lang="it-IT" noProof="0" dirty="0"/>
              <a:t>Basta mandare una richiesta, ed AICore restituisce una risposta.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le richieste possono essere multimodali: foto più testo in ingresso, testo in uscita</a:t>
            </a:r>
          </a:p>
          <a:p>
            <a:r>
              <a:rPr lang="it-IT" noProof="0" dirty="0"/>
              <a:t>Tutto questo gira su pesi che non serve mai distribuire, scaricare, o aggiornare.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vantaggio da non sottovalutare: se 10 app sullo stesso telefono usano Gemini Nano, il modello sul disco è uno solo.</a:t>
            </a:r>
          </a:p>
          <a:p>
            <a:r>
              <a:rPr lang="it-IT" noProof="0" dirty="0"/>
              <a:t>Non dieci copie da qualche gigabyte ciascuna</a:t>
            </a:r>
          </a:p>
          <a:p>
            <a:r>
              <a:rPr lang="it-IT" noProof="0" dirty="0"/>
              <a:t>Per l’utente è un risparmio enorme di spazio, e per chi sviluppa app è un problema in meno.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noi sviluppatori è quindi un modello mentale molto comodo: è come usare la fotocamera o il GPS.</a:t>
            </a:r>
          </a:p>
          <a:p>
            <a:r>
              <a:rPr lang="it-IT" noProof="0" dirty="0"/>
              <a:t>È una capability del sistema, non una cosa da impacchettare nell’app.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proprio perché è una capability del sistema, può esserci o non esserci.</a:t>
            </a:r>
          </a:p>
          <a:p>
            <a:r>
              <a:rPr lang="it-IT" noProof="0" dirty="0"/>
              <a:t>E quindi l’integrazione si riduce a una dipendenza e a una regola.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La dipendenza è Machine Learning Kit GenAI Prompt API.</a:t>
            </a:r>
          </a:p>
          <a:p>
            <a:r>
              <a:rPr lang="it-IT" noProof="0" dirty="0"/>
              <a:t>Poi si prende il client con </a:t>
            </a:r>
            <a:r>
              <a:rPr lang="it-IT" noProof="0" dirty="0" err="1"/>
              <a:t>getClient</a:t>
            </a:r>
            <a:r>
              <a:rPr lang="it-IT" noProof="0" dirty="0"/>
              <a:t>().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E ora la regola: prima di chiamare il modello, bisogna sempre chiamare checkStatus().</a:t>
            </a:r>
          </a:p>
          <a:p>
            <a:r>
              <a:rPr lang="it-IT" noProof="0" dirty="0"/>
              <a:t>La disponibilità è una questione di </a:t>
            </a:r>
            <a:r>
              <a:rPr lang="it-IT" noProof="0" dirty="0" err="1"/>
              <a:t>runtime</a:t>
            </a:r>
            <a:r>
              <a:rPr lang="it-IT" noProof="0" dirty="0"/>
              <a:t>, non di compile time.</a:t>
            </a:r>
          </a:p>
          <a:p>
            <a:r>
              <a:rPr lang="it-IT" noProof="0" dirty="0"/>
              <a:t>Non si può sapere finché non si </a:t>
            </a:r>
            <a:r>
              <a:rPr lang="it-IT" noProof="0" dirty="0" err="1"/>
              <a:t>builda</a:t>
            </a:r>
            <a:r>
              <a:rPr lang="it-IT" noProof="0" dirty="0"/>
              <a:t> 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Gli stati che ci interessano sono tre.</a:t>
            </a:r>
          </a:p>
          <a:p>
            <a:r>
              <a:rPr lang="it-IT" noProof="0" dirty="0"/>
              <a:t>AVAILABLE: il modello c’è, è pronto, si può usare Nano.</a:t>
            </a:r>
          </a:p>
          <a:p>
            <a:r>
              <a:rPr lang="it-IT" noProof="0" dirty="0"/>
              <a:t>DOWNLOADABLE: il dispositivo lo supporta, ma il modello non è ancora stato scaricato. In quel caso lanciamo il download in modo opportunistico, in background, ma intanto, per questa richiesta, usiamo il </a:t>
            </a:r>
            <a:r>
              <a:rPr lang="it-IT" noProof="0" dirty="0" err="1"/>
              <a:t>fallback</a:t>
            </a:r>
            <a:r>
              <a:rPr lang="it-IT" noProof="0" dirty="0"/>
              <a:t>. Non facciamo aspettare l’utente.</a:t>
            </a:r>
          </a:p>
          <a:p>
            <a:r>
              <a:rPr lang="it-IT" noProof="0" dirty="0"/>
              <a:t>E in tutti gli altri casi, cioè dispositivo non supportato, </a:t>
            </a:r>
            <a:r>
              <a:rPr lang="it-IT" noProof="0" dirty="0" err="1"/>
              <a:t>fallback</a:t>
            </a:r>
            <a:r>
              <a:rPr lang="it-IT" noProof="0" dirty="0"/>
              <a:t>, direttamente.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la chiamata vera è banale: </a:t>
            </a:r>
            <a:r>
              <a:rPr lang="it-IT" noProof="0" dirty="0" err="1"/>
              <a:t>generateContent</a:t>
            </a:r>
            <a:r>
              <a:rPr lang="it-IT" noProof="0" dirty="0"/>
              <a:t> con un’</a:t>
            </a:r>
            <a:r>
              <a:rPr lang="it-IT" noProof="0" dirty="0" err="1"/>
              <a:t>ImagePart</a:t>
            </a:r>
            <a:r>
              <a:rPr lang="it-IT" noProof="0" dirty="0"/>
              <a:t>, cioè il bitmap della foto, e una </a:t>
            </a:r>
            <a:r>
              <a:rPr lang="it-IT" noProof="0" dirty="0" err="1"/>
              <a:t>TextPart</a:t>
            </a:r>
            <a:r>
              <a:rPr lang="it-IT" noProof="0" dirty="0"/>
              <a:t> con il prompt.</a:t>
            </a:r>
          </a:p>
          <a:p>
            <a:r>
              <a:rPr lang="it-IT" noProof="0" dirty="0"/>
              <a:t>Temperatura bassa in questo caso, 0.2, perché qui non vogliamo creatività: vogliamo una lista di ingredienti affidabile.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</a:t>
            </a:r>
            <a:r>
              <a:rPr lang="it-IT" noProof="0" dirty="0" err="1"/>
              <a:t>fallback</a:t>
            </a:r>
            <a:r>
              <a:rPr lang="it-IT" noProof="0" dirty="0"/>
              <a:t> non è un messaggio di errore: è un altro motore di rilevamento.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cosa più importante è che lo stesso telefono può rispondere in modo diverso nel tempo.</a:t>
            </a:r>
          </a:p>
          <a:p>
            <a:r>
              <a:rPr lang="it-IT" noProof="0" dirty="0"/>
              <a:t>Oggi il modello non è ancora scaricato, domani sì, dopodomani il sistema lo può rimuovere per liberare spazio.</a:t>
            </a:r>
          </a:p>
          <a:p>
            <a:r>
              <a:rPr lang="it-IT" noProof="0" dirty="0"/>
              <a:t>Quindi quel check non si fa una volta all’avvio: si fa ogni volta.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Bene. Nano risolve il problema sui flagship.</a:t>
            </a:r>
          </a:p>
          <a:p>
            <a:r>
              <a:rPr lang="it-IT" noProof="0" dirty="0"/>
              <a:t>Ma non per tutti gli altri. Quindi torniamo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Capitolo due. Il protagonista: Gemma 4 E2B.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la famiglia open-weights di Google.</a:t>
            </a:r>
          </a:p>
          <a:p>
            <a:r>
              <a:rPr lang="it-IT" noProof="0" dirty="0"/>
              <a:t>Potete pensarla come il fratello scaricabile di Gemini.</a:t>
            </a:r>
          </a:p>
          <a:p>
            <a:r>
              <a:rPr lang="it-IT" noProof="0" dirty="0"/>
              <a:t>I pesi sono vostri: li includete e li distribuite con la vostra app.</a:t>
            </a:r>
          </a:p>
          <a:p>
            <a:r>
              <a:rPr lang="it-IT" noProof="0" dirty="0"/>
              <a:t>Nessuna fatturazione per chiamata,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vuol dire “4 E2B”? Quarta generazione, e 2 miliardi di parametri effettivi.</a:t>
            </a:r>
          </a:p>
          <a:p>
            <a:r>
              <a:rPr lang="it-IT" noProof="0" dirty="0"/>
              <a:t>Quella “E” sta per </a:t>
            </a:r>
            <a:r>
              <a:rPr lang="it-IT" noProof="0" dirty="0" err="1"/>
              <a:t>effective</a:t>
            </a:r>
            <a:r>
              <a:rPr lang="it-IT" noProof="0" dirty="0"/>
              <a:t>: è progettato apposta per i telefoni, con dei trucchi di memoria che gli danno una qualità da modello più grande, ma con un’impronta di RAM da telefono.</a:t>
            </a:r>
          </a:p>
          <a:p>
            <a:r>
              <a:rPr lang="it-IT" noProof="0" dirty="0"/>
              <a:t>Ed è </a:t>
            </a:r>
            <a:r>
              <a:rPr lang="it-IT" noProof="0" dirty="0" err="1"/>
              <a:t>instruction-tuned</a:t>
            </a:r>
            <a:r>
              <a:rPr lang="it-IT" noProof="0" dirty="0"/>
              <a:t>, quindi segue bene le istruzioni.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c’è un vision encoder che alimenta il </a:t>
            </a:r>
            <a:r>
              <a:rPr lang="it-IT" noProof="0" dirty="0" err="1"/>
              <a:t>language</a:t>
            </a:r>
            <a:r>
              <a:rPr lang="it-IT" noProof="0" dirty="0"/>
              <a:t> model.</a:t>
            </a:r>
          </a:p>
          <a:p>
            <a:r>
              <a:rPr lang="it-IT" noProof="0" dirty="0"/>
              <a:t>Quindi sa guardare e sa scrivere.</a:t>
            </a:r>
          </a:p>
          <a:p>
            <a:r>
              <a:rPr lang="it-IT" noProof="0" dirty="0"/>
              <a:t>Esattamente quello che serve a uno scanner per il frigo, e in più può generare anche 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gira tramite </a:t>
            </a:r>
            <a:r>
              <a:rPr lang="it-IT" noProof="0" dirty="0" err="1"/>
              <a:t>LiteRT</a:t>
            </a:r>
            <a:r>
              <a:rPr lang="it-IT" noProof="0" dirty="0"/>
              <a:t>-LM su qualsiasi Android.</a:t>
            </a:r>
          </a:p>
          <a:p>
            <a:r>
              <a:rPr lang="it-IT" noProof="0" dirty="0"/>
              <a:t>Non dipende da quale chip ha 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Un modello, un’integrazione, due compiti: rilevamento e ricette.</a:t>
            </a:r>
          </a:p>
          <a:p>
            <a:r>
              <a:rPr lang="it-IT" noProof="0" dirty="0"/>
              <a:t>Per chi non lo conosce, </a:t>
            </a:r>
            <a:r>
              <a:rPr lang="it-IT" noProof="0" dirty="0" err="1"/>
              <a:t>LiteRT</a:t>
            </a:r>
            <a:r>
              <a:rPr lang="it-IT" noProof="0" dirty="0"/>
              <a:t> è il nuovo nome di </a:t>
            </a:r>
            <a:r>
              <a:rPr lang="it-IT" noProof="0" dirty="0" err="1"/>
              <a:t>TensorFlow</a:t>
            </a:r>
            <a:r>
              <a:rPr lang="it-IT" noProof="0" dirty="0"/>
              <a:t> Lite, e </a:t>
            </a:r>
            <a:r>
              <a:rPr lang="it-IT" noProof="0" dirty="0" err="1"/>
              <a:t>LiteRT</a:t>
            </a:r>
            <a:r>
              <a:rPr lang="it-IT" noProof="0" dirty="0"/>
              <a:t>-LM è la sua estensione pensata apposta per far girare </a:t>
            </a:r>
            <a:r>
              <a:rPr lang="it-IT" noProof="0" dirty="0" err="1"/>
              <a:t>language</a:t>
            </a:r>
            <a:r>
              <a:rPr lang="it-IT" noProof="0" dirty="0"/>
              <a:t> model sul dispositivo: gestisce tokenizzazione, cache, sessioni di conversazione, e sceglie CPU o GPU.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Sembrava l’architettura perfetta.</a:t>
            </a:r>
          </a:p>
          <a:p>
            <a:r>
              <a:rPr lang="it-IT" noProof="0" dirty="0"/>
              <a:t>Vediamo come l’abbiamo usato.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L’approccio era: chiedi all’LLM di guardare, e poi di scrivere.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è, più o meno, il prompt che usavamo. </a:t>
            </a:r>
          </a:p>
          <a:p>
            <a:r>
              <a:rPr lang="it-IT" noProof="0" dirty="0"/>
              <a:t>“Questa è una foto dell’interno di un frigorifero. Identifica gli ingredienti alimentari che vedi, al massimo 15.</a:t>
            </a:r>
          </a:p>
          <a:p>
            <a:r>
              <a:rPr lang="it-IT" noProof="0" dirty="0"/>
              <a:t>Rispondi solo con un array JSON, niente </a:t>
            </a:r>
            <a:r>
              <a:rPr lang="it-IT" noProof="0" dirty="0" err="1"/>
              <a:t>markdown</a:t>
            </a:r>
            <a:r>
              <a:rPr lang="it-IT" noProof="0" dirty="0"/>
              <a:t>, nessun testo extra.” </a:t>
            </a:r>
          </a:p>
          <a:p>
            <a:endParaRPr lang="it-IT" noProof="0" dirty="0"/>
          </a:p>
          <a:p>
            <a:r>
              <a:rPr lang="it-IT" noProof="0" dirty="0"/>
              <a:t>E gli diamo lo schema: nome e quantità approssimativa. E infine: “includi solo gli elementi che vedi davvero”, per limitare le allucinazioni.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mandiamo foto e prompt nella conversazione, prendiamo il testo, facciamo il </a:t>
            </a:r>
            <a:r>
              <a:rPr lang="it-IT" noProof="0" dirty="0" err="1"/>
              <a:t>parsing</a:t>
            </a:r>
            <a:r>
              <a:rPr lang="it-IT" noProof="0" dirty="0"/>
              <a:t> del JSON, e se è malformato riproviamo in silenzio. Ci torneremo, su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Da notare anche il limite di quindici elementi: non è casuale.</a:t>
            </a:r>
          </a:p>
          <a:p>
            <a:r>
              <a:rPr lang="it-IT" noProof="0" dirty="0"/>
              <a:t>Ogni ingrediente in più nella risposta sono token in più da generare, e, come vedremo tra un attimo, i token in uscita costano molto.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affascinante è la nota in basso: il rilevamento diventa un problema di </a:t>
            </a:r>
            <a:r>
              <a:rPr lang="it-IT" noProof="0" dirty="0" err="1"/>
              <a:t>prompting</a:t>
            </a:r>
            <a:r>
              <a:rPr lang="it-IT" noProof="0" dirty="0"/>
              <a:t>.</a:t>
            </a:r>
          </a:p>
          <a:p>
            <a:r>
              <a:rPr lang="it-IT" noProof="0" dirty="0"/>
              <a:t>Nessun dataset da raccogliere, nessun training, nessuna etichettatura. Basta chiedere.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andare storto?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Beh, lo sapete già: 5-10 minuti per scansione. La domanda interessante è: perché?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Perché andava così lento?</a:t>
            </a:r>
          </a:p>
          <a:p>
            <a:r>
              <a:rPr lang="it-IT" noProof="0" dirty="0"/>
              <a:t>Qui c’è il concetto più importante di questo capitolo: il costo a due fasi degli LLM multimodali.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uno: il </a:t>
            </a:r>
            <a:r>
              <a:rPr lang="it-IT" noProof="0" dirty="0" err="1"/>
              <a:t>prefill</a:t>
            </a:r>
            <a:r>
              <a:rPr lang="it-IT" noProof="0" dirty="0"/>
              <a:t>.</a:t>
            </a:r>
          </a:p>
          <a:p>
            <a:r>
              <a:rPr lang="it-IT" noProof="0" dirty="0"/>
              <a:t>Prima di scrivere anche solo una parola, il modello deve leggere tutto l’input.</a:t>
            </a:r>
          </a:p>
          <a:p>
            <a:r>
              <a:rPr lang="it-IT" noProof="0" dirty="0"/>
              <a:t>E la nostra foto non è “un’immagine”: per il modello diventa qualche centinaio di token immagine.</a:t>
            </a:r>
          </a:p>
          <a:p>
            <a:r>
              <a:rPr lang="it-IT" noProof="0" dirty="0"/>
              <a:t>Token che vanno elaborati tutti, prima che compaia qualsiasi output.</a:t>
            </a:r>
          </a:p>
          <a:p>
            <a:r>
              <a:rPr lang="it-IT" noProof="0" dirty="0"/>
              <a:t>Su un telefono di fascia media, già questo da solo è pesante.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due: il </a:t>
            </a:r>
            <a:r>
              <a:rPr lang="it-IT" noProof="0" dirty="0" err="1"/>
              <a:t>decode</a:t>
            </a:r>
            <a:r>
              <a:rPr lang="it-IT" noProof="0" dirty="0"/>
              <a:t>. La risposta viene generata un token alla volta.</a:t>
            </a:r>
          </a:p>
          <a:p>
            <a:r>
              <a:rPr lang="it-IT" noProof="0" dirty="0"/>
              <a:t>E ogni singolo token passa attraverso un modello da due miliardi di parametri.</a:t>
            </a:r>
          </a:p>
          <a:p>
            <a:r>
              <a:rPr lang="it-IT" noProof="0" dirty="0"/>
              <a:t>Un JSON con quindici ingredienti e quantità sono tanti token, e ognuno costa un passaggio completo del modello.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darvi un’idea: sul cloud, su GPU da data center, entrambe le fasi sono talmente veloci che non ci pensate nemmeno.</a:t>
            </a:r>
          </a:p>
          <a:p>
            <a:r>
              <a:rPr lang="it-IT" noProof="0" dirty="0"/>
              <a:t>Sul telefono, con memoria condivisa, limiti termici e una batteria da non prosciugare, ogni token si sente.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Mettete insieme le due fasi, e su un telefono di fascia media ottenete una scansione da 5-10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notate: non è un problema di qualità del modello. Le risposte erano giuste. È l’aritmetica a decidere tra secondi e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Quindi, il consiglio: conoscete questo modello di costo prima di promettere qualsiasi UX multimodale.</a:t>
            </a:r>
          </a:p>
          <a:p>
            <a:r>
              <a:rPr lang="it-IT" noProof="0" dirty="0"/>
              <a:t>Prima di dire al product </a:t>
            </a:r>
            <a:r>
              <a:rPr lang="it-IT" noProof="0" dirty="0" err="1"/>
              <a:t>owner</a:t>
            </a:r>
            <a:r>
              <a:rPr lang="it-IT" noProof="0" dirty="0"/>
              <a:t> “facciamo scattare una foto e l’AI capisce tutto”, fate questo conto.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a quel punto ci siamo fatti la domanda giusta:</a:t>
            </a:r>
          </a:p>
          <a:p>
            <a:r>
              <a:rPr lang="it-IT" noProof="0" dirty="0"/>
              <a:t>Ci serve davvero un modello che scrive, per riconoscere un’arancia?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tre. Il protagonista: MobileCLIP-S2.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Prima cosa da capire: non è un LLM.</a:t>
            </a:r>
          </a:p>
          <a:p>
            <a:r>
              <a:rPr lang="it-IT" noProof="0" dirty="0"/>
              <a:t>Non genera nulla. Misura.</a:t>
            </a:r>
          </a:p>
          <a:p>
            <a:r>
              <a:rPr lang="it-IT" noProof="0" dirty="0"/>
              <a:t>Misura quanto un’immagine corrisponde a una frase.</a:t>
            </a:r>
          </a:p>
          <a:p>
            <a:r>
              <a:rPr lang="it-IT" noProof="0" dirty="0"/>
              <a:t>È un modello della famiglia CLIP, che sta per Contrastive Language–Image Pre-training.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 è la versione mobile di CLIP, realizzata da Apple.</a:t>
            </a:r>
          </a:p>
          <a:p>
            <a:r>
              <a:rPr lang="it-IT" noProof="0" dirty="0"/>
              <a:t>Sì, in un talk Android a una DevFest usiamo un modello di Apple: l’open source è bello anche per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distillato da modelli più grandi, e la variante S2 è il giusto compromesso tra accuratezza e velocità: in zero-shot è accurato come modelli più grandi, ma con una latenza da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 numeri: circa 140 megabyte, input a 256 per 256 pixel, </a:t>
            </a:r>
            <a:r>
              <a:rPr lang="it-IT" noProof="0" dirty="0" err="1"/>
              <a:t>embedding</a:t>
            </a:r>
            <a:r>
              <a:rPr lang="it-IT" noProof="0" dirty="0"/>
              <a:t> a 512 dimensioni.</a:t>
            </a:r>
          </a:p>
          <a:p>
            <a:r>
              <a:rPr lang="it-IT" noProof="0" dirty="0"/>
              <a:t>Minuscolo, accanto a un LLM da 2 miliardi di parametri, e soprattutto con un profilo di costo completamente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“zero-shot” è la parola chiave: significa che il modello riconosce categorie su cui non è mai stato addestrato esplicitamente.</a:t>
            </a:r>
          </a:p>
          <a:p>
            <a:r>
              <a:rPr lang="it-IT" noProof="0" dirty="0"/>
              <a:t>Non abbiamo fatto nessun fine-tuning sugli ingredienti.</a:t>
            </a:r>
          </a:p>
          <a:p>
            <a:r>
              <a:rPr lang="it-IT" noProof="0" dirty="0"/>
              <a:t>Non abbiamo raccolto nemmeno una foto di frigo.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Pesi aperti, si esporta senza problemi in </a:t>
            </a:r>
            <a:r>
              <a:rPr lang="it-IT" noProof="0" dirty="0" err="1"/>
              <a:t>LiteRT</a:t>
            </a:r>
            <a:r>
              <a:rPr lang="it-IT" noProof="0" dirty="0"/>
              <a:t>, e gira su qualsiasi telefono Android.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sì che può essere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L’intuizione chiave è questa: il riconoscimento non richiede un modello che scrive, ma un modello che confronta.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Come funziona CLIP?</a:t>
            </a:r>
          </a:p>
          <a:p>
            <a:r>
              <a:rPr lang="it-IT" noProof="0" dirty="0"/>
              <a:t>Sono due piccoli encoder: uno per le immagini, uno per il testo.</a:t>
            </a:r>
          </a:p>
          <a:p>
            <a:r>
              <a:rPr lang="it-IT" noProof="0" dirty="0"/>
              <a:t>Sono stati addestrati su milioni di coppie immagine–didascalia, in modo che una foto e la frase che la descrive finiscano vicine nello stesso spazio vettoriale.</a:t>
            </a:r>
          </a:p>
          <a:p>
            <a:r>
              <a:rPr lang="it-IT" noProof="0" dirty="0"/>
              <a:t>La foto di un’arancia e la frase “una foto di un’arancia” diventano due vettori che puntano più o meno nella stessa direzione.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la domanda “è un’arancia?” diventa una similarità del coseno.</a:t>
            </a:r>
          </a:p>
          <a:p>
            <a:r>
              <a:rPr lang="it-IT" noProof="0" dirty="0"/>
              <a:t>Prendo il vettore dell’immagine, prendo il vettore della frase, faccio un prodotto scalare.</a:t>
            </a:r>
          </a:p>
          <a:p>
            <a:r>
              <a:rPr lang="it-IT" noProof="0" dirty="0"/>
              <a:t>Il riconoscimento diventa geometria.</a:t>
            </a:r>
          </a:p>
          <a:p>
            <a:r>
              <a:rPr lang="it-IT" noProof="0" dirty="0"/>
              <a:t>Un prodotto scalare, e non un paragrafo generato.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della similarità del coseno è che è un numero: da meno uno a uno.</a:t>
            </a:r>
          </a:p>
          <a:p>
            <a:r>
              <a:rPr lang="it-IT" noProof="0" dirty="0"/>
              <a:t>Possiamo mettere una soglia, ordinare i risultati, scartare quelli poco convinti.</a:t>
            </a:r>
          </a:p>
          <a:p>
            <a:r>
              <a:rPr lang="it-IT" noProof="0" dirty="0"/>
              <a:t>Niente JSON da </a:t>
            </a:r>
            <a:r>
              <a:rPr lang="it-IT" noProof="0" dirty="0" err="1"/>
              <a:t>parsare</a:t>
            </a:r>
            <a:r>
              <a:rPr lang="it-IT" noProof="0" dirty="0"/>
              <a:t>, niente allucinazioni in forma di testo: al massimo un punteggio basso.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Ora ripensate alle due fasi di prima.</a:t>
            </a:r>
          </a:p>
          <a:p>
            <a:r>
              <a:rPr lang="it-IT" noProof="0" dirty="0"/>
              <a:t>Qui non c’è </a:t>
            </a:r>
            <a:r>
              <a:rPr lang="it-IT" noProof="0" dirty="0" err="1"/>
              <a:t>decode</a:t>
            </a:r>
            <a:r>
              <a:rPr lang="it-IT" noProof="0" dirty="0"/>
              <a:t>: non genero nessun token.</a:t>
            </a:r>
          </a:p>
          <a:p>
            <a:r>
              <a:rPr lang="it-IT" noProof="0" dirty="0"/>
              <a:t>Non c’è un </a:t>
            </a:r>
            <a:r>
              <a:rPr lang="it-IT" noProof="0" dirty="0" err="1"/>
              <a:t>prefill</a:t>
            </a:r>
            <a:r>
              <a:rPr lang="it-IT" noProof="0" dirty="0"/>
              <a:t> da centinaia di token attraverso due miliardi di parametri.</a:t>
            </a:r>
          </a:p>
          <a:p>
            <a:r>
              <a:rPr lang="it-IT" noProof="0" dirty="0"/>
              <a:t>C’è solo un encoder da circa 140 mega che guarda la foto. Fine.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gira su </a:t>
            </a:r>
            <a:r>
              <a:rPr lang="it-IT" noProof="0" dirty="0" err="1"/>
              <a:t>LiteRT</a:t>
            </a:r>
            <a:r>
              <a:rPr lang="it-IT" noProof="0" dirty="0"/>
              <a:t>, su qualsiasi telefono Android, senza nessun ciclo di </a:t>
            </a:r>
            <a:r>
              <a:rPr lang="it-IT" noProof="0" dirty="0" err="1"/>
              <a:t>decode</a:t>
            </a:r>
            <a:r>
              <a:rPr lang="it-IT" noProof="0" dirty="0"/>
              <a:t>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C’è però una domanda ovvia: se il modello confronta un’immagine con delle frasi… quali frasi? Da dove arrivano?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Ed ecco il trucco: il vocabolario l’abbiamo costruito noi.</a:t>
            </a:r>
          </a:p>
          <a:p>
            <a:r>
              <a:rPr lang="it-IT" noProof="0" dirty="0"/>
              <a:t>Ed è un file di testo.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chiama </a:t>
            </a:r>
            <a:r>
              <a:rPr lang="it-IT" noProof="0" dirty="0" err="1"/>
              <a:t>ingredient_labels.txt</a:t>
            </a:r>
            <a:r>
              <a:rPr lang="it-IT" noProof="0" dirty="0"/>
              <a:t>, e contiene più di ottocento etichette di ingredienti, curate a mano.</a:t>
            </a:r>
          </a:p>
          <a:p>
            <a:r>
              <a:rPr lang="it-IT" noProof="0" dirty="0"/>
              <a:t>Arancia. Fragola. Banana.</a:t>
            </a:r>
          </a:p>
          <a:p>
            <a:r>
              <a:rPr lang="it-IT" noProof="0" dirty="0"/>
              <a:t>E guardate la terza riga: “latte senza lattosio, pipe, latte”. A sinistra c’è l’etichetta specifica, quella che usiamo per il match; a destra quella semplice, che mostriamo all’utente. Così il modello riconosce il cartone di latte intero, ma nella dispensa vedete solo “latte”.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trucco risolve un problema molto concreto: CLIP ragiona meglio con descrizioni specifiche, ma per le ricette è meglio una dispensa pulita, non “cartone di latte intero parzialmente scremato”.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Poi: gli </a:t>
            </a:r>
            <a:r>
              <a:rPr lang="it-IT" noProof="0" dirty="0" err="1"/>
              <a:t>embedding</a:t>
            </a:r>
            <a:r>
              <a:rPr lang="it-IT" noProof="0" dirty="0"/>
              <a:t> del testo li calcoliamo offline, su un laptop, una volta sola.</a:t>
            </a:r>
          </a:p>
          <a:p>
            <a:r>
              <a:rPr lang="it-IT" noProof="0" dirty="0"/>
              <a:t>Per ogni etichetta usiamo quattro template, tipo “una foto di un’arancia”, e facciamo la media dei vettori, che rende il risultato più robusto.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risultato sono circa 4,5 megabyte di vettori, inclusi nell’APK.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c’è il punto chiave: siccome le etichette non cambiano a </a:t>
            </a:r>
            <a:r>
              <a:rPr lang="it-IT" noProof="0" dirty="0" err="1"/>
              <a:t>runtime</a:t>
            </a:r>
            <a:r>
              <a:rPr lang="it-IT" noProof="0" dirty="0"/>
              <a:t>, non ha senso far girare il text encoder sul telefono. Lo lasciamo sul laptop.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sul telefono gira solo l’image encoder.</a:t>
            </a:r>
          </a:p>
          <a:p>
            <a:r>
              <a:rPr lang="it-IT" noProof="0" dirty="0"/>
              <a:t>Il flusso è: ritagliamo la foto in tanti </a:t>
            </a:r>
            <a:r>
              <a:rPr lang="it-IT" noProof="0" dirty="0" err="1"/>
              <a:t>crop</a:t>
            </a:r>
            <a:r>
              <a:rPr lang="it-IT" noProof="0" dirty="0"/>
              <a:t>, a due scale diverse, calcoliamo l’</a:t>
            </a:r>
            <a:r>
              <a:rPr lang="it-IT" noProof="0" dirty="0" err="1"/>
              <a:t>embedding</a:t>
            </a:r>
            <a:r>
              <a:rPr lang="it-IT" noProof="0" dirty="0"/>
              <a:t> di ogni </a:t>
            </a:r>
            <a:r>
              <a:rPr lang="it-IT" noProof="0" dirty="0" err="1"/>
              <a:t>crop</a:t>
            </a:r>
            <a:r>
              <a:rPr lang="it-IT" noProof="0" dirty="0"/>
              <a:t>, confrontiamo col coseno contro tutte le etichette, e vincono le corrispondenze migliori, sopra una soglia di confidenza.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un dettaglio furbo: nel file ci sono anche alcune etichette “distrattore”, che non sono cibo.</a:t>
            </a:r>
          </a:p>
          <a:p>
            <a:r>
              <a:rPr lang="it-IT" noProof="0" dirty="0"/>
              <a:t>Servono ad assorbire i </a:t>
            </a:r>
            <a:r>
              <a:rPr lang="it-IT" noProof="0" dirty="0" err="1"/>
              <a:t>crop</a:t>
            </a:r>
            <a:r>
              <a:rPr lang="it-IT" noProof="0" dirty="0"/>
              <a:t> vuoti, lo scaffale, la mensola, così non diventano un ingrediente.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bella è questa: il “classificatore” è un file di testo modificabile.</a:t>
            </a:r>
          </a:p>
          <a:p>
            <a:r>
              <a:rPr lang="it-IT" noProof="0" dirty="0"/>
              <a:t>Vuoi aggiungere un ingrediente? Aggiungi una riga, rigeneri i vettori, fatto. Nessun dataset, nessun training.</a:t>
            </a:r>
          </a:p>
          <a:p>
            <a:endParaRPr lang="it-IT" noProof="0" dirty="0"/>
          </a:p>
          <a:p>
            <a:r>
              <a:rPr lang="it-IT" noProof="0" dirty="0"/>
              <a:t>E il risultato?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Stesso telefono. Stessa foto del frigo.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r>
              <a:rPr lang="it-IT" noProof="0" dirty="0"/>
              <a:t>Minuti… diventano secondi.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abbiamo cambiato telefono. Non abbiamo comprato un chip nuovo.</a:t>
            </a:r>
          </a:p>
          <a:p>
            <a:r>
              <a:rPr lang="it-IT" noProof="0" dirty="0"/>
              <a:t>Non abbiamo quantizzato fino all’osso l’LLM.</a:t>
            </a:r>
          </a:p>
          <a:p>
            <a:r>
              <a:rPr lang="it-IT" noProof="0" dirty="0"/>
              <a:t>Abbiamo cambiato la classe di modello.</a:t>
            </a:r>
          </a:p>
          <a:p>
            <a:r>
              <a:rPr lang="it-IT" noProof="0" dirty="0"/>
              <a:t>Abbiamo smesso di chiedere a un modello generativo di fare un lavoro di confronto.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è che il vecchio approccio non l’abbiamo buttato: la qualità dell’LLM per il rilevamento era ottima, ma MobileCLIP ci dà una qualità comparabile in una frazione del tempo, su qualsiasi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Ed è la lezione più importante di tutto il talk: prima di ottimizzare il modello, chiedetevi se è il modello giusto per quel compito.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a questo punto avevamo 2,6 gigabyte di Gemma sul telefono, e nessun lavoro da fargli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quattro. Il protagonista: Gemma, il ritorno.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Sono gli stessi 2,6 gigabyte che avevamo già sul telefono.</a:t>
            </a:r>
          </a:p>
          <a:p>
            <a:r>
              <a:rPr lang="it-IT" noProof="0" dirty="0"/>
              <a:t>Ma ora fa il lavoro per cui è stato costruito.</a:t>
            </a:r>
          </a:p>
          <a:p>
            <a:r>
              <a:rPr lang="it-IT" noProof="0" dirty="0"/>
              <a:t>Lo avevamo messo in panchina per la percezione, ma non l’abbiamo mai disinstallato.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differenza è che stavolta lavora solo con il testo.</a:t>
            </a:r>
          </a:p>
          <a:p>
            <a:r>
              <a:rPr lang="it-IT" noProof="0" dirty="0"/>
              <a:t>Niente foto, niente token immagine, niente </a:t>
            </a:r>
            <a:r>
              <a:rPr lang="it-IT" noProof="0" dirty="0" err="1"/>
              <a:t>prefill</a:t>
            </a:r>
            <a:r>
              <a:rPr lang="it-IT" noProof="0" dirty="0"/>
              <a:t> enorme.</a:t>
            </a:r>
          </a:p>
          <a:p>
            <a:r>
              <a:rPr lang="it-IT" noProof="0" dirty="0"/>
              <a:t>L’input è una breve lista di ingredienti: “uova, zucchine, pomodori, Parmigiano”.</a:t>
            </a:r>
          </a:p>
          <a:p>
            <a:r>
              <a:rPr lang="it-IT" noProof="0" dirty="0"/>
              <a:t>Quindi il costo a due fasi, che prima ci aveva ucciso, adesso gioca a nostro favore: </a:t>
            </a:r>
            <a:r>
              <a:rPr lang="it-IT" noProof="0" dirty="0" err="1"/>
              <a:t>prefill</a:t>
            </a:r>
            <a:r>
              <a:rPr lang="it-IT" noProof="0" dirty="0"/>
              <a:t> minuscolo, e </a:t>
            </a:r>
            <a:r>
              <a:rPr lang="it-IT" noProof="0" dirty="0" err="1"/>
              <a:t>decode</a:t>
            </a:r>
            <a:r>
              <a:rPr lang="it-IT" noProof="0" dirty="0"/>
              <a:t> che produce proprio quello che vogliamo.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la generazione </a:t>
            </a:r>
            <a:r>
              <a:rPr lang="it-IT" noProof="0" dirty="0" err="1"/>
              <a:t>instruction-tuned</a:t>
            </a:r>
            <a:r>
              <a:rPr lang="it-IT" noProof="0" dirty="0"/>
              <a:t> ha senso, perché le ricette sono testo nuovo.</a:t>
            </a:r>
          </a:p>
          <a:p>
            <a:r>
              <a:rPr lang="it-IT" noProof="0" dirty="0"/>
              <a:t>Sono inventate sul momento.</a:t>
            </a:r>
          </a:p>
          <a:p>
            <a:r>
              <a:rPr lang="it-IT" noProof="0" dirty="0"/>
              <a:t>È l’unico compito nell’app che nessun confronto, nessun vocabolario, nessun </a:t>
            </a:r>
            <a:r>
              <a:rPr lang="it-IT" noProof="0" dirty="0" err="1"/>
              <a:t>lookup</a:t>
            </a:r>
            <a:r>
              <a:rPr lang="it-IT" noProof="0" dirty="0"/>
              <a:t> potrebbe mai svolgere.</a:t>
            </a:r>
          </a:p>
          <a:p>
            <a:r>
              <a:rPr lang="it-IT" noProof="0" dirty="0"/>
              <a:t>Ma per cui serve necessariamente un LLM.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altro vantaggio: per le ricette la creatività serve.</a:t>
            </a:r>
          </a:p>
          <a:p>
            <a:r>
              <a:rPr lang="it-IT" noProof="0" dirty="0"/>
              <a:t>Qui possiamo alzare un po’ la temperatura, lasciare che il modello proponga abbinamenti che non ci aspettavamo.</a:t>
            </a:r>
          </a:p>
          <a:p>
            <a:r>
              <a:rPr lang="it-IT" noProof="0" dirty="0"/>
              <a:t>Nel rilevamento la creatività era un difetto; qui diventa il prodotto.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Gira tramite </a:t>
            </a:r>
            <a:r>
              <a:rPr lang="it-IT" noProof="0" dirty="0" err="1"/>
              <a:t>LiteRT</a:t>
            </a:r>
            <a:r>
              <a:rPr lang="it-IT" noProof="0" dirty="0"/>
              <a:t>-LM, con la GPU come prima scelta.</a:t>
            </a:r>
          </a:p>
          <a:p>
            <a:r>
              <a:rPr lang="it-IT" noProof="0" dirty="0"/>
              <a:t>E siccome le GPU dei telefoni Android sono un mondo variegato, se la GPU si blocca o dà errore, l’app se ne accorge, passa alla CPU e se lo ricorda per le volte successive.</a:t>
            </a:r>
          </a:p>
          <a:p>
            <a:r>
              <a:rPr lang="it-IT" noProof="0" dirty="0"/>
              <a:t>E </a:t>
            </a:r>
            <a:r>
              <a:rPr lang="it-IT" noProof="0" dirty="0" err="1"/>
              <a:t>LiteRT</a:t>
            </a:r>
            <a:r>
              <a:rPr lang="it-IT" noProof="0" dirty="0"/>
              <a:t>-LM supporta anche lo streaming della risposta, token per token.</a:t>
            </a:r>
          </a:p>
          <a:p>
            <a:r>
              <a:rPr lang="it-IT" noProof="0" dirty="0"/>
              <a:t>Lato UX, questo cambia tutto.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Le ricette sono creazione, non riconoscimento.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Passare da un inventario a delle idee per la cena è esattamente il motivo per cui esistono i modelli generativi.</a:t>
            </a:r>
          </a:p>
          <a:p>
            <a:r>
              <a:rPr lang="it-IT" noProof="0" dirty="0"/>
              <a:t>Nessun vocabolario chiuso può farlo.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Tre accorgimenti che ci hanno salvato.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Primo: </a:t>
            </a:r>
            <a:r>
              <a:rPr lang="it-IT" noProof="0" dirty="0" err="1"/>
              <a:t>prompting</a:t>
            </a:r>
            <a:r>
              <a:rPr lang="it-IT" noProof="0" dirty="0"/>
              <a:t> a due stadi.</a:t>
            </a:r>
          </a:p>
          <a:p>
            <a:r>
              <a:rPr lang="it-IT" noProof="0" dirty="0"/>
              <a:t>Prima chiediamo una lista di cinque ricette, con titolo, tempo, difficoltà e ingredienti usati, ma senza procedimento.</a:t>
            </a:r>
          </a:p>
          <a:p>
            <a:r>
              <a:rPr lang="it-IT" noProof="0" dirty="0"/>
              <a:t>Poi, solo quando l’utente ne apre una, generiamo passaggi e varianti.</a:t>
            </a:r>
          </a:p>
          <a:p>
            <a:r>
              <a:rPr lang="it-IT" noProof="0" dirty="0"/>
              <a:t>Prompt più corti, output più corti, meno attesa.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Secondo: </a:t>
            </a:r>
            <a:r>
              <a:rPr lang="it-IT" noProof="0" dirty="0" err="1"/>
              <a:t>parsing</a:t>
            </a:r>
            <a:r>
              <a:rPr lang="it-IT" noProof="0" dirty="0"/>
              <a:t> JSON difensivo con </a:t>
            </a:r>
            <a:r>
              <a:rPr lang="it-IT" noProof="0" dirty="0" err="1"/>
              <a:t>retry</a:t>
            </a:r>
            <a:r>
              <a:rPr lang="it-IT" noProof="0" dirty="0"/>
              <a:t> silenziosi.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È facile che i modelli piccoli rompano i contratti di formato: una virgola di troppo, un blocco </a:t>
            </a:r>
            <a:r>
              <a:rPr lang="it-IT" noProof="0" dirty="0" err="1"/>
              <a:t>markdown</a:t>
            </a:r>
            <a:r>
              <a:rPr lang="it-IT" noProof="0" dirty="0"/>
              <a:t> attorno al JSON, una frase di cortesia prima della risposta.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Non è un bug raro: è il comportamento normale.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Quindi prevedetelo, non scusatevi con l’utente.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pratica: togliamo i blocchi </a:t>
            </a:r>
            <a:r>
              <a:rPr lang="it-IT" noProof="0" dirty="0" err="1"/>
              <a:t>markdown</a:t>
            </a:r>
            <a:r>
              <a:rPr lang="it-IT" noProof="0" dirty="0"/>
              <a:t>, estraiamo tutti gli oggetti JSON che troviamo, accettiamo anche nomi dei campi scritti in modo diverso, e se una sola ricetta è rotta scartiamo quella, non tutta la lista.</a:t>
            </a:r>
          </a:p>
          <a:p>
            <a:r>
              <a:rPr lang="it-IT" noProof="0" dirty="0"/>
              <a:t>E se proprio non c’è niente di valido, riproviamo, fino a quattro volte, prima di mostrare un errore all’utente.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senza foto, la generazione solo testo va a 15–25 token al secondo.</a:t>
            </a:r>
          </a:p>
          <a:p>
            <a:r>
              <a:rPr lang="it-IT" noProof="0" dirty="0"/>
              <a:t>E siccome la lista è leggera, e i passaggi li generiamo solo per la ricetta che aprite, l’attesa resta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cinque: la distribuzione.</a:t>
            </a:r>
          </a:p>
          <a:p>
            <a:r>
              <a:rPr lang="it-IT" noProof="0" dirty="0"/>
              <a:t>Perché avere tre modelli è bello, ma poi bisogna farli arrivare sul telefono.</a:t>
            </a:r>
          </a:p>
          <a:p>
            <a:r>
              <a:rPr lang="it-IT" noProof="0" dirty="0"/>
              <a:t>E ogni modello viaggia in modo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Nano: zero megabyte. Lo gestisce AICore. Nel nostro APK c’è solo un prompt.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MobileCLIP-S2: circa 140 megabyte.</a:t>
            </a:r>
          </a:p>
          <a:p>
            <a:r>
              <a:rPr lang="it-IT" noProof="0" dirty="0"/>
              <a:t>Lo includiamo nell’APK come qualsiasi altro asset.</a:t>
            </a:r>
          </a:p>
          <a:p>
            <a:r>
              <a:rPr lang="it-IT" noProof="0" dirty="0"/>
              <a:t>Questo ha un vantaggio enorme: il rilevamento funziona subito dopo l’installazione, anche offline, anche al primo avvio.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Gemma: 2,6 gigabyte di pesi.</a:t>
            </a:r>
          </a:p>
          <a:p>
            <a:r>
              <a:rPr lang="it-IT" noProof="0" dirty="0"/>
              <a:t>Troppo grande per qualsiasi APK da pubblicare sul Play Store.</a:t>
            </a:r>
          </a:p>
          <a:p>
            <a:r>
              <a:rPr lang="it-IT" noProof="0" dirty="0"/>
              <a:t>E l’alternativa, scrivere a mano un </a:t>
            </a:r>
            <a:r>
              <a:rPr lang="it-IT" noProof="0" dirty="0" err="1"/>
              <a:t>downloader</a:t>
            </a:r>
            <a:r>
              <a:rPr lang="it-IT" noProof="0" dirty="0"/>
              <a:t> riprendibile, che gestisca rete che cade, spazio che finisce, integrità dei file, aggiornamenti, è un progetto a sé.</a:t>
            </a:r>
          </a:p>
          <a:p>
            <a:r>
              <a:rPr lang="it-IT" noProof="0" dirty="0"/>
              <a:t>E noi non volevamo che la nostra app non scaricasse niente da internet.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anche un tema di esperienza utente: non potete chiedere a qualcuno di scaricare 2,6 giga al primo avvio, magari in 4G.</a:t>
            </a:r>
          </a:p>
          <a:p>
            <a:r>
              <a:rPr lang="it-IT" noProof="0" dirty="0"/>
              <a:t>Ecco perché il rilevamento deve funzionare subito, e le ricette possono arrivare un po’ dopo.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soluzione sono gli AI pack tramite Play for On-device AI.</a:t>
            </a:r>
          </a:p>
          <a:p>
            <a:r>
              <a:rPr lang="it-IT" noProof="0" dirty="0"/>
              <a:t>Impacchettate il modello come un AI pack, e Google Play si occupa della consegna, esattamente come fa con l’app.</a:t>
            </a:r>
          </a:p>
          <a:p>
            <a:r>
              <a:rPr lang="it-IT" noProof="0" dirty="0"/>
              <a:t>La distribuzione smette di essere un problema vostro.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potete scegliere quando consegnarlo: all’installazione, in modalità fast-follow, cioè subito dopo l’installazione, in background, oppure on demand.</a:t>
            </a:r>
          </a:p>
          <a:p>
            <a:r>
              <a:rPr lang="it-IT" noProof="0" dirty="0"/>
              <a:t>Noi usiamo fast-follow.</a:t>
            </a:r>
          </a:p>
          <a:p>
            <a:r>
              <a:rPr lang="it-IT" noProof="0" dirty="0"/>
              <a:t>E siccome Play ha un limite di dimensione per singolo pack, abbiamo diviso Gemma in tre AI pack: al primo avvio l’app li riassembla nel modello, e poi i pack vengono rimossi per non occupare spazio 2 volte.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ora, rimettiamo insieme i pezzi.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Ecco il quadro completo: 3 modelli, 3 compiti, un’app.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l’acceleratore.</a:t>
            </a:r>
          </a:p>
          <a:p>
            <a:r>
              <a:rPr lang="it-IT" noProof="0" dirty="0"/>
              <a:t>Rilevamento multimodale gratuito sui flagship, sempre protetto da checkStatus().</a:t>
            </a:r>
          </a:p>
          <a:p>
            <a:r>
              <a:rPr lang="it-IT" noProof="0" dirty="0"/>
              <a:t>Se c’è, lo usiamo. Se non c’è, nessun problema.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è la base.</a:t>
            </a:r>
          </a:p>
          <a:p>
            <a:r>
              <a:rPr lang="it-IT" noProof="0" dirty="0"/>
              <a:t>Rilevamento zero-shot in pochi secondi, su ogni telefono.</a:t>
            </a:r>
          </a:p>
          <a:p>
            <a:r>
              <a:rPr lang="it-IT" noProof="0" dirty="0"/>
              <a:t>È la base sotto cui l’esperienza non scende mai.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il creatore.</a:t>
            </a:r>
          </a:p>
          <a:p>
            <a:r>
              <a:rPr lang="it-IT" noProof="0" dirty="0"/>
              <a:t>Ricette generate on-device: l’unico compito che solo un LLM sa fare.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quarto elemento, che è forse il più importante lato architettura: una sola interfaccia nel codice.</a:t>
            </a:r>
          </a:p>
          <a:p>
            <a:r>
              <a:rPr lang="it-IT" noProof="0" dirty="0"/>
              <a:t>Tutti i motori di rilevamento implementano lo stesso contratto.</a:t>
            </a:r>
          </a:p>
          <a:p>
            <a:r>
              <a:rPr lang="it-IT" noProof="0" dirty="0"/>
              <a:t>La UI non sa mai quale motore ha risposto. Non le interessa.</a:t>
            </a:r>
          </a:p>
          <a:p>
            <a:r>
              <a:rPr lang="it-IT" noProof="0" dirty="0"/>
              <a:t>Oggi risponde Nano, domani MobileCLIP, e l’utente vede sempre la stessa esperienza.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 è un pattern che conosciamo benissimo: un’interfaccia, più implementazioni, e una piccola strategia che sceglie a </a:t>
            </a:r>
            <a:r>
              <a:rPr lang="it-IT" noProof="0" dirty="0" err="1"/>
              <a:t>runtime</a:t>
            </a:r>
            <a:r>
              <a:rPr lang="it-IT" noProof="0" dirty="0"/>
              <a:t> la migliore disponibile.</a:t>
            </a:r>
          </a:p>
          <a:p>
            <a:r>
              <a:rPr lang="it-IT" noProof="0" dirty="0"/>
              <a:t>Prima provo Nano; se checkStatus() dice di no, uso MobileCLIP.</a:t>
            </a:r>
          </a:p>
          <a:p>
            <a:r>
              <a:rPr lang="it-IT" noProof="0" dirty="0"/>
              <a:t>Niente di magico: buona architettura Android, applicata all’AI.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permette di aggiungere, togliere o sostituire modelli senza toccare una riga di UI.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Chiudiamo con quello che vorremmo vi portaste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3 punti chiave.</a:t>
            </a:r>
          </a:p>
          <a:p>
            <a:endParaRPr lang="it-IT" noProof="0" dirty="0"/>
          </a:p>
          <a:p>
            <a:r>
              <a:rPr lang="it-IT" noProof="0" dirty="0"/>
              <a:t>1: il modello giusto prima del modello veloce.</a:t>
            </a:r>
          </a:p>
          <a:p>
            <a:r>
              <a:rPr lang="it-IT" noProof="0" dirty="0"/>
              <a:t>Riconoscere è confrontare, scrivere è generare.</a:t>
            </a:r>
          </a:p>
          <a:p>
            <a:r>
              <a:rPr lang="it-IT" noProof="0" dirty="0"/>
              <a:t>Scegliere quello giusto è la differenza tra secondi e minuti.</a:t>
            </a:r>
          </a:p>
          <a:p>
            <a:r>
              <a:rPr lang="it-IT" noProof="0" dirty="0"/>
              <a:t>E a volte il classificatore più economico di sempre è un file di testo: </a:t>
            </a:r>
            <a:r>
              <a:rPr lang="it-IT" noProof="0" dirty="0" err="1"/>
              <a:t>embedding</a:t>
            </a:r>
            <a:r>
              <a:rPr lang="it-IT" noProof="0" dirty="0"/>
              <a:t> delle etichette calcolati offline, zero training, zero infrastruttura.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2: l’AI di piattaforma è un upgrade, non la base.</a:t>
            </a:r>
          </a:p>
          <a:p>
            <a:r>
              <a:rPr lang="it-IT" noProof="0" dirty="0"/>
              <a:t>Controllate checkStatus() a ogni chiamata, perché la disponibilità di Nano cambia a </a:t>
            </a:r>
            <a:r>
              <a:rPr lang="it-IT" noProof="0" dirty="0" err="1"/>
              <a:t>runtime</a:t>
            </a:r>
            <a:r>
              <a:rPr lang="it-IT" noProof="0" dirty="0"/>
              <a:t>.</a:t>
            </a:r>
          </a:p>
          <a:p>
            <a:r>
              <a:rPr lang="it-IT" noProof="0" dirty="0"/>
              <a:t>E sotto tenete sempre un </a:t>
            </a:r>
            <a:r>
              <a:rPr lang="it-IT" noProof="0" dirty="0" err="1"/>
              <a:t>fallback</a:t>
            </a:r>
            <a:r>
              <a:rPr lang="it-IT" noProof="0" dirty="0"/>
              <a:t> vero: un altro motore, non un messaggio di errore.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3: fate i conti prima di promettere.</a:t>
            </a:r>
          </a:p>
          <a:p>
            <a:r>
              <a:rPr lang="it-IT" noProof="0" dirty="0"/>
              <a:t>Token in uscita, giga di RAM, giga da distribuire.</a:t>
            </a:r>
          </a:p>
          <a:p>
            <a:r>
              <a:rPr lang="it-IT" noProof="0" dirty="0"/>
              <a:t>È quell’aritmetica che decide se la vostra feature ci mette secondi o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Tutti questi punti non valgono solo per un’app di ricette.</a:t>
            </a:r>
          </a:p>
          <a:p>
            <a:r>
              <a:rPr lang="it-IT" noProof="0" dirty="0"/>
              <a:t>Valgono per qualsiasi feature AI on-device: scansione di documenti, riconoscimento di prodotti, assistenti nelle app.</a:t>
            </a:r>
          </a:p>
          <a:p>
            <a:r>
              <a:rPr lang="it-IT" noProof="0" dirty="0"/>
              <a:t>Il pattern è sempre lo stesso: percezione economica come base, generazione dove serve davvero, e piattaforma come upgrade.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se proprio dovete ricordarvi una sola cosa: prima di chiedervi come rendere un modello più veloce, chiedetevi se è il modello giusto.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Aspettate, non è finita.</a:t>
            </a:r>
          </a:p>
          <a:p>
            <a:r>
              <a:rPr lang="it-IT" noProof="0" dirty="0"/>
              <a:t>Avevamo detto cinque capitoli… ma martedì 6 ottobre (4 giorni fa) Google DeepMind ha rilasciato EmbeddingGemma 2, e non potevamo non parlarne.</a:t>
            </a:r>
          </a:p>
          <a:p>
            <a:r>
              <a:rPr lang="it-IT" noProof="0" dirty="0"/>
              <a:t>Quindi: capitolo bonus, il sesto, la scena dopo i titoli di coda.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EmbeddingGemma 2 è il nuovo modello di embedding open di Google, costruito su Gemma 4 e pensato per girare sul telefono.</a:t>
            </a:r>
          </a:p>
          <a:p>
            <a:r>
              <a:rPr lang="it-IT" noProof="0" dirty="0"/>
              <a:t>Come MobileCLIP, non è un LLM: non scrive niente.</a:t>
            </a:r>
          </a:p>
          <a:p>
            <a:r>
              <a:rPr lang="it-IT" noProof="0" dirty="0"/>
              <a:t>Trasforma testo, immagini, audio e video in vettori di 768 numeri, tutti nello stesso spazio.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la foto dei pomodori finisce vicino alla parola “pomodori”.</a:t>
            </a:r>
          </a:p>
          <a:p>
            <a:r>
              <a:rPr lang="it-IT" noProof="0" dirty="0"/>
              <a:t>È esattamente il trucco del capitolo 3: calcoliamo una volta i vettori delle etichette, sul telefono calcoliamo solo quello della foto, e vince l’etichetta più vicina.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dare al nostro scanner?</a:t>
            </a:r>
          </a:p>
          <a:p>
            <a:r>
              <a:rPr lang="it-IT" noProof="0" dirty="0"/>
              <a:t>Primo: capisce oltre 100 lingue, quindi le etichette le possiamo scrivere direttamente in italiano. MobileCLIP le capisce solo in inglese.</a:t>
            </a:r>
          </a:p>
          <a:p>
            <a:r>
              <a:rPr lang="it-IT" noProof="0" dirty="0"/>
              <a:t>Secondo: oggi il vocabolario sta dentro l’app. I vettori delle etichette li calcoliamo prima, sul computer, perché sul telefono MobileCLIP ha solo la parte che guarda le foto: per aggiungere un ingrediente serve una nuova versione dell’app.</a:t>
            </a:r>
          </a:p>
          <a:p>
            <a:r>
              <a:rPr lang="it-IT" noProof="0" dirty="0"/>
              <a:t>EmbeddingGemma invece sul telefono ha anche la parte testo. Quindi l’app potrebbe calcolare da sola il vettore di un ingrediente nuovo, per esempio uno che aggiungete a mano alla dispensa, e riconoscerlo già dalla foto dopo, senza aspettare un aggiornamento.</a:t>
            </a:r>
          </a:p>
          <a:p>
            <a:r>
              <a:rPr lang="it-IT" noProof="0" dirty="0"/>
              <a:t>Il vocabolario potrebbe crescere insieme alla vostra dispensa.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la licenza. È Apache 2.0, quindi si può usare in un prodotto, mentre i pesi di MobileCLIP sono solo per la ricerca.</a:t>
            </a:r>
          </a:p>
          <a:p>
            <a:r>
              <a:rPr lang="it-IT" noProof="0" dirty="0"/>
              <a:t>E gira su LiteRT-LM, lo stesso motore che usiamo già per Gemma.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L’abbiamo provato sulle foto della demo: riconosce già i nostri ingredienti.</a:t>
            </a:r>
          </a:p>
          <a:p>
            <a:r>
              <a:rPr lang="it-IT" noProof="0" dirty="0"/>
              <a:t>Per ora, su un Pixel 7, è più lento di MobileCLIP: circa 40 secondi foto, contro circa 20.</a:t>
            </a:r>
          </a:p>
          <a:p>
            <a:r>
              <a:rPr lang="it-IT" noProof="0" dirty="0"/>
              <a:t>Ma è uscito martedì: diamogli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Pantry è open source: lo trovate su GitHub, al link che vedete qui, github.com/MatriscianoSalvatore/ai-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DevFest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it-IT" noProof="0" dirty="0"/>
              <a:t>Prima di salutarci, un’ultima cosa.</a:t>
            </a:r>
          </a:p>
          <a:p>
            <a:endParaRPr lang="it-IT" noProof="0" dirty="0"/>
          </a:p>
          <a:p>
            <a:r>
              <a:rPr lang="it-IT" noProof="0" dirty="0"/>
              <a:t>Potete Inquadrare questo QR per lasciarci un feedback sul talk.</a:t>
            </a:r>
          </a:p>
          <a:p>
            <a:endParaRPr lang="it-IT" noProof="0" dirty="0"/>
          </a:p>
          <a:p>
            <a:r>
              <a:rPr lang="it-IT" noProof="0" dirty="0"/>
              <a:t>Ci aiuta a migliorare, e aiuta gli organizzatori dell’evento a capire cosa è piaciuto.</a:t>
            </a:r>
          </a:p>
          <a:p>
            <a:endParaRPr lang="it-IT" noProof="0" dirty="0"/>
          </a:p>
          <a:p>
            <a:r>
              <a:rPr lang="it-IT" noProof="0" dirty="0"/>
              <a:t>E ora, se ci sono domande, siamo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i="0" noProof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noProof="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i="0" noProof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lang="en-US" sz="1600" b="0" i="0" noProof="0" dirty="0">
                <a:solidFill>
                  <a:srgbClr val="94A3B8"/>
                </a:solidFill>
                <a:latin typeface="Helvetica Neue"/>
              </a:rPr>
              <a:t>Mobile Developers</a:t>
            </a:r>
          </a:p>
          <a:p>
            <a:endParaRPr lang="en-US" sz="1600" b="0" i="0" noProof="0" dirty="0">
              <a:solidFill>
                <a:srgbClr val="94A3B8"/>
              </a:solidFill>
              <a:latin typeface="Helvetica Neue"/>
            </a:endParaRPr>
          </a:p>
          <a:p>
            <a:r>
              <a:rPr lang="en-US" sz="1600" b="0" i="0" noProof="0" dirty="0">
                <a:solidFill>
                  <a:srgbClr val="4ADE80"/>
                </a:solidFill>
                <a:latin typeface="Helvetica Neue"/>
              </a:rPr>
              <a:t>DevFest Milano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it-IT" sz="3400" b="1" i="0" noProof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it-IT" sz="2400" noProof="0" dirty="0">
                <a:solidFill>
                  <a:srgbClr val="4ADE80"/>
                </a:solidFill>
                <a:latin typeface="Helvetica Neue"/>
              </a:rPr>
              <a:t>Niente cloud. Niente API key. Nessuna foto della cucina dei tuoi utenti su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retention</a:t>
            </a:r>
            <a:endParaRPr lang="it-IT" sz="19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retention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35689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94744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flagship più recenti.</a:t>
            </a:r>
            <a:endParaRPr lang="it-IT" sz="5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noProof="0" dirty="0">
                <a:solidFill>
                  <a:srgbClr val="CBD5E1"/>
                </a:solidFill>
                <a:latin typeface="Helvetica Neue"/>
              </a:rPr>
            </a:b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noProof="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noProof="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noProof="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noProof="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noProof="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nano-v3 / nano-v4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AICore, non nella tua app</a:t>
            </a:r>
            <a:endParaRPr lang="it-IT" sz="3700" noProof="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</a:t>
            </a:r>
            <a:r>
              <a:rPr lang="it-IT" sz="2000" noProof="0" dirty="0" err="1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runtime</a:t>
            </a: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.</a:t>
            </a:r>
            <a:endParaRPr lang="it-IT" sz="20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noProof="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noProof="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noProof="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Generation.getClient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runtime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, non compile time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scope.launch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{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model.download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 }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noProof="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: MobileCLIP, non un errore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model.generateContent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generateContentRequest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ImagePart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TextPart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(prompt)) { temperature =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</a:t>
            </a:r>
            <a:r>
              <a:rPr lang="it-IT" sz="14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instruction-tuned</a:t>
            </a:r>
            <a:endParaRPr lang="it-IT" sz="1400" noProof="0" dirty="0">
              <a:solidFill>
                <a:srgbClr val="94A3B8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language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model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 ogni Android</a:t>
            </a:r>
            <a:endParaRPr lang="it-IT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photo of the inside of a $place.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Identify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the food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can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most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15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with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markdown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no extra text):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": "..."}]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include items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actually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 Use common English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names.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trimIndent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Contents.of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Content.Text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Content.ImageBytes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(jpeg)))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parsing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del JSON,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</a:t>
            </a:r>
            <a:r>
              <a:rPr lang="it-IT" sz="1800" noProof="0" dirty="0" err="1">
                <a:solidFill>
                  <a:srgbClr val="F2F5FA"/>
                </a:solidFill>
                <a:latin typeface="Geist"/>
                <a:ea typeface="Geist"/>
                <a:cs typeface="Geist"/>
              </a:rPr>
              <a:t>prompting</a:t>
            </a: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: nessun dataset, nessun training. Basta chiedere.</a:t>
            </a:r>
            <a:endParaRPr lang="it-IT" sz="18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decode</a:t>
            </a:r>
            <a:endParaRPr lang="it-IT" sz="19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embedding</a:t>
            </a: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512 dimensioni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noProof="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LiteRT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 qualsiasi telefono Android, nessun ciclo di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decode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ingredient_labels.txt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870 etichette di ingredienti curate a mano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-free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noProof="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shelf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prepare_clip_assets.py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offline, sul laptop, una volta sola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refrigerator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pantry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shelf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noProof="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noProof="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instruction-tuned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: le ricette sono testo nuovo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lookup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sulla GPU</a:t>
            </a:r>
            <a:endParaRPr lang="it-IT" sz="16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noProof="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due stadi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JSON difensivo con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noProof="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tok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/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</a:t>
            </a:r>
            <a:endParaRPr lang="it-IT" sz="2000" noProof="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AICore,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downloader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un’app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noProof="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noProof="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noProof="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</a:t>
            </a:r>
            <a:r>
              <a:rPr lang="it-IT" sz="1700" noProof="0" dirty="0" err="1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fallback</a:t>
            </a: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 vero.</a:t>
            </a:r>
            <a:endParaRPr lang="it-IT" sz="1700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BONUS: 6 · DOPO I TITOLI DI CODA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Avevamo detto cinque…</a:t>
            </a:r>
            <a:endParaRPr lang="it-IT" sz="3450" noProof="0" dirty="0"/>
          </a:p>
        </p:txBody>
      </p:sp>
      <p:sp>
        <p:nvSpPr>
          <p:cNvPr id="33" name="Text 10"/>
          <p:cNvSpPr/>
          <p:nvPr/>
        </p:nvSpPr>
        <p:spPr>
          <a:xfrm>
            <a:off x="612707" y="1481328"/>
            <a:ext cx="62968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EmbeddingGemma 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2103120"/>
            <a:ext cx="6115991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6" y="2103120"/>
            <a:ext cx="6115991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210312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225856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nuovo modello di embedding di Google DeepMind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578608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Rilasciato martedì 6 ottobre e costruito su Gemma 4: piccolo, open e pensato per girare direttamente sul telefono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3200400"/>
            <a:ext cx="6115991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3200400"/>
            <a:ext cx="6115991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320040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35584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scrive: trasforma tutto in vettori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675887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Testo, immagini, audio e video diventano 768 numeri nello stesso spazio: la foto dei pomodori finisce vicino a “pomodori”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297680"/>
            <a:ext cx="6115990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297680"/>
            <a:ext cx="6115990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29768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45312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Etichette in italiano, e un vocabolario che cresce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773168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Capisce oltre 100 lingue, e la parte testo è sul telefono: l’app potrebbe imparare da sola gli ingredienti che aggiungete a mano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394960"/>
            <a:ext cx="6115990" cy="969264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969264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394960"/>
            <a:ext cx="6115991" cy="969264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969264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913482"/>
                </a:lnTo>
                <a:cubicBezTo>
                  <a:pt x="6296860" y="944289"/>
                  <a:pt x="6271876" y="969264"/>
                  <a:pt x="6241058" y="969264"/>
                </a:cubicBezTo>
                <a:lnTo>
                  <a:pt x="76172" y="969264"/>
                </a:lnTo>
                <a:cubicBezTo>
                  <a:pt x="34103" y="969264"/>
                  <a:pt x="0" y="935171"/>
                  <a:pt x="0" y="893120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394960"/>
            <a:ext cx="76171" cy="969264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969264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969264"/>
                </a:lnTo>
                <a:lnTo>
                  <a:pt x="76172" y="969264"/>
                </a:lnTo>
                <a:lnTo>
                  <a:pt x="55800" y="969264"/>
                </a:lnTo>
                <a:cubicBezTo>
                  <a:pt x="24983" y="969264"/>
                  <a:pt x="0" y="944289"/>
                  <a:pt x="0" y="913482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55040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Pronto per un prodotto, sul motore di Gemma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70448"/>
            <a:ext cx="5861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Apache 2.0 (MobileCLIP è solo per ricerca) e gira su LiteRT-LM. L’abbiamo provato: riconosce già i nostri ingredienti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C42B240E-279B-4B3D-9FB1-E98C7A9727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28697" y="0"/>
            <a:ext cx="685800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noProof="0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</a:t>
            </a:r>
            <a:r>
              <a:rPr lang="it-IT" sz="1500" dirty="0">
                <a:solidFill>
                  <a:srgbClr val="CBD5E1"/>
                </a:solidFill>
                <a:latin typeface="Helvetica Neue"/>
              </a:rPr>
              <a:t>Developer</a:t>
            </a:r>
            <a:endParaRPr lang="it-IT" sz="1500" b="0" noProof="0" dirty="0">
              <a:solidFill>
                <a:srgbClr val="CBD5E1"/>
              </a:solidFill>
              <a:latin typeface="Helvetica Neue"/>
            </a:endParaRPr>
          </a:p>
          <a:p>
            <a:pPr algn="ctr">
              <a:spcAft>
                <a:spcPts val="400"/>
              </a:spcAft>
            </a:pPr>
            <a:r>
              <a:rPr lang="it-IT" sz="1600" b="0" noProof="0" dirty="0">
                <a:solidFill>
                  <a:srgbClr val="4ADE80"/>
                </a:solidFill>
                <a:latin typeface="Helvetica Neue"/>
              </a:rPr>
              <a:t>salvatorematrisciano.com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lang="it-IT" sz="1500" dirty="0">
                <a:solidFill>
                  <a:srgbClr val="CBD5E1"/>
                </a:solidFill>
                <a:latin typeface="Helvetica Neue"/>
              </a:rPr>
              <a:t>Mobile Developer</a:t>
            </a:r>
          </a:p>
          <a:p>
            <a:pPr algn="ctr">
              <a:spcAft>
                <a:spcPts val="400"/>
              </a:spcAft>
            </a:pPr>
            <a:r>
              <a:rPr lang="it-IT" sz="1500" noProof="0" dirty="0">
                <a:solidFill>
                  <a:srgbClr val="4ADE80"/>
                </a:solidFill>
                <a:latin typeface="Helvetica Neue"/>
              </a:rPr>
              <a:t>linkedin.com/in/stefanosoriano51</a:t>
            </a:r>
            <a:endParaRPr lang="it-IT" sz="1500" b="0" noProof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noProof="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noProof="0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</a:t>
            </a:r>
            <a:r>
              <a:rPr lang="it-IT" sz="1500" b="1" noProof="0" dirty="0" err="1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pantry</a:t>
            </a:r>
            <a:endParaRPr lang="it-IT" sz="1500" b="1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3600" noProof="0" dirty="0">
                <a:solidFill>
                  <a:schemeClr val="bg1"/>
                </a:solidFill>
                <a:latin typeface="Geist Bold"/>
              </a:rPr>
              <a:t>Com’è andata?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2000" noProof="0" dirty="0">
                <a:solidFill>
                  <a:schemeClr val="bg1"/>
                </a:solidFill>
                <a:latin typeface="Helvetica Neue" panose="02000503000000020004" pitchFamily="2" charset="0"/>
              </a:rPr>
              <a:t>Inquadrate il QR per lasciare un feedback sul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noProof="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6671</TotalTime>
  <Words>8850</Words>
  <Application>Microsoft Macintosh PowerPoint</Application>
  <PresentationFormat>Widescreen</PresentationFormat>
  <Paragraphs>1009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Consolas</vt:lpstr>
      <vt:lpstr>Geist Bold</vt:lpstr>
      <vt:lpstr>Geist</vt:lpstr>
      <vt:lpstr>Geist Light</vt:lpstr>
      <vt:lpstr>Arial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43</cp:revision>
  <dcterms:created xsi:type="dcterms:W3CDTF">2026-07-26T22:35:18Z</dcterms:created>
  <dcterms:modified xsi:type="dcterms:W3CDTF">2026-10-08T21:56:52Z</dcterms:modified>
</cp:coreProperties>
</file>